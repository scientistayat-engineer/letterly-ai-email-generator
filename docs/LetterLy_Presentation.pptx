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d3cc32c-6635-7397-a527-cd0cab589042}">
          <p14:sldIdLst>
            <p14:sldId id="256"/>
            <p14:sldId id="257"/>
            <p14:sldId id="258"/>
            <p14:sldId id="259"/>
          </p14:sldIdLst>
        </p14:section>
        <p14:section name="How it works" id="{01825b59-423d-f007-792a-6c426c29da1c}">
          <p14:sldIdLst>
            <p14:sldId id="260"/>
            <p14:sldId id="261"/>
            <p14:sldId id="262"/>
          </p14:sldIdLst>
        </p14:section>
        <p14:section name="Features" id="{ee3f181a-226a-bed5-bf8b-4bdce2ef00a1}">
          <p14:sldIdLst>
            <p14:sldId id="263"/>
            <p14:sldId id="264"/>
            <p14:sldId id="265"/>
            <p14:sldId id="266"/>
            <p14:sldId id="267"/>
          </p14:sldIdLst>
        </p14:section>
        <p14:section name="Experience" id="{24049624-877d-3b73-8a2a-18602c73252c}">
          <p14:sldIdLst>
            <p14:sldId id="268"/>
            <p14:sldId id="269"/>
            <p14:sldId id="270"/>
          </p14:sldIdLst>
        </p14:section>
        <p14:section name="Engineering" id="{293c718b-9afb-3238-830c-e5513c6e5500}">
          <p14:sldIdLst>
            <p14:sldId id="271"/>
            <p14:sldId id="272"/>
          </p14:sldIdLst>
        </p14:section>
        <p14:section name="Delivery" id="{e4b28289-be7c-aa9b-5be3-1706277e0191}">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1B3A"/>
                </a:solidFill>
                <a:latin typeface="+mn-lt"/>
              </a:defRPr>
            </a:pPr>
            <a:r>
              <a:rPr sz="1600" b="0" i="0" u="none" strike="noStrike">
                <a:solidFill>
                  <a:srgbClr val="1B1B3A"/>
                </a:solidFill>
                <a:latin typeface="+mn-lt"/>
              </a:rPr>
              <a:t>Automated checks passed</a:t>
            </a:r>
          </a:p>
        </c:rich>
      </c:tx>
      <c:layout/>
      <c:overlay val="0"/>
    </c:title>
    <c:autoTitleDeleted val="0"/>
    <c:plotArea>
      <c:layout/>
      <c:barChart>
        <c:barDir val="bar"/>
        <c:grouping val="clustered"/>
        <c:varyColors val="0"/>
        <c:ser>
          <c:idx val="0"/>
          <c:order val="0"/>
          <c:tx>
            <c:strRef>
              <c:f>Sheet1!$B$1</c:f>
              <c:strCache>
                <c:ptCount val="1"/>
                <c:pt idx="0">
                  <c:v>Checks passed</c:v>
                </c:pt>
              </c:strCache>
            </c:strRef>
          </c:tx>
          <c:spPr>
            <a:solidFill>
              <a:srgbClr val="7C5CFF"/>
            </a:solidFill>
            <a:effectLst/>
          </c:spPr>
          <c:invertIfNegative val="0"/>
          <c:dLbls>
            <c:numFmt formatCode="#,##0" sourceLinked="0"/>
            <c:txPr>
              <a:bodyPr/>
              <a:lstStyle/>
              <a:p>
                <a:pPr>
                  <a:defRPr b="0" i="0" strike="noStrike" sz="1400" u="none">
                    <a:solidFill>
                      <a:srgbClr val="1B1B3A"/>
                    </a:solidFill>
                    <a:latin typeface="+mn-lt"/>
                  </a:defRPr>
                </a:pPr>
              </a:p>
            </c:txPr>
            <c:showLegendKey val="0"/>
            <c:showVal val="1"/>
            <c:showCatName val="0"/>
            <c:showSerName val="0"/>
            <c:showPercent val="0"/>
            <c:showBubbleSize val="0"/>
            <c:showLeaderLines val="0"/>
          </c:dLbls>
          <c:dPt>
            <c:idx val="0"/>
            <c:invertIfNegative val="0"/>
            <c:bubble3D val="0"/>
            <c:spPr>
              <a:solidFill>
                <a:srgbClr val="7C5CFF"/>
              </a:solidFill>
              <a:effectLst/>
            </c:spPr>
          </c:dPt>
          <c:dPt>
            <c:idx val="1"/>
            <c:invertIfNegative val="0"/>
            <c:bubble3D val="0"/>
            <c:spPr>
              <a:solidFill>
                <a:srgbClr val="E255C7"/>
              </a:solidFill>
              <a:effectLst/>
            </c:spPr>
          </c:dPt>
          <c:dPt>
            <c:idx val="2"/>
            <c:invertIfNegative val="0"/>
            <c:bubble3D val="0"/>
            <c:spPr>
              <a:solidFill>
                <a:srgbClr val="16A8A0"/>
              </a:solidFill>
              <a:effectLst/>
            </c:spPr>
          </c:dPt>
          <c:cat>
            <c:multiLvlStrRef>
              <c:f>Sheet1!$A$2:$A$4</c:f>
              <c:multiLvlStrCache>
                <c:ptCount val="3"/>
                <c:lvl>
                  <c:pt idx="0">
                    <c:v>Browser UI</c:v>
                  </c:pt>
                  <c:pt idx="1">
                    <c:v>Backend, SQLite</c:v>
                  </c:pt>
                  <c:pt idx="2">
                    <c:v>Backend, Firestore adapter</c:v>
                  </c:pt>
                </c:lvl>
              </c:multiLvlStrCache>
            </c:multiLvlStrRef>
          </c:cat>
          <c:val>
            <c:numRef>
              <c:f>Sheet1!$B$2:$B$4</c:f>
              <c:numCache>
                <c:formatCode>General</c:formatCode>
                <c:ptCount val="3"/>
                <c:pt idx="0">
                  <c:v>44</c:v>
                </c:pt>
                <c:pt idx="1">
                  <c:v>32</c:v>
                </c:pt>
                <c:pt idx="2">
                  <c:v>34</c:v>
                </c:pt>
              </c:numCache>
            </c:numRef>
          </c:val>
        </c:ser>
        <c:dLbls>
          <c:numFmt formatCode="#,##0" sourceLinked="0"/>
          <c:txPr>
            <a:bodyPr/>
            <a:lstStyle/>
            <a:p>
              <a:pPr>
                <a:defRPr b="0" i="0" strike="noStrike" sz="1400" u="none">
                  <a:solidFill>
                    <a:srgbClr val="1B1B3A"/>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B1B3A"/>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b"/>
        <c:majorGridlines>
          <c:spPr>
            <a:ln w="9525" cap="flat">
              <a:solidFill>
                <a:srgbClr val="E3E4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A5F7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LetterLy is my AI email generator project built with FastAPI and the Groq LLM API. In this talk I will show the problem, how it works, the features, the design, how it was tested and how it is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for the next few minutes: first the objective, then how the system works, the features, the AI integration, the design, data and privacy, testing, and finally deployment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asked for a simple FastAPI app: take a recipient name, a purpose and a tone, ask an LLM to write the email, and show it on a web page. LetterLy meets every requirement and then goes further on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look at the size of the project. Twenty-two API endpoints, ten ready-made templates, seven screens, two languages and more than three thousand lines of code, all written for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journey of one email. The user fills the form, the browser sends a request, FastAPI validates it and builds a prompt, Groq answers with JSON, the server checks and saves it, and the page shows the email with a typing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building blocks. FastAPI for the API, Groq for the language model, SQLite locally and Firestore in production, python-docx for Word export, plain HTML, CSS and JavaScript for the interface, the browser speech API for voice, and Vercel for hosting.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three layers. The browser holds the landing page and the dashboard. FastAPI exposes the routes, validates input and builds prompts. Behind it sit the Groq API and the storage layer, which uses SQLite locally and Firestore on Vercel.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product. The form on the left takes the recipient, the purpose, tone, length and language. The generated email appears on the right with a subject, a full body, and editing, export and refine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Around every draft there are eight AI tools: reply mode, custom instructions, subject suggestions, a quality score, a tone detector, grammar fixing, thread summaries, and quick shorten, lengthen and translate buttons.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three of the tools in the real interface: the three subject suggestions you can click to apply, the quality score with tips, and the tone detector with percentages.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prompts are designed so the model always replies with JSON that the server can validate. Each task has its own temperature: creative tasks are warmer, checking tasks are colder. Pasted emails are treated as content to answer, not as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writing, LetterLy helps you organise and reuse your work: templates, favourites and tags, searchable history, five export options, voice input and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look follows a clear design system: a violet to pink accent, a deep night background for the landing page, a soft light dashboard, and a friendly robot mascot. Everything also works in dark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tour of the screens: the landing page, the empty dashboard, templates, history, favourites and settings. All of them share the same design system and work on phones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analytics page turns history into numbers: how many emails, the average quality score, time saved at about four minutes per email, favourite tone, and a weekly chart. Settings store your name, default tone and language, and two display switches.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is stored per visitor. In Firestore each browser gets its own users document with emails, templates and settings below it. Secrets live in environment variables, and the Firestore rules stay locked because only the server talks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tested the project with automated checks. A headless browser drove the real interface against a mock API, and the backend was tested with both storage adapters. The mock API and an in-memory Firestore stand-in were used, so a live Groq and Vercel check is part of the manual checklist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is simple. Push the repository to GitHub, import it into Vercel, add two environment variables, and deploy. Vercel serves the public folder from its CDN and runs main.py as a function. The health endpoint confirms which storage is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the main engineering challenges and how each was solved. The biggest was Vercel's read-only disk, which led to the storage layer with an automatic choice between SQLite and Firestore.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many ways to take LetterLy further. These are ideas to explore, not promises: accounts and rate limits first, then more languages and mail integration, and finally larger ideas such as a phone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LetterLy is a complete product rather than a simple form. The AI is used with care, and the project is tested, documented and ready to deploy. Thank you, and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_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CLOSING_DAR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55664"/>
            <a:ext cx="5486400" cy="274320"/>
          </a:xfrm>
          <a:prstGeom prst="rect">
            <a:avLst/>
          </a:prstGeom>
          <a:noFill/>
          <a:ln/>
        </p:spPr>
        <p:txBody>
          <a:bodyPr wrap="square" rtlCol="0" anchor="ctr"/>
          <a:lstStyle/>
          <a:p>
            <a:pPr indent="0" marL="0">
              <a:buNone/>
            </a:pPr>
            <a:r>
              <a:rPr lang="en-US" sz="1000" dirty="0">
                <a:solidFill>
                  <a:srgbClr val="6B6F8D"/>
                </a:solidFill>
              </a:rPr>
              <a:t>LetterLy  |  AI Email Generator</a:t>
            </a:r>
            <a:endParaRPr lang="en-US" sz="1000" dirty="0"/>
          </a:p>
        </p:txBody>
      </p:sp>
      <p:sp>
        <p:nvSpPr>
          <p:cNvPr id="3" name="Text 1"/>
          <p:cNvSpPr/>
          <p:nvPr>
            <p:ph idx="101" type="title" hasCustomPrompt="1"/>
          </p:nvPr>
        </p:nvSpPr>
        <p:spPr>
          <a:xfrm>
            <a:off x="548640" y="347472"/>
            <a:ext cx="11091672"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TINT">
    <p:bg>
      <p:bgPr>
        <a:solidFill>
          <a:srgbClr val="F3F4FB"/>
        </a:solidFill>
      </p:bgPr>
    </p:bg>
    <p:spTree>
      <p:nvGrpSpPr>
        <p:cNvPr id="1" name=""/>
        <p:cNvGrpSpPr/>
        <p:nvPr/>
      </p:nvGrpSpPr>
      <p:grpSpPr>
        <a:xfrm>
          <a:off x="0" y="0"/>
          <a:ext cx="0" cy="0"/>
          <a:chOff x="0" y="0"/>
          <a:chExt cx="0" cy="0"/>
        </a:xfrm>
      </p:grpSpPr>
      <p:sp>
        <p:nvSpPr>
          <p:cNvPr id="2" name="Text 0"/>
          <p:cNvSpPr/>
          <p:nvPr/>
        </p:nvSpPr>
        <p:spPr>
          <a:xfrm>
            <a:off x="548640" y="6455664"/>
            <a:ext cx="5486400" cy="274320"/>
          </a:xfrm>
          <a:prstGeom prst="rect">
            <a:avLst/>
          </a:prstGeom>
          <a:noFill/>
          <a:ln/>
        </p:spPr>
        <p:txBody>
          <a:bodyPr wrap="square" rtlCol="0" anchor="ctr"/>
          <a:lstStyle/>
          <a:p>
            <a:pPr indent="0" marL="0">
              <a:buNone/>
            </a:pPr>
            <a:r>
              <a:rPr lang="en-US" sz="1000" dirty="0">
                <a:solidFill>
                  <a:srgbClr val="6B6F8D"/>
                </a:solidFill>
              </a:rPr>
              <a:t>LetterLy  |  AI Email Generator</a:t>
            </a:r>
            <a:endParaRPr lang="en-US" sz="1000" dirty="0"/>
          </a:p>
        </p:txBody>
      </p:sp>
      <p:sp>
        <p:nvSpPr>
          <p:cNvPr id="3" name="Text 1"/>
          <p:cNvSpPr/>
          <p:nvPr>
            <p:ph idx="101" type="title" hasCustomPrompt="1"/>
          </p:nvPr>
        </p:nvSpPr>
        <p:spPr>
          <a:xfrm>
            <a:off x="548640" y="347472"/>
            <a:ext cx="11091672"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4.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4.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3.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5.xml"/><Relationship Id="rId6"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Kicker"/>
          <p:cNvSpPr txBox="1"/>
          <p:nvPr/>
        </p:nvSpPr>
        <p:spPr>
          <a:xfrm>
            <a:off x="731520" y="1417320"/>
            <a:ext cx="5669280" cy="365760"/>
          </a:xfrm>
          <a:prstGeom prst="rect">
            <a:avLst/>
          </a:prstGeom>
          <a:noFill/>
          <a:ln/>
        </p:spPr>
        <p:txBody>
          <a:bodyPr wrap="square" lIns="0" tIns="0" rIns="0" bIns="0" rtlCol="0" anchor="t"/>
          <a:lstStyle/>
          <a:p>
            <a:pPr indent="0" marL="0">
              <a:buNone/>
            </a:pPr>
            <a:r>
              <a:rPr lang="en-US" sz="1600" b="1" spc="400" kern="0" dirty="0">
                <a:solidFill>
                  <a:schemeClr val="accent3"/>
                </a:solidFill>
              </a:rPr>
              <a:t>AI EMAIL GENERATOR</a:t>
            </a:r>
            <a:endParaRPr lang="en-US" sz="1600" dirty="0"/>
          </a:p>
        </p:txBody>
      </p:sp>
      <p:sp>
        <p:nvSpPr>
          <p:cNvPr id="4" name="Title"/>
          <p:cNvSpPr txBox="1"/>
          <p:nvPr/>
        </p:nvSpPr>
        <p:spPr>
          <a:xfrm>
            <a:off x="731520" y="1828800"/>
            <a:ext cx="5852160" cy="1371600"/>
          </a:xfrm>
          <a:prstGeom prst="rect">
            <a:avLst/>
          </a:prstGeom>
          <a:noFill/>
          <a:ln/>
        </p:spPr>
        <p:txBody>
          <a:bodyPr wrap="square" lIns="0" tIns="0" rIns="0" bIns="0" rtlCol="0" anchor="ctr"/>
          <a:lstStyle/>
          <a:p>
            <a:pPr indent="0" marL="0">
              <a:buNone/>
            </a:pPr>
            <a:r>
              <a:rPr lang="en-US" sz="8000" b="1" dirty="0">
                <a:solidFill>
                  <a:schemeClr val="bg1"/>
                </a:solidFill>
                <a:latin typeface="+mj-lt" pitchFamily="34" charset="0"/>
                <a:ea typeface="+mj-lt" pitchFamily="34" charset="-122"/>
                <a:cs typeface="+mj-lt" pitchFamily="34" charset="-120"/>
              </a:rPr>
              <a:t>LetterLy</a:t>
            </a:r>
            <a:endParaRPr lang="en-US" sz="8000" dirty="0"/>
          </a:p>
        </p:txBody>
      </p:sp>
      <p:sp>
        <p:nvSpPr>
          <p:cNvPr id="5" name="Tagline"/>
          <p:cNvSpPr txBox="1"/>
          <p:nvPr/>
        </p:nvSpPr>
        <p:spPr>
          <a:xfrm>
            <a:off x="731520" y="3291840"/>
            <a:ext cx="5669280" cy="822960"/>
          </a:xfrm>
          <a:prstGeom prst="rect">
            <a:avLst/>
          </a:prstGeom>
          <a:noFill/>
          <a:ln/>
        </p:spPr>
        <p:txBody>
          <a:bodyPr wrap="square" lIns="0" tIns="0" rIns="0" bIns="0" rtlCol="0" anchor="t"/>
          <a:lstStyle/>
          <a:p>
            <a:pPr indent="0" marL="0">
              <a:buNone/>
            </a:pPr>
            <a:r>
              <a:rPr lang="en-US" sz="2800" i="1" dirty="0">
                <a:solidFill>
                  <a:schemeClr val="bg1"/>
                </a:solidFill>
                <a:latin typeface="+mj-lt" pitchFamily="34" charset="0"/>
                <a:ea typeface="+mj-lt" pitchFamily="34" charset="-122"/>
                <a:cs typeface="+mj-lt" pitchFamily="34" charset="-120"/>
              </a:rPr>
              <a:t>Turn your thoughts into perfect emails</a:t>
            </a:r>
            <a:endParaRPr lang="en-US" sz="2800" dirty="0"/>
          </a:p>
        </p:txBody>
      </p:sp>
      <p:sp>
        <p:nvSpPr>
          <p:cNvPr id="6" name="Tech line"/>
          <p:cNvSpPr txBox="1"/>
          <p:nvPr/>
        </p:nvSpPr>
        <p:spPr>
          <a:xfrm>
            <a:off x="731520" y="4343400"/>
            <a:ext cx="5669280" cy="365760"/>
          </a:xfrm>
          <a:prstGeom prst="rect">
            <a:avLst/>
          </a:prstGeom>
          <a:noFill/>
          <a:ln/>
        </p:spPr>
        <p:txBody>
          <a:bodyPr wrap="square" lIns="0" tIns="0" rIns="0" bIns="0" rtlCol="0" anchor="t"/>
          <a:lstStyle/>
          <a:p>
            <a:pPr indent="0" marL="0">
              <a:buNone/>
            </a:pPr>
            <a:r>
              <a:rPr lang="en-US" sz="1600" dirty="0">
                <a:solidFill>
                  <a:srgbClr val="C9C2F0"/>
                </a:solidFill>
              </a:rPr>
              <a:t>FastAPI   |   Groq   |   Firebase   |   Vercel</a:t>
            </a:r>
            <a:endParaRPr lang="en-US" sz="1600" dirty="0"/>
          </a:p>
        </p:txBody>
      </p:sp>
      <p:sp>
        <p:nvSpPr>
          <p:cNvPr id="7" name="Author block"/>
          <p:cNvSpPr txBox="1"/>
          <p:nvPr/>
        </p:nvSpPr>
        <p:spPr>
          <a:xfrm>
            <a:off x="731520" y="5257800"/>
            <a:ext cx="5669280" cy="1005840"/>
          </a:xfrm>
          <a:prstGeom prst="rect">
            <a:avLst/>
          </a:prstGeom>
          <a:noFill/>
          <a:ln/>
        </p:spPr>
        <p:txBody>
          <a:bodyPr wrap="square" lIns="0" tIns="0" rIns="0" bIns="0" rtlCol="0" anchor="t"/>
          <a:lstStyle/>
          <a:p>
            <a:pPr indent="0" marL="0">
              <a:spcAft>
                <a:spcPts val="300"/>
              </a:spcAft>
              <a:buNone/>
            </a:pPr>
            <a:r>
              <a:rPr lang="en-US" sz="1400" b="1" dirty="0">
                <a:solidFill>
                  <a:srgbClr val="E6E2FA"/>
                </a:solidFill>
              </a:rPr>
              <a:t>Prepared by Anushay Ayat</a:t>
            </a:r>
            <a:endParaRPr lang="en-US" sz="1400" dirty="0"/>
          </a:p>
          <a:p>
            <a:pPr indent="0" marL="0">
              <a:spcAft>
                <a:spcPts val="300"/>
              </a:spcAft>
              <a:buNone/>
            </a:pPr>
            <a:r>
              <a:rPr lang="en-US" sz="1400" dirty="0">
                <a:solidFill>
                  <a:srgbClr val="E6E2FA"/>
                </a:solidFill>
              </a:rPr>
              <a:t>SMIT (Saylani Mass IT Training), AI and Data Science</a:t>
            </a:r>
            <a:endParaRPr lang="en-US" sz="1400" dirty="0"/>
          </a:p>
          <a:p>
            <a:pPr indent="0" marL="0">
              <a:spcAft>
                <a:spcPts val="300"/>
              </a:spcAft>
              <a:buNone/>
            </a:pPr>
            <a:r>
              <a:rPr lang="en-US" sz="1400" dirty="0">
                <a:solidFill>
                  <a:srgbClr val="E6E2FA"/>
                </a:solidFill>
              </a:rPr>
              <a:t>October 2026</a:t>
            </a:r>
            <a:endParaRPr lang="en-US" sz="1400" dirty="0"/>
          </a:p>
        </p:txBody>
      </p:sp>
      <p:pic>
        <p:nvPicPr>
          <p:cNvPr id="8" name="LetterLy robot mascot with an envelope and a glass card" descr="LetterLy robot mascot with an envelope and a glass card">    </p:cNvPr>
          <p:cNvPicPr>
            <a:picLocks noChangeAspect="1"/>
          </p:cNvPicPr>
          <p:nvPr/>
        </p:nvPicPr>
        <p:blipFill>
          <a:blip r:embed="rId1"/>
          <a:stretch>
            <a:fillRect/>
          </a:stretch>
        </p:blipFill>
        <p:spPr>
          <a:xfrm>
            <a:off x="6675120" y="1005840"/>
            <a:ext cx="5120640" cy="4344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ph idx="101"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What we will cover</a:t>
            </a:r>
            <a:endParaRPr lang="en-US" sz="3400" dirty="0"/>
          </a:p>
        </p:txBody>
      </p:sp>
      <p:sp>
        <p:nvSpPr>
          <p:cNvPr id="4" name="Contents card 01"/>
          <p:cNvSpPr/>
          <p:nvPr/>
        </p:nvSpPr>
        <p:spPr>
          <a:xfrm>
            <a:off x="548640" y="1417320"/>
            <a:ext cx="5394960" cy="1051560"/>
          </a:xfrm>
          <a:prstGeom prst="roundRect">
            <a:avLst>
              <a:gd name="adj" fmla="val 1217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5" name="Text 2"/>
          <p:cNvSpPr txBox="1"/>
          <p:nvPr/>
        </p:nvSpPr>
        <p:spPr>
          <a:xfrm>
            <a:off x="822960" y="1554480"/>
            <a:ext cx="822960" cy="77724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01</a:t>
            </a:r>
            <a:endParaRPr lang="en-US" sz="3200" dirty="0"/>
          </a:p>
        </p:txBody>
      </p:sp>
      <p:sp>
        <p:nvSpPr>
          <p:cNvPr id="6" name="Text 3"/>
          <p:cNvSpPr txBox="1"/>
          <p:nvPr/>
        </p:nvSpPr>
        <p:spPr>
          <a:xfrm>
            <a:off x="1737360" y="1572768"/>
            <a:ext cx="4023360" cy="365760"/>
          </a:xfrm>
          <a:prstGeom prst="rect">
            <a:avLst/>
          </a:prstGeom>
          <a:noFill/>
          <a:ln/>
        </p:spPr>
        <p:txBody>
          <a:bodyPr wrap="square" lIns="0" tIns="0" rIns="0" bIns="0" rtlCol="0" anchor="t"/>
          <a:lstStyle/>
          <a:p>
            <a:pPr indent="0" marL="0">
              <a:buNone/>
            </a:pPr>
            <a:r>
              <a:rPr lang="en-US" sz="1800" b="1" dirty="0">
                <a:solidFill>
                  <a:schemeClr val="tx1"/>
                </a:solidFill>
              </a:rPr>
              <a:t>Objective and scope</a:t>
            </a:r>
            <a:endParaRPr lang="en-US" sz="1800" dirty="0"/>
          </a:p>
        </p:txBody>
      </p:sp>
      <p:sp>
        <p:nvSpPr>
          <p:cNvPr id="7" name="Text 4"/>
          <p:cNvSpPr txBox="1"/>
          <p:nvPr/>
        </p:nvSpPr>
        <p:spPr>
          <a:xfrm>
            <a:off x="1737360" y="1965960"/>
            <a:ext cx="4023360" cy="365760"/>
          </a:xfrm>
          <a:prstGeom prst="rect">
            <a:avLst/>
          </a:prstGeom>
          <a:noFill/>
          <a:ln/>
        </p:spPr>
        <p:txBody>
          <a:bodyPr wrap="square" lIns="0" tIns="0" rIns="0" bIns="0" rtlCol="0" anchor="t"/>
          <a:lstStyle/>
          <a:p>
            <a:pPr indent="0" marL="0">
              <a:buNone/>
            </a:pPr>
            <a:r>
              <a:rPr lang="en-US" sz="1400" dirty="0">
                <a:solidFill>
                  <a:srgbClr val="5A5F7D"/>
                </a:solidFill>
              </a:rPr>
              <a:t>What the assignment asks and how LetterLy answers it</a:t>
            </a:r>
            <a:endParaRPr lang="en-US" sz="1400" dirty="0"/>
          </a:p>
        </p:txBody>
      </p:sp>
      <p:sp>
        <p:nvSpPr>
          <p:cNvPr id="8" name="Contents card 02"/>
          <p:cNvSpPr/>
          <p:nvPr/>
        </p:nvSpPr>
        <p:spPr>
          <a:xfrm>
            <a:off x="548640" y="2670048"/>
            <a:ext cx="5394960" cy="1051560"/>
          </a:xfrm>
          <a:prstGeom prst="roundRect">
            <a:avLst>
              <a:gd name="adj" fmla="val 1217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9" name="Text 6"/>
          <p:cNvSpPr txBox="1"/>
          <p:nvPr/>
        </p:nvSpPr>
        <p:spPr>
          <a:xfrm>
            <a:off x="822960" y="2807208"/>
            <a:ext cx="822960" cy="77724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02</a:t>
            </a:r>
            <a:endParaRPr lang="en-US" sz="3200" dirty="0"/>
          </a:p>
        </p:txBody>
      </p:sp>
      <p:sp>
        <p:nvSpPr>
          <p:cNvPr id="10" name="Text 7"/>
          <p:cNvSpPr txBox="1"/>
          <p:nvPr/>
        </p:nvSpPr>
        <p:spPr>
          <a:xfrm>
            <a:off x="1737360" y="2825496"/>
            <a:ext cx="4023360" cy="365760"/>
          </a:xfrm>
          <a:prstGeom prst="rect">
            <a:avLst/>
          </a:prstGeom>
          <a:noFill/>
          <a:ln/>
        </p:spPr>
        <p:txBody>
          <a:bodyPr wrap="square" lIns="0" tIns="0" rIns="0" bIns="0" rtlCol="0" anchor="t"/>
          <a:lstStyle/>
          <a:p>
            <a:pPr indent="0" marL="0">
              <a:buNone/>
            </a:pPr>
            <a:r>
              <a:rPr lang="en-US" sz="1800" b="1" dirty="0">
                <a:solidFill>
                  <a:schemeClr val="tx1"/>
                </a:solidFill>
              </a:rPr>
              <a:t>How it works</a:t>
            </a:r>
            <a:endParaRPr lang="en-US" sz="1800" dirty="0"/>
          </a:p>
        </p:txBody>
      </p:sp>
      <p:sp>
        <p:nvSpPr>
          <p:cNvPr id="11" name="Text 8"/>
          <p:cNvSpPr txBox="1"/>
          <p:nvPr/>
        </p:nvSpPr>
        <p:spPr>
          <a:xfrm>
            <a:off x="1737360" y="3218688"/>
            <a:ext cx="4023360" cy="365760"/>
          </a:xfrm>
          <a:prstGeom prst="rect">
            <a:avLst/>
          </a:prstGeom>
          <a:noFill/>
          <a:ln/>
        </p:spPr>
        <p:txBody>
          <a:bodyPr wrap="square" lIns="0" tIns="0" rIns="0" bIns="0" rtlCol="0" anchor="t"/>
          <a:lstStyle/>
          <a:p>
            <a:pPr indent="0" marL="0">
              <a:buNone/>
            </a:pPr>
            <a:r>
              <a:rPr lang="en-US" sz="1400" dirty="0">
                <a:solidFill>
                  <a:srgbClr val="5A5F7D"/>
                </a:solidFill>
              </a:rPr>
              <a:t>Request flow, tech stack and architecture</a:t>
            </a:r>
            <a:endParaRPr lang="en-US" sz="1400" dirty="0"/>
          </a:p>
        </p:txBody>
      </p:sp>
      <p:sp>
        <p:nvSpPr>
          <p:cNvPr id="12" name="Contents card 03"/>
          <p:cNvSpPr/>
          <p:nvPr/>
        </p:nvSpPr>
        <p:spPr>
          <a:xfrm>
            <a:off x="548640" y="3922776"/>
            <a:ext cx="5394960" cy="1051560"/>
          </a:xfrm>
          <a:prstGeom prst="roundRect">
            <a:avLst>
              <a:gd name="adj" fmla="val 1217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13" name="Text 10"/>
          <p:cNvSpPr txBox="1"/>
          <p:nvPr/>
        </p:nvSpPr>
        <p:spPr>
          <a:xfrm>
            <a:off x="822960" y="4059936"/>
            <a:ext cx="822960" cy="77724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03</a:t>
            </a:r>
            <a:endParaRPr lang="en-US" sz="3200" dirty="0"/>
          </a:p>
        </p:txBody>
      </p:sp>
      <p:sp>
        <p:nvSpPr>
          <p:cNvPr id="14" name="Text 11"/>
          <p:cNvSpPr txBox="1"/>
          <p:nvPr/>
        </p:nvSpPr>
        <p:spPr>
          <a:xfrm>
            <a:off x="1737360" y="4078224"/>
            <a:ext cx="4023360" cy="365760"/>
          </a:xfrm>
          <a:prstGeom prst="rect">
            <a:avLst/>
          </a:prstGeom>
          <a:noFill/>
          <a:ln/>
        </p:spPr>
        <p:txBody>
          <a:bodyPr wrap="square" lIns="0" tIns="0" rIns="0" bIns="0" rtlCol="0" anchor="t"/>
          <a:lstStyle/>
          <a:p>
            <a:pPr indent="0" marL="0">
              <a:buNone/>
            </a:pPr>
            <a:r>
              <a:rPr lang="en-US" sz="1800" b="1" dirty="0">
                <a:solidFill>
                  <a:schemeClr val="tx1"/>
                </a:solidFill>
              </a:rPr>
              <a:t>Features</a:t>
            </a:r>
            <a:endParaRPr lang="en-US" sz="1800" dirty="0"/>
          </a:p>
        </p:txBody>
      </p:sp>
      <p:sp>
        <p:nvSpPr>
          <p:cNvPr id="15" name="Text 12"/>
          <p:cNvSpPr txBox="1"/>
          <p:nvPr/>
        </p:nvSpPr>
        <p:spPr>
          <a:xfrm>
            <a:off x="1737360" y="4471416"/>
            <a:ext cx="4023360" cy="365760"/>
          </a:xfrm>
          <a:prstGeom prst="rect">
            <a:avLst/>
          </a:prstGeom>
          <a:noFill/>
          <a:ln/>
        </p:spPr>
        <p:txBody>
          <a:bodyPr wrap="square" lIns="0" tIns="0" rIns="0" bIns="0" rtlCol="0" anchor="t"/>
          <a:lstStyle/>
          <a:p>
            <a:pPr indent="0" marL="0">
              <a:buNone/>
            </a:pPr>
            <a:r>
              <a:rPr lang="en-US" sz="1400" dirty="0">
                <a:solidFill>
                  <a:srgbClr val="5A5F7D"/>
                </a:solidFill>
              </a:rPr>
              <a:t>Generation, AI tools and productivity features</a:t>
            </a:r>
            <a:endParaRPr lang="en-US" sz="1400" dirty="0"/>
          </a:p>
        </p:txBody>
      </p:sp>
      <p:sp>
        <p:nvSpPr>
          <p:cNvPr id="16" name="Contents card 04"/>
          <p:cNvSpPr/>
          <p:nvPr/>
        </p:nvSpPr>
        <p:spPr>
          <a:xfrm>
            <a:off x="548640" y="5175504"/>
            <a:ext cx="5394960" cy="1051560"/>
          </a:xfrm>
          <a:prstGeom prst="roundRect">
            <a:avLst>
              <a:gd name="adj" fmla="val 1217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17" name="Text 14"/>
          <p:cNvSpPr txBox="1"/>
          <p:nvPr/>
        </p:nvSpPr>
        <p:spPr>
          <a:xfrm>
            <a:off x="822960" y="5312664"/>
            <a:ext cx="822960" cy="77724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04</a:t>
            </a:r>
            <a:endParaRPr lang="en-US" sz="3200" dirty="0"/>
          </a:p>
        </p:txBody>
      </p:sp>
      <p:sp>
        <p:nvSpPr>
          <p:cNvPr id="18" name="Text 15"/>
          <p:cNvSpPr txBox="1"/>
          <p:nvPr/>
        </p:nvSpPr>
        <p:spPr>
          <a:xfrm>
            <a:off x="1737360" y="5330952"/>
            <a:ext cx="4023360" cy="365760"/>
          </a:xfrm>
          <a:prstGeom prst="rect">
            <a:avLst/>
          </a:prstGeom>
          <a:noFill/>
          <a:ln/>
        </p:spPr>
        <p:txBody>
          <a:bodyPr wrap="square" lIns="0" tIns="0" rIns="0" bIns="0" rtlCol="0" anchor="t"/>
          <a:lstStyle/>
          <a:p>
            <a:pPr indent="0" marL="0">
              <a:buNone/>
            </a:pPr>
            <a:r>
              <a:rPr lang="en-US" sz="1800" b="1" dirty="0">
                <a:solidFill>
                  <a:schemeClr val="tx1"/>
                </a:solidFill>
              </a:rPr>
              <a:t>AI integration</a:t>
            </a:r>
            <a:endParaRPr lang="en-US" sz="1800" dirty="0"/>
          </a:p>
        </p:txBody>
      </p:sp>
      <p:sp>
        <p:nvSpPr>
          <p:cNvPr id="19" name="Text 16"/>
          <p:cNvSpPr txBox="1"/>
          <p:nvPr/>
        </p:nvSpPr>
        <p:spPr>
          <a:xfrm>
            <a:off x="1737360" y="5724144"/>
            <a:ext cx="4023360" cy="365760"/>
          </a:xfrm>
          <a:prstGeom prst="rect">
            <a:avLst/>
          </a:prstGeom>
          <a:noFill/>
          <a:ln/>
        </p:spPr>
        <p:txBody>
          <a:bodyPr wrap="square" lIns="0" tIns="0" rIns="0" bIns="0" rtlCol="0" anchor="t"/>
          <a:lstStyle/>
          <a:p>
            <a:pPr indent="0" marL="0">
              <a:buNone/>
            </a:pPr>
            <a:r>
              <a:rPr lang="en-US" sz="1400" dirty="0">
                <a:solidFill>
                  <a:srgbClr val="5A5F7D"/>
                </a:solidFill>
              </a:rPr>
              <a:t>Prompt design and safe handling of output</a:t>
            </a:r>
            <a:endParaRPr lang="en-US" sz="1400" dirty="0"/>
          </a:p>
        </p:txBody>
      </p:sp>
      <p:sp>
        <p:nvSpPr>
          <p:cNvPr id="20" name="Contents card 05"/>
          <p:cNvSpPr/>
          <p:nvPr/>
        </p:nvSpPr>
        <p:spPr>
          <a:xfrm>
            <a:off x="6245352" y="1417320"/>
            <a:ext cx="5394960" cy="1051560"/>
          </a:xfrm>
          <a:prstGeom prst="roundRect">
            <a:avLst>
              <a:gd name="adj" fmla="val 1217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21" name="Text 18"/>
          <p:cNvSpPr txBox="1"/>
          <p:nvPr/>
        </p:nvSpPr>
        <p:spPr>
          <a:xfrm>
            <a:off x="6519672" y="1554480"/>
            <a:ext cx="822960" cy="77724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05</a:t>
            </a:r>
            <a:endParaRPr lang="en-US" sz="3200" dirty="0"/>
          </a:p>
        </p:txBody>
      </p:sp>
      <p:sp>
        <p:nvSpPr>
          <p:cNvPr id="22" name="Text 19"/>
          <p:cNvSpPr txBox="1"/>
          <p:nvPr/>
        </p:nvSpPr>
        <p:spPr>
          <a:xfrm>
            <a:off x="7434072" y="1572768"/>
            <a:ext cx="4023360" cy="365760"/>
          </a:xfrm>
          <a:prstGeom prst="rect">
            <a:avLst/>
          </a:prstGeom>
          <a:noFill/>
          <a:ln/>
        </p:spPr>
        <p:txBody>
          <a:bodyPr wrap="square" lIns="0" tIns="0" rIns="0" bIns="0" rtlCol="0" anchor="t"/>
          <a:lstStyle/>
          <a:p>
            <a:pPr indent="0" marL="0">
              <a:buNone/>
            </a:pPr>
            <a:r>
              <a:rPr lang="en-US" sz="1800" b="1" dirty="0">
                <a:solidFill>
                  <a:schemeClr val="tx1"/>
                </a:solidFill>
              </a:rPr>
              <a:t>Design</a:t>
            </a:r>
            <a:endParaRPr lang="en-US" sz="1800" dirty="0"/>
          </a:p>
        </p:txBody>
      </p:sp>
      <p:sp>
        <p:nvSpPr>
          <p:cNvPr id="23" name="Text 20"/>
          <p:cNvSpPr txBox="1"/>
          <p:nvPr/>
        </p:nvSpPr>
        <p:spPr>
          <a:xfrm>
            <a:off x="7434072" y="1965960"/>
            <a:ext cx="4023360" cy="365760"/>
          </a:xfrm>
          <a:prstGeom prst="rect">
            <a:avLst/>
          </a:prstGeom>
          <a:noFill/>
          <a:ln/>
        </p:spPr>
        <p:txBody>
          <a:bodyPr wrap="square" lIns="0" tIns="0" rIns="0" bIns="0" rtlCol="0" anchor="t"/>
          <a:lstStyle/>
          <a:p>
            <a:pPr indent="0" marL="0">
              <a:buNone/>
            </a:pPr>
            <a:r>
              <a:rPr lang="en-US" sz="1400" dirty="0">
                <a:solidFill>
                  <a:srgbClr val="5A5F7D"/>
                </a:solidFill>
              </a:rPr>
              <a:t>Brand, interface and responsive layout</a:t>
            </a:r>
            <a:endParaRPr lang="en-US" sz="1400" dirty="0"/>
          </a:p>
        </p:txBody>
      </p:sp>
      <p:sp>
        <p:nvSpPr>
          <p:cNvPr id="24" name="Contents card 06"/>
          <p:cNvSpPr/>
          <p:nvPr/>
        </p:nvSpPr>
        <p:spPr>
          <a:xfrm>
            <a:off x="6245352" y="2670048"/>
            <a:ext cx="5394960" cy="1051560"/>
          </a:xfrm>
          <a:prstGeom prst="roundRect">
            <a:avLst>
              <a:gd name="adj" fmla="val 1217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25" name="Text 22"/>
          <p:cNvSpPr txBox="1"/>
          <p:nvPr/>
        </p:nvSpPr>
        <p:spPr>
          <a:xfrm>
            <a:off x="6519672" y="2807208"/>
            <a:ext cx="822960" cy="77724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06</a:t>
            </a:r>
            <a:endParaRPr lang="en-US" sz="3200" dirty="0"/>
          </a:p>
        </p:txBody>
      </p:sp>
      <p:sp>
        <p:nvSpPr>
          <p:cNvPr id="26" name="Text 23"/>
          <p:cNvSpPr txBox="1"/>
          <p:nvPr/>
        </p:nvSpPr>
        <p:spPr>
          <a:xfrm>
            <a:off x="7434072" y="2825496"/>
            <a:ext cx="4023360" cy="365760"/>
          </a:xfrm>
          <a:prstGeom prst="rect">
            <a:avLst/>
          </a:prstGeom>
          <a:noFill/>
          <a:ln/>
        </p:spPr>
        <p:txBody>
          <a:bodyPr wrap="square" lIns="0" tIns="0" rIns="0" bIns="0" rtlCol="0" anchor="t"/>
          <a:lstStyle/>
          <a:p>
            <a:pPr indent="0" marL="0">
              <a:buNone/>
            </a:pPr>
            <a:r>
              <a:rPr lang="en-US" sz="1800" b="1" dirty="0">
                <a:solidFill>
                  <a:schemeClr val="tx1"/>
                </a:solidFill>
              </a:rPr>
              <a:t>Data and privacy</a:t>
            </a:r>
            <a:endParaRPr lang="en-US" sz="1800" dirty="0"/>
          </a:p>
        </p:txBody>
      </p:sp>
      <p:sp>
        <p:nvSpPr>
          <p:cNvPr id="27" name="Text 24"/>
          <p:cNvSpPr txBox="1"/>
          <p:nvPr/>
        </p:nvSpPr>
        <p:spPr>
          <a:xfrm>
            <a:off x="7434072" y="3218688"/>
            <a:ext cx="4023360" cy="365760"/>
          </a:xfrm>
          <a:prstGeom prst="rect">
            <a:avLst/>
          </a:prstGeom>
          <a:noFill/>
          <a:ln/>
        </p:spPr>
        <p:txBody>
          <a:bodyPr wrap="square" lIns="0" tIns="0" rIns="0" bIns="0" rtlCol="0" anchor="t"/>
          <a:lstStyle/>
          <a:p>
            <a:pPr indent="0" marL="0">
              <a:buNone/>
            </a:pPr>
            <a:r>
              <a:rPr lang="en-US" sz="1400" dirty="0">
                <a:solidFill>
                  <a:srgbClr val="5A5F7D"/>
                </a:solidFill>
              </a:rPr>
              <a:t>Storage, visitor spaces and secrets</a:t>
            </a:r>
            <a:endParaRPr lang="en-US" sz="1400" dirty="0"/>
          </a:p>
        </p:txBody>
      </p:sp>
      <p:sp>
        <p:nvSpPr>
          <p:cNvPr id="28" name="Contents card 07"/>
          <p:cNvSpPr/>
          <p:nvPr/>
        </p:nvSpPr>
        <p:spPr>
          <a:xfrm>
            <a:off x="6245352" y="3922776"/>
            <a:ext cx="5394960" cy="1051560"/>
          </a:xfrm>
          <a:prstGeom prst="roundRect">
            <a:avLst>
              <a:gd name="adj" fmla="val 1217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29" name="Text 26"/>
          <p:cNvSpPr txBox="1"/>
          <p:nvPr/>
        </p:nvSpPr>
        <p:spPr>
          <a:xfrm>
            <a:off x="6519672" y="4059936"/>
            <a:ext cx="822960" cy="77724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07</a:t>
            </a:r>
            <a:endParaRPr lang="en-US" sz="3200" dirty="0"/>
          </a:p>
        </p:txBody>
      </p:sp>
      <p:sp>
        <p:nvSpPr>
          <p:cNvPr id="30" name="Text 27"/>
          <p:cNvSpPr txBox="1"/>
          <p:nvPr/>
        </p:nvSpPr>
        <p:spPr>
          <a:xfrm>
            <a:off x="7434072" y="4078224"/>
            <a:ext cx="4023360" cy="365760"/>
          </a:xfrm>
          <a:prstGeom prst="rect">
            <a:avLst/>
          </a:prstGeom>
          <a:noFill/>
          <a:ln/>
        </p:spPr>
        <p:txBody>
          <a:bodyPr wrap="square" lIns="0" tIns="0" rIns="0" bIns="0" rtlCol="0" anchor="t"/>
          <a:lstStyle/>
          <a:p>
            <a:pPr indent="0" marL="0">
              <a:buNone/>
            </a:pPr>
            <a:r>
              <a:rPr lang="en-US" sz="1800" b="1" dirty="0">
                <a:solidFill>
                  <a:schemeClr val="tx1"/>
                </a:solidFill>
              </a:rPr>
              <a:t>Quality</a:t>
            </a:r>
            <a:endParaRPr lang="en-US" sz="1800" dirty="0"/>
          </a:p>
        </p:txBody>
      </p:sp>
      <p:sp>
        <p:nvSpPr>
          <p:cNvPr id="31" name="Text 28"/>
          <p:cNvSpPr txBox="1"/>
          <p:nvPr/>
        </p:nvSpPr>
        <p:spPr>
          <a:xfrm>
            <a:off x="7434072" y="4471416"/>
            <a:ext cx="4023360" cy="365760"/>
          </a:xfrm>
          <a:prstGeom prst="rect">
            <a:avLst/>
          </a:prstGeom>
          <a:noFill/>
          <a:ln/>
        </p:spPr>
        <p:txBody>
          <a:bodyPr wrap="square" lIns="0" tIns="0" rIns="0" bIns="0" rtlCol="0" anchor="t"/>
          <a:lstStyle/>
          <a:p>
            <a:pPr indent="0" marL="0">
              <a:buNone/>
            </a:pPr>
            <a:r>
              <a:rPr lang="en-US" sz="1400" dirty="0">
                <a:solidFill>
                  <a:srgbClr val="5A5F7D"/>
                </a:solidFill>
              </a:rPr>
              <a:t>Testing approach and results</a:t>
            </a:r>
            <a:endParaRPr lang="en-US" sz="1400" dirty="0"/>
          </a:p>
        </p:txBody>
      </p:sp>
      <p:sp>
        <p:nvSpPr>
          <p:cNvPr id="32" name="Contents card 08"/>
          <p:cNvSpPr/>
          <p:nvPr/>
        </p:nvSpPr>
        <p:spPr>
          <a:xfrm>
            <a:off x="6245352" y="5175504"/>
            <a:ext cx="5394960" cy="1051560"/>
          </a:xfrm>
          <a:prstGeom prst="roundRect">
            <a:avLst>
              <a:gd name="adj" fmla="val 1217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33" name="Text 30"/>
          <p:cNvSpPr txBox="1"/>
          <p:nvPr/>
        </p:nvSpPr>
        <p:spPr>
          <a:xfrm>
            <a:off x="6519672" y="5312664"/>
            <a:ext cx="822960" cy="77724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08</a:t>
            </a:r>
            <a:endParaRPr lang="en-US" sz="3200" dirty="0"/>
          </a:p>
        </p:txBody>
      </p:sp>
      <p:sp>
        <p:nvSpPr>
          <p:cNvPr id="34" name="Text 31"/>
          <p:cNvSpPr txBox="1"/>
          <p:nvPr/>
        </p:nvSpPr>
        <p:spPr>
          <a:xfrm>
            <a:off x="7434072" y="5330952"/>
            <a:ext cx="4023360" cy="365760"/>
          </a:xfrm>
          <a:prstGeom prst="rect">
            <a:avLst/>
          </a:prstGeom>
          <a:noFill/>
          <a:ln/>
        </p:spPr>
        <p:txBody>
          <a:bodyPr wrap="square" lIns="0" tIns="0" rIns="0" bIns="0" rtlCol="0" anchor="t"/>
          <a:lstStyle/>
          <a:p>
            <a:pPr indent="0" marL="0">
              <a:buNone/>
            </a:pPr>
            <a:r>
              <a:rPr lang="en-US" sz="1800" b="1" dirty="0">
                <a:solidFill>
                  <a:schemeClr val="tx1"/>
                </a:solidFill>
              </a:rPr>
              <a:t>Delivery</a:t>
            </a:r>
            <a:endParaRPr lang="en-US" sz="1800" dirty="0"/>
          </a:p>
        </p:txBody>
      </p:sp>
      <p:sp>
        <p:nvSpPr>
          <p:cNvPr id="35" name="Text 32"/>
          <p:cNvSpPr txBox="1"/>
          <p:nvPr/>
        </p:nvSpPr>
        <p:spPr>
          <a:xfrm>
            <a:off x="7434072" y="5724144"/>
            <a:ext cx="4023360" cy="365760"/>
          </a:xfrm>
          <a:prstGeom prst="rect">
            <a:avLst/>
          </a:prstGeom>
          <a:noFill/>
          <a:ln/>
        </p:spPr>
        <p:txBody>
          <a:bodyPr wrap="square" lIns="0" tIns="0" rIns="0" bIns="0" rtlCol="0" anchor="t"/>
          <a:lstStyle/>
          <a:p>
            <a:pPr indent="0" marL="0">
              <a:buNone/>
            </a:pPr>
            <a:r>
              <a:rPr lang="en-US" sz="1400" dirty="0">
                <a:solidFill>
                  <a:srgbClr val="5A5F7D"/>
                </a:solidFill>
              </a:rPr>
              <a:t>Deployment, challenges and next steps</a:t>
            </a:r>
            <a:endParaRPr lang="en-US" sz="1400" dirty="0"/>
          </a:p>
        </p:txBody>
      </p:sp>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1"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The assignment and our answer</a:t>
            </a:r>
            <a:endParaRPr lang="en-US" sz="3400" dirty="0"/>
          </a:p>
        </p:txBody>
      </p:sp>
      <p:sp>
        <p:nvSpPr>
          <p:cNvPr id="4" name="Text 1"/>
          <p:cNvSpPr txBox="1"/>
          <p:nvPr/>
        </p:nvSpPr>
        <p:spPr>
          <a:xfrm>
            <a:off x="548640" y="1298448"/>
            <a:ext cx="4572000" cy="274320"/>
          </a:xfrm>
          <a:prstGeom prst="rect">
            <a:avLst/>
          </a:prstGeom>
          <a:noFill/>
          <a:ln/>
        </p:spPr>
        <p:txBody>
          <a:bodyPr wrap="square" lIns="0" tIns="0" rIns="0" bIns="0" rtlCol="0" anchor="t"/>
          <a:lstStyle/>
          <a:p>
            <a:pPr indent="0" marL="0">
              <a:buNone/>
            </a:pPr>
            <a:r>
              <a:rPr lang="en-US" sz="1200" b="1" spc="200" kern="0" dirty="0">
                <a:solidFill>
                  <a:srgbClr val="5A5F7D"/>
                </a:solidFill>
              </a:rPr>
              <a:t>THE ASSIGNMENT ASKS FOR</a:t>
            </a:r>
            <a:endParaRPr lang="en-US" sz="1200" dirty="0"/>
          </a:p>
        </p:txBody>
      </p:sp>
      <p:sp>
        <p:nvSpPr>
          <p:cNvPr id="5" name="Text 2"/>
          <p:cNvSpPr txBox="1"/>
          <p:nvPr/>
        </p:nvSpPr>
        <p:spPr>
          <a:xfrm>
            <a:off x="5943600" y="1298448"/>
            <a:ext cx="5669280" cy="274320"/>
          </a:xfrm>
          <a:prstGeom prst="rect">
            <a:avLst/>
          </a:prstGeom>
          <a:noFill/>
          <a:ln/>
        </p:spPr>
        <p:txBody>
          <a:bodyPr wrap="square" lIns="0" tIns="0" rIns="0" bIns="0" rtlCol="0" anchor="t"/>
          <a:lstStyle/>
          <a:p>
            <a:pPr indent="0" marL="0">
              <a:buNone/>
            </a:pPr>
            <a:r>
              <a:rPr lang="en-US" sz="1200" b="1" spc="200" kern="0" dirty="0">
                <a:solidFill>
                  <a:srgbClr val="5A5F7D"/>
                </a:solidFill>
              </a:rPr>
              <a:t>LETTERLY DELIVERS</a:t>
            </a:r>
            <a:endParaRPr lang="en-US" sz="1200" dirty="0"/>
          </a:p>
        </p:txBody>
      </p:sp>
      <p:sp>
        <p:nvSpPr>
          <p:cNvPr id="6" name="Requirement 1"/>
          <p:cNvSpPr/>
          <p:nvPr/>
        </p:nvSpPr>
        <p:spPr>
          <a:xfrm>
            <a:off x="548640" y="1664208"/>
            <a:ext cx="4572000" cy="768096"/>
          </a:xfrm>
          <a:prstGeom prst="roundRect">
            <a:avLst>
              <a:gd name="adj" fmla="val 14286"/>
            </a:avLst>
          </a:prstGeom>
          <a:solidFill>
            <a:schemeClr val="bg2"/>
          </a:solidFill>
          <a:ln w="9525">
            <a:solidFill>
              <a:srgbClr val="E3E4F2"/>
            </a:solidFill>
            <a:prstDash val="solid"/>
          </a:ln>
        </p:spPr>
      </p:sp>
      <p:sp>
        <p:nvSpPr>
          <p:cNvPr id="7" name="Text 4"/>
          <p:cNvSpPr txBox="1"/>
          <p:nvPr/>
        </p:nvSpPr>
        <p:spPr>
          <a:xfrm>
            <a:off x="777240" y="1664208"/>
            <a:ext cx="4206240" cy="768096"/>
          </a:xfrm>
          <a:prstGeom prst="rect">
            <a:avLst/>
          </a:prstGeom>
          <a:noFill/>
          <a:ln/>
        </p:spPr>
        <p:txBody>
          <a:bodyPr wrap="square" lIns="0" tIns="0" rIns="0" bIns="0" rtlCol="0" anchor="ctr"/>
          <a:lstStyle/>
          <a:p>
            <a:pPr indent="0" marL="0">
              <a:buNone/>
            </a:pPr>
            <a:r>
              <a:rPr lang="en-US" sz="1600" dirty="0">
                <a:solidFill>
                  <a:schemeClr val="tx1"/>
                </a:solidFill>
              </a:rPr>
              <a:t>A FastAPI backend</a:t>
            </a:r>
            <a:endParaRPr lang="en-US" sz="1600" dirty="0"/>
          </a:p>
        </p:txBody>
      </p:sp>
      <p:pic>
        <p:nvPicPr>
          <p:cNvPr id="8" name="Arrow 1" descr="leads to">    </p:cNvPr>
          <p:cNvPicPr>
            <a:picLocks noChangeAspect="1"/>
          </p:cNvPicPr>
          <p:nvPr/>
        </p:nvPicPr>
        <p:blipFill>
          <a:blip r:embed="rId1"/>
          <a:stretch>
            <a:fillRect/>
          </a:stretch>
        </p:blipFill>
        <p:spPr>
          <a:xfrm>
            <a:off x="5285232" y="1865376"/>
            <a:ext cx="365760" cy="365760"/>
          </a:xfrm>
          <a:prstGeom prst="rect">
            <a:avLst/>
          </a:prstGeom>
        </p:spPr>
      </p:pic>
      <p:sp>
        <p:nvSpPr>
          <p:cNvPr id="9" name="Delivered 1"/>
          <p:cNvSpPr/>
          <p:nvPr/>
        </p:nvSpPr>
        <p:spPr>
          <a:xfrm>
            <a:off x="5852160" y="1664208"/>
            <a:ext cx="5788152" cy="768096"/>
          </a:xfrm>
          <a:prstGeom prst="roundRect">
            <a:avLst>
              <a:gd name="adj" fmla="val 14286"/>
            </a:avLst>
          </a:prstGeom>
          <a:solidFill>
            <a:schemeClr val="accent1"/>
          </a:solidFill>
          <a:ln w="12700">
            <a:solidFill>
              <a:schemeClr val="accent1"/>
            </a:solidFill>
            <a:prstDash val="solid"/>
          </a:ln>
          <a:effectLst>
            <a:outerShdw sx="100000" sy="100000" kx="0" ky="0" algn="bl" rotWithShape="0" blurRad="127000" dist="25400" dir="5400000">
              <a:srgbClr val="3C2E8C">
                <a:alpha val="14000"/>
              </a:srgbClr>
            </a:outerShdw>
          </a:effectLst>
        </p:spPr>
      </p:sp>
      <p:sp>
        <p:nvSpPr>
          <p:cNvPr id="10" name="Text 6"/>
          <p:cNvSpPr txBox="1"/>
          <p:nvPr/>
        </p:nvSpPr>
        <p:spPr>
          <a:xfrm>
            <a:off x="6080760" y="1664208"/>
            <a:ext cx="5394960" cy="768096"/>
          </a:xfrm>
          <a:prstGeom prst="rect">
            <a:avLst/>
          </a:prstGeom>
          <a:noFill/>
          <a:ln/>
        </p:spPr>
        <p:txBody>
          <a:bodyPr wrap="square" lIns="0" tIns="0" rIns="0" bIns="0" rtlCol="0" anchor="ctr"/>
          <a:lstStyle/>
          <a:p>
            <a:pPr indent="0" marL="0">
              <a:buNone/>
            </a:pPr>
            <a:r>
              <a:rPr lang="en-US" sz="1600" b="1" dirty="0">
                <a:solidFill>
                  <a:schemeClr val="bg1"/>
                </a:solidFill>
              </a:rPr>
              <a:t>FastAPI app with 22 API endpoints</a:t>
            </a:r>
            <a:endParaRPr lang="en-US" sz="1600" dirty="0"/>
          </a:p>
        </p:txBody>
      </p:sp>
      <p:sp>
        <p:nvSpPr>
          <p:cNvPr id="11" name="Requirement 2"/>
          <p:cNvSpPr/>
          <p:nvPr/>
        </p:nvSpPr>
        <p:spPr>
          <a:xfrm>
            <a:off x="548640" y="2578608"/>
            <a:ext cx="4572000" cy="768096"/>
          </a:xfrm>
          <a:prstGeom prst="roundRect">
            <a:avLst>
              <a:gd name="adj" fmla="val 14286"/>
            </a:avLst>
          </a:prstGeom>
          <a:solidFill>
            <a:schemeClr val="bg2"/>
          </a:solidFill>
          <a:ln w="9525">
            <a:solidFill>
              <a:srgbClr val="E3E4F2"/>
            </a:solidFill>
            <a:prstDash val="solid"/>
          </a:ln>
        </p:spPr>
      </p:sp>
      <p:sp>
        <p:nvSpPr>
          <p:cNvPr id="12" name="Text 8"/>
          <p:cNvSpPr txBox="1"/>
          <p:nvPr/>
        </p:nvSpPr>
        <p:spPr>
          <a:xfrm>
            <a:off x="777240" y="2578608"/>
            <a:ext cx="4206240" cy="768096"/>
          </a:xfrm>
          <a:prstGeom prst="rect">
            <a:avLst/>
          </a:prstGeom>
          <a:noFill/>
          <a:ln/>
        </p:spPr>
        <p:txBody>
          <a:bodyPr wrap="square" lIns="0" tIns="0" rIns="0" bIns="0" rtlCol="0" anchor="ctr"/>
          <a:lstStyle/>
          <a:p>
            <a:pPr indent="0" marL="0">
              <a:buNone/>
            </a:pPr>
            <a:r>
              <a:rPr lang="en-US" sz="1600" dirty="0">
                <a:solidFill>
                  <a:schemeClr val="tx1"/>
                </a:solidFill>
              </a:rPr>
              <a:t>Recipient name, purpose and tone</a:t>
            </a:r>
            <a:endParaRPr lang="en-US" sz="1600" dirty="0"/>
          </a:p>
        </p:txBody>
      </p:sp>
      <p:pic>
        <p:nvPicPr>
          <p:cNvPr id="13" name="Arrow 2" descr="leads to">    </p:cNvPr>
          <p:cNvPicPr>
            <a:picLocks noChangeAspect="1"/>
          </p:cNvPicPr>
          <p:nvPr/>
        </p:nvPicPr>
        <p:blipFill>
          <a:blip r:embed="rId2"/>
          <a:stretch>
            <a:fillRect/>
          </a:stretch>
        </p:blipFill>
        <p:spPr>
          <a:xfrm>
            <a:off x="5285232" y="2779776"/>
            <a:ext cx="365760" cy="365760"/>
          </a:xfrm>
          <a:prstGeom prst="rect">
            <a:avLst/>
          </a:prstGeom>
        </p:spPr>
      </p:pic>
      <p:sp>
        <p:nvSpPr>
          <p:cNvPr id="14" name="Delivered 2"/>
          <p:cNvSpPr/>
          <p:nvPr/>
        </p:nvSpPr>
        <p:spPr>
          <a:xfrm>
            <a:off x="5852160" y="2578608"/>
            <a:ext cx="5788152" cy="768096"/>
          </a:xfrm>
          <a:prstGeom prst="roundRect">
            <a:avLst>
              <a:gd name="adj" fmla="val 14286"/>
            </a:avLst>
          </a:prstGeom>
          <a:solidFill>
            <a:schemeClr val="accent1"/>
          </a:solidFill>
          <a:ln w="12700">
            <a:solidFill>
              <a:schemeClr val="accent1"/>
            </a:solidFill>
            <a:prstDash val="solid"/>
          </a:ln>
          <a:effectLst>
            <a:outerShdw sx="100000" sy="100000" kx="0" ky="0" algn="bl" rotWithShape="0" blurRad="127000" dist="25400" dir="5400000">
              <a:srgbClr val="3C2E8C">
                <a:alpha val="14000"/>
              </a:srgbClr>
            </a:outerShdw>
          </a:effectLst>
        </p:spPr>
      </p:sp>
      <p:sp>
        <p:nvSpPr>
          <p:cNvPr id="15" name="Text 10"/>
          <p:cNvSpPr txBox="1"/>
          <p:nvPr/>
        </p:nvSpPr>
        <p:spPr>
          <a:xfrm>
            <a:off x="6080760" y="2578608"/>
            <a:ext cx="5394960" cy="768096"/>
          </a:xfrm>
          <a:prstGeom prst="rect">
            <a:avLst/>
          </a:prstGeom>
          <a:noFill/>
          <a:ln/>
        </p:spPr>
        <p:txBody>
          <a:bodyPr wrap="square" lIns="0" tIns="0" rIns="0" bIns="0" rtlCol="0" anchor="ctr"/>
          <a:lstStyle/>
          <a:p>
            <a:pPr indent="0" marL="0">
              <a:buNone/>
            </a:pPr>
            <a:r>
              <a:rPr lang="en-US" sz="1600" b="1" dirty="0">
                <a:solidFill>
                  <a:schemeClr val="bg1"/>
                </a:solidFill>
              </a:rPr>
              <a:t>Plus length, language and sender name</a:t>
            </a:r>
            <a:endParaRPr lang="en-US" sz="1600" dirty="0"/>
          </a:p>
        </p:txBody>
      </p:sp>
      <p:sp>
        <p:nvSpPr>
          <p:cNvPr id="16" name="Requirement 3"/>
          <p:cNvSpPr/>
          <p:nvPr/>
        </p:nvSpPr>
        <p:spPr>
          <a:xfrm>
            <a:off x="548640" y="3493008"/>
            <a:ext cx="4572000" cy="768096"/>
          </a:xfrm>
          <a:prstGeom prst="roundRect">
            <a:avLst>
              <a:gd name="adj" fmla="val 14286"/>
            </a:avLst>
          </a:prstGeom>
          <a:solidFill>
            <a:schemeClr val="bg2"/>
          </a:solidFill>
          <a:ln w="9525">
            <a:solidFill>
              <a:srgbClr val="E3E4F2"/>
            </a:solidFill>
            <a:prstDash val="solid"/>
          </a:ln>
        </p:spPr>
      </p:sp>
      <p:sp>
        <p:nvSpPr>
          <p:cNvPr id="17" name="Text 12"/>
          <p:cNvSpPr txBox="1"/>
          <p:nvPr/>
        </p:nvSpPr>
        <p:spPr>
          <a:xfrm>
            <a:off x="777240" y="3493008"/>
            <a:ext cx="4206240" cy="768096"/>
          </a:xfrm>
          <a:prstGeom prst="rect">
            <a:avLst/>
          </a:prstGeom>
          <a:noFill/>
          <a:ln/>
        </p:spPr>
        <p:txBody>
          <a:bodyPr wrap="square" lIns="0" tIns="0" rIns="0" bIns="0" rtlCol="0" anchor="ctr"/>
          <a:lstStyle/>
          <a:p>
            <a:pPr indent="0" marL="0">
              <a:buNone/>
            </a:pPr>
            <a:r>
              <a:rPr lang="en-US" sz="1600" dirty="0">
                <a:solidFill>
                  <a:schemeClr val="tx1"/>
                </a:solidFill>
              </a:rPr>
              <a:t>An LLM writes the full email</a:t>
            </a:r>
            <a:endParaRPr lang="en-US" sz="1600" dirty="0"/>
          </a:p>
        </p:txBody>
      </p:sp>
      <p:pic>
        <p:nvPicPr>
          <p:cNvPr id="18" name="Arrow 3" descr="leads to">    </p:cNvPr>
          <p:cNvPicPr>
            <a:picLocks noChangeAspect="1"/>
          </p:cNvPicPr>
          <p:nvPr/>
        </p:nvPicPr>
        <p:blipFill>
          <a:blip r:embed="rId3"/>
          <a:stretch>
            <a:fillRect/>
          </a:stretch>
        </p:blipFill>
        <p:spPr>
          <a:xfrm>
            <a:off x="5285232" y="3694176"/>
            <a:ext cx="365760" cy="365760"/>
          </a:xfrm>
          <a:prstGeom prst="rect">
            <a:avLst/>
          </a:prstGeom>
        </p:spPr>
      </p:pic>
      <p:sp>
        <p:nvSpPr>
          <p:cNvPr id="19" name="Delivered 3"/>
          <p:cNvSpPr/>
          <p:nvPr/>
        </p:nvSpPr>
        <p:spPr>
          <a:xfrm>
            <a:off x="5852160" y="3493008"/>
            <a:ext cx="5788152" cy="768096"/>
          </a:xfrm>
          <a:prstGeom prst="roundRect">
            <a:avLst>
              <a:gd name="adj" fmla="val 14286"/>
            </a:avLst>
          </a:prstGeom>
          <a:solidFill>
            <a:schemeClr val="accent1"/>
          </a:solidFill>
          <a:ln w="12700">
            <a:solidFill>
              <a:schemeClr val="accent1"/>
            </a:solidFill>
            <a:prstDash val="solid"/>
          </a:ln>
          <a:effectLst>
            <a:outerShdw sx="100000" sy="100000" kx="0" ky="0" algn="bl" rotWithShape="0" blurRad="127000" dist="25400" dir="5400000">
              <a:srgbClr val="3C2E8C">
                <a:alpha val="14000"/>
              </a:srgbClr>
            </a:outerShdw>
          </a:effectLst>
        </p:spPr>
      </p:sp>
      <p:sp>
        <p:nvSpPr>
          <p:cNvPr id="20" name="Text 14"/>
          <p:cNvSpPr txBox="1"/>
          <p:nvPr/>
        </p:nvSpPr>
        <p:spPr>
          <a:xfrm>
            <a:off x="6080760" y="3493008"/>
            <a:ext cx="5394960" cy="768096"/>
          </a:xfrm>
          <a:prstGeom prst="rect">
            <a:avLst/>
          </a:prstGeom>
          <a:noFill/>
          <a:ln/>
        </p:spPr>
        <p:txBody>
          <a:bodyPr wrap="square" lIns="0" tIns="0" rIns="0" bIns="0" rtlCol="0" anchor="ctr"/>
          <a:lstStyle/>
          <a:p>
            <a:pPr indent="0" marL="0">
              <a:buNone/>
            </a:pPr>
            <a:r>
              <a:rPr lang="en-US" sz="1600" b="1" dirty="0">
                <a:solidFill>
                  <a:schemeClr val="bg1"/>
                </a:solidFill>
              </a:rPr>
              <a:t>Groq (llama-3.3-70b-versatile) in JSON mode</a:t>
            </a:r>
            <a:endParaRPr lang="en-US" sz="1600" dirty="0"/>
          </a:p>
        </p:txBody>
      </p:sp>
      <p:sp>
        <p:nvSpPr>
          <p:cNvPr id="21" name="Requirement 4"/>
          <p:cNvSpPr/>
          <p:nvPr/>
        </p:nvSpPr>
        <p:spPr>
          <a:xfrm>
            <a:off x="548640" y="4407408"/>
            <a:ext cx="4572000" cy="768096"/>
          </a:xfrm>
          <a:prstGeom prst="roundRect">
            <a:avLst>
              <a:gd name="adj" fmla="val 14286"/>
            </a:avLst>
          </a:prstGeom>
          <a:solidFill>
            <a:schemeClr val="bg2"/>
          </a:solidFill>
          <a:ln w="9525">
            <a:solidFill>
              <a:srgbClr val="E3E4F2"/>
            </a:solidFill>
            <a:prstDash val="solid"/>
          </a:ln>
        </p:spPr>
      </p:sp>
      <p:sp>
        <p:nvSpPr>
          <p:cNvPr id="22" name="Text 16"/>
          <p:cNvSpPr txBox="1"/>
          <p:nvPr/>
        </p:nvSpPr>
        <p:spPr>
          <a:xfrm>
            <a:off x="777240" y="4407408"/>
            <a:ext cx="4206240" cy="768096"/>
          </a:xfrm>
          <a:prstGeom prst="rect">
            <a:avLst/>
          </a:prstGeom>
          <a:noFill/>
          <a:ln/>
        </p:spPr>
        <p:txBody>
          <a:bodyPr wrap="square" lIns="0" tIns="0" rIns="0" bIns="0" rtlCol="0" anchor="ctr"/>
          <a:lstStyle/>
          <a:p>
            <a:pPr indent="0" marL="0">
              <a:buNone/>
            </a:pPr>
            <a:r>
              <a:rPr lang="en-US" sz="1600" dirty="0">
                <a:solidFill>
                  <a:schemeClr val="tx1"/>
                </a:solidFill>
              </a:rPr>
              <a:t>Show it on an HTML page</a:t>
            </a:r>
            <a:endParaRPr lang="en-US" sz="1600" dirty="0"/>
          </a:p>
        </p:txBody>
      </p:sp>
      <p:pic>
        <p:nvPicPr>
          <p:cNvPr id="23" name="Arrow 4" descr="leads to">    </p:cNvPr>
          <p:cNvPicPr>
            <a:picLocks noChangeAspect="1"/>
          </p:cNvPicPr>
          <p:nvPr/>
        </p:nvPicPr>
        <p:blipFill>
          <a:blip r:embed="rId4"/>
          <a:stretch>
            <a:fillRect/>
          </a:stretch>
        </p:blipFill>
        <p:spPr>
          <a:xfrm>
            <a:off x="5285232" y="4608576"/>
            <a:ext cx="365760" cy="365760"/>
          </a:xfrm>
          <a:prstGeom prst="rect">
            <a:avLst/>
          </a:prstGeom>
        </p:spPr>
      </p:pic>
      <p:sp>
        <p:nvSpPr>
          <p:cNvPr id="24" name="Delivered 4"/>
          <p:cNvSpPr/>
          <p:nvPr/>
        </p:nvSpPr>
        <p:spPr>
          <a:xfrm>
            <a:off x="5852160" y="4407408"/>
            <a:ext cx="5788152" cy="768096"/>
          </a:xfrm>
          <a:prstGeom prst="roundRect">
            <a:avLst>
              <a:gd name="adj" fmla="val 14286"/>
            </a:avLst>
          </a:prstGeom>
          <a:solidFill>
            <a:schemeClr val="accent1"/>
          </a:solidFill>
          <a:ln w="12700">
            <a:solidFill>
              <a:schemeClr val="accent1"/>
            </a:solidFill>
            <a:prstDash val="solid"/>
          </a:ln>
          <a:effectLst>
            <a:outerShdw sx="100000" sy="100000" kx="0" ky="0" algn="bl" rotWithShape="0" blurRad="127000" dist="25400" dir="5400000">
              <a:srgbClr val="3C2E8C">
                <a:alpha val="14000"/>
              </a:srgbClr>
            </a:outerShdw>
          </a:effectLst>
        </p:spPr>
      </p:sp>
      <p:sp>
        <p:nvSpPr>
          <p:cNvPr id="25" name="Text 18"/>
          <p:cNvSpPr txBox="1"/>
          <p:nvPr/>
        </p:nvSpPr>
        <p:spPr>
          <a:xfrm>
            <a:off x="6080760" y="4407408"/>
            <a:ext cx="5394960" cy="768096"/>
          </a:xfrm>
          <a:prstGeom prst="rect">
            <a:avLst/>
          </a:prstGeom>
          <a:noFill/>
          <a:ln/>
        </p:spPr>
        <p:txBody>
          <a:bodyPr wrap="square" lIns="0" tIns="0" rIns="0" bIns="0" rtlCol="0" anchor="ctr"/>
          <a:lstStyle/>
          <a:p>
            <a:pPr indent="0" marL="0">
              <a:buNone/>
            </a:pPr>
            <a:r>
              <a:rPr lang="en-US" sz="1600" b="1" dirty="0">
                <a:solidFill>
                  <a:schemeClr val="bg1"/>
                </a:solidFill>
              </a:rPr>
              <a:t>Landing page and a six-view dashboard</a:t>
            </a:r>
            <a:endParaRPr lang="en-US" sz="1600" dirty="0"/>
          </a:p>
        </p:txBody>
      </p:sp>
      <p:sp>
        <p:nvSpPr>
          <p:cNvPr id="26" name="Requirement 5"/>
          <p:cNvSpPr/>
          <p:nvPr/>
        </p:nvSpPr>
        <p:spPr>
          <a:xfrm>
            <a:off x="548640" y="5321808"/>
            <a:ext cx="4572000" cy="768096"/>
          </a:xfrm>
          <a:prstGeom prst="roundRect">
            <a:avLst>
              <a:gd name="adj" fmla="val 14286"/>
            </a:avLst>
          </a:prstGeom>
          <a:solidFill>
            <a:schemeClr val="bg2"/>
          </a:solidFill>
          <a:ln w="9525">
            <a:solidFill>
              <a:srgbClr val="E3E4F2"/>
            </a:solidFill>
            <a:prstDash val="solid"/>
          </a:ln>
        </p:spPr>
      </p:sp>
      <p:sp>
        <p:nvSpPr>
          <p:cNvPr id="27" name="Text 20"/>
          <p:cNvSpPr txBox="1"/>
          <p:nvPr/>
        </p:nvSpPr>
        <p:spPr>
          <a:xfrm>
            <a:off x="777240" y="5321808"/>
            <a:ext cx="4206240" cy="768096"/>
          </a:xfrm>
          <a:prstGeom prst="rect">
            <a:avLst/>
          </a:prstGeom>
          <a:noFill/>
          <a:ln/>
        </p:spPr>
        <p:txBody>
          <a:bodyPr wrap="square" lIns="0" tIns="0" rIns="0" bIns="0" rtlCol="0" anchor="ctr"/>
          <a:lstStyle/>
          <a:p>
            <a:pPr indent="0" marL="0">
              <a:buNone/>
            </a:pPr>
            <a:r>
              <a:rPr lang="en-US" sz="1600" dirty="0">
                <a:solidFill>
                  <a:schemeClr val="tx1"/>
                </a:solidFill>
              </a:rPr>
              <a:t>GitHub link and a screenshot</a:t>
            </a:r>
            <a:endParaRPr lang="en-US" sz="1600" dirty="0"/>
          </a:p>
        </p:txBody>
      </p:sp>
      <p:pic>
        <p:nvPicPr>
          <p:cNvPr id="28" name="Arrow 5" descr="leads to">    </p:cNvPr>
          <p:cNvPicPr>
            <a:picLocks noChangeAspect="1"/>
          </p:cNvPicPr>
          <p:nvPr/>
        </p:nvPicPr>
        <p:blipFill>
          <a:blip r:embed="rId5"/>
          <a:stretch>
            <a:fillRect/>
          </a:stretch>
        </p:blipFill>
        <p:spPr>
          <a:xfrm>
            <a:off x="5285232" y="5522976"/>
            <a:ext cx="365760" cy="365760"/>
          </a:xfrm>
          <a:prstGeom prst="rect">
            <a:avLst/>
          </a:prstGeom>
        </p:spPr>
      </p:pic>
      <p:sp>
        <p:nvSpPr>
          <p:cNvPr id="29" name="Delivered 5"/>
          <p:cNvSpPr/>
          <p:nvPr/>
        </p:nvSpPr>
        <p:spPr>
          <a:xfrm>
            <a:off x="5852160" y="5321808"/>
            <a:ext cx="5788152" cy="768096"/>
          </a:xfrm>
          <a:prstGeom prst="roundRect">
            <a:avLst>
              <a:gd name="adj" fmla="val 14286"/>
            </a:avLst>
          </a:prstGeom>
          <a:solidFill>
            <a:schemeClr val="accent1"/>
          </a:solidFill>
          <a:ln w="12700">
            <a:solidFill>
              <a:schemeClr val="accent1"/>
            </a:solidFill>
            <a:prstDash val="solid"/>
          </a:ln>
          <a:effectLst>
            <a:outerShdw sx="100000" sy="100000" kx="0" ky="0" algn="bl" rotWithShape="0" blurRad="127000" dist="25400" dir="5400000">
              <a:srgbClr val="3C2E8C">
                <a:alpha val="14000"/>
              </a:srgbClr>
            </a:outerShdw>
          </a:effectLst>
        </p:spPr>
      </p:sp>
      <p:sp>
        <p:nvSpPr>
          <p:cNvPr id="30" name="Text 22"/>
          <p:cNvSpPr txBox="1"/>
          <p:nvPr/>
        </p:nvSpPr>
        <p:spPr>
          <a:xfrm>
            <a:off x="6080760" y="5321808"/>
            <a:ext cx="5394960" cy="768096"/>
          </a:xfrm>
          <a:prstGeom prst="rect">
            <a:avLst/>
          </a:prstGeom>
          <a:noFill/>
          <a:ln/>
        </p:spPr>
        <p:txBody>
          <a:bodyPr wrap="square" lIns="0" tIns="0" rIns="0" bIns="0" rtlCol="0" anchor="ctr"/>
          <a:lstStyle/>
          <a:p>
            <a:pPr indent="0" marL="0">
              <a:buNone/>
            </a:pPr>
            <a:r>
              <a:rPr lang="en-US" sz="1600" b="1" dirty="0">
                <a:solidFill>
                  <a:schemeClr val="bg1"/>
                </a:solidFill>
              </a:rPr>
              <a:t>README, setup guide and deploy guide</a:t>
            </a:r>
            <a:endParaRPr lang="en-US" sz="1600" dirty="0"/>
          </a:p>
        </p:txBody>
      </p:sp>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1"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LetterLy at a glance</a:t>
            </a:r>
            <a:endParaRPr lang="en-US" sz="3400" dirty="0"/>
          </a:p>
        </p:txBody>
      </p:sp>
      <p:sp>
        <p:nvSpPr>
          <p:cNvPr id="4" name="Stat card 1"/>
          <p:cNvSpPr/>
          <p:nvPr/>
        </p:nvSpPr>
        <p:spPr>
          <a:xfrm>
            <a:off x="548640" y="1508760"/>
            <a:ext cx="2057400" cy="2468880"/>
          </a:xfrm>
          <a:prstGeom prst="roundRect">
            <a:avLst>
              <a:gd name="adj" fmla="val 6222"/>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5" name="Text 2"/>
          <p:cNvSpPr txBox="1"/>
          <p:nvPr/>
        </p:nvSpPr>
        <p:spPr>
          <a:xfrm>
            <a:off x="640080" y="1691640"/>
            <a:ext cx="1874520" cy="914400"/>
          </a:xfrm>
          <a:prstGeom prst="rect">
            <a:avLst/>
          </a:prstGeom>
          <a:noFill/>
          <a:ln/>
        </p:spPr>
        <p:txBody>
          <a:bodyPr wrap="square" lIns="0" tIns="0" rIns="0" bIns="0" rtlCol="0" anchor="ctr"/>
          <a:lstStyle/>
          <a:p>
            <a:pPr algn="ctr" indent="0" marL="0">
              <a:buNone/>
            </a:pPr>
            <a:r>
              <a:rPr lang="en-US" sz="4000" b="1" dirty="0">
                <a:solidFill>
                  <a:schemeClr val="accent1"/>
                </a:solidFill>
                <a:latin typeface="+mj-lt" pitchFamily="34" charset="0"/>
                <a:ea typeface="+mj-lt" pitchFamily="34" charset="-122"/>
                <a:cs typeface="+mj-lt" pitchFamily="34" charset="-120"/>
              </a:rPr>
              <a:t>22</a:t>
            </a:r>
            <a:endParaRPr lang="en-US" sz="4000" dirty="0"/>
          </a:p>
        </p:txBody>
      </p:sp>
      <p:sp>
        <p:nvSpPr>
          <p:cNvPr id="6" name="Text 3"/>
          <p:cNvSpPr txBox="1"/>
          <p:nvPr/>
        </p:nvSpPr>
        <p:spPr>
          <a:xfrm>
            <a:off x="685800" y="2697480"/>
            <a:ext cx="1783080" cy="365760"/>
          </a:xfrm>
          <a:prstGeom prst="rect">
            <a:avLst/>
          </a:prstGeom>
          <a:noFill/>
          <a:ln/>
        </p:spPr>
        <p:txBody>
          <a:bodyPr wrap="square" lIns="0" tIns="0" rIns="0" bIns="0" rtlCol="0" anchor="t"/>
          <a:lstStyle/>
          <a:p>
            <a:pPr algn="ctr" indent="0" marL="0">
              <a:buNone/>
            </a:pPr>
            <a:r>
              <a:rPr lang="en-US" sz="1600" b="1" dirty="0">
                <a:solidFill>
                  <a:schemeClr val="tx1"/>
                </a:solidFill>
              </a:rPr>
              <a:t>API endpoints</a:t>
            </a:r>
            <a:endParaRPr lang="en-US" sz="1600" dirty="0"/>
          </a:p>
        </p:txBody>
      </p:sp>
      <p:sp>
        <p:nvSpPr>
          <p:cNvPr id="7" name="Text 4"/>
          <p:cNvSpPr txBox="1"/>
          <p:nvPr/>
        </p:nvSpPr>
        <p:spPr>
          <a:xfrm>
            <a:off x="685800" y="3108960"/>
            <a:ext cx="1783080" cy="731520"/>
          </a:xfrm>
          <a:prstGeom prst="rect">
            <a:avLst/>
          </a:prstGeom>
          <a:noFill/>
          <a:ln/>
        </p:spPr>
        <p:txBody>
          <a:bodyPr wrap="square" lIns="0" tIns="0" rIns="0" bIns="0" rtlCol="0" anchor="t"/>
          <a:lstStyle/>
          <a:p>
            <a:pPr algn="ctr" indent="0" marL="0">
              <a:buNone/>
            </a:pPr>
            <a:r>
              <a:rPr lang="en-US" sz="1400" dirty="0">
                <a:solidFill>
                  <a:srgbClr val="5A5F7D"/>
                </a:solidFill>
              </a:rPr>
              <a:t>Generation, AI tools, data</a:t>
            </a:r>
            <a:endParaRPr lang="en-US" sz="1400" dirty="0"/>
          </a:p>
        </p:txBody>
      </p:sp>
      <p:sp>
        <p:nvSpPr>
          <p:cNvPr id="8" name="Stat card 2"/>
          <p:cNvSpPr/>
          <p:nvPr/>
        </p:nvSpPr>
        <p:spPr>
          <a:xfrm>
            <a:off x="2807208" y="1508760"/>
            <a:ext cx="2057400" cy="2468880"/>
          </a:xfrm>
          <a:prstGeom prst="roundRect">
            <a:avLst>
              <a:gd name="adj" fmla="val 6222"/>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9" name="Text 6"/>
          <p:cNvSpPr txBox="1"/>
          <p:nvPr/>
        </p:nvSpPr>
        <p:spPr>
          <a:xfrm>
            <a:off x="2898648" y="1691640"/>
            <a:ext cx="1874520" cy="914400"/>
          </a:xfrm>
          <a:prstGeom prst="rect">
            <a:avLst/>
          </a:prstGeom>
          <a:noFill/>
          <a:ln/>
        </p:spPr>
        <p:txBody>
          <a:bodyPr wrap="square" lIns="0" tIns="0" rIns="0" bIns="0" rtlCol="0" anchor="ctr"/>
          <a:lstStyle/>
          <a:p>
            <a:pPr algn="ctr" indent="0" marL="0">
              <a:buNone/>
            </a:pPr>
            <a:r>
              <a:rPr lang="en-US" sz="4000" b="1" dirty="0">
                <a:solidFill>
                  <a:schemeClr val="accent2"/>
                </a:solidFill>
                <a:latin typeface="+mj-lt" pitchFamily="34" charset="0"/>
                <a:ea typeface="+mj-lt" pitchFamily="34" charset="-122"/>
                <a:cs typeface="+mj-lt" pitchFamily="34" charset="-120"/>
              </a:rPr>
              <a:t>10</a:t>
            </a:r>
            <a:endParaRPr lang="en-US" sz="4000" dirty="0"/>
          </a:p>
        </p:txBody>
      </p:sp>
      <p:sp>
        <p:nvSpPr>
          <p:cNvPr id="10" name="Text 7"/>
          <p:cNvSpPr txBox="1"/>
          <p:nvPr/>
        </p:nvSpPr>
        <p:spPr>
          <a:xfrm>
            <a:off x="2944368" y="2697480"/>
            <a:ext cx="1783080" cy="365760"/>
          </a:xfrm>
          <a:prstGeom prst="rect">
            <a:avLst/>
          </a:prstGeom>
          <a:noFill/>
          <a:ln/>
        </p:spPr>
        <p:txBody>
          <a:bodyPr wrap="square" lIns="0" tIns="0" rIns="0" bIns="0" rtlCol="0" anchor="t"/>
          <a:lstStyle/>
          <a:p>
            <a:pPr algn="ctr" indent="0" marL="0">
              <a:buNone/>
            </a:pPr>
            <a:r>
              <a:rPr lang="en-US" sz="1600" b="1" dirty="0">
                <a:solidFill>
                  <a:schemeClr val="tx1"/>
                </a:solidFill>
              </a:rPr>
              <a:t>Built-in templates</a:t>
            </a:r>
            <a:endParaRPr lang="en-US" sz="1600" dirty="0"/>
          </a:p>
        </p:txBody>
      </p:sp>
      <p:sp>
        <p:nvSpPr>
          <p:cNvPr id="11" name="Text 8"/>
          <p:cNvSpPr txBox="1"/>
          <p:nvPr/>
        </p:nvSpPr>
        <p:spPr>
          <a:xfrm>
            <a:off x="2944368" y="3108960"/>
            <a:ext cx="1783080" cy="731520"/>
          </a:xfrm>
          <a:prstGeom prst="rect">
            <a:avLst/>
          </a:prstGeom>
          <a:noFill/>
          <a:ln/>
        </p:spPr>
        <p:txBody>
          <a:bodyPr wrap="square" lIns="0" tIns="0" rIns="0" bIns="0" rtlCol="0" anchor="t"/>
          <a:lstStyle/>
          <a:p>
            <a:pPr algn="ctr" indent="0" marL="0">
              <a:buNone/>
            </a:pPr>
            <a:r>
              <a:rPr lang="en-US" sz="1400" dirty="0">
                <a:solidFill>
                  <a:srgbClr val="5A5F7D"/>
                </a:solidFill>
              </a:rPr>
              <a:t>Plus your own saved ones</a:t>
            </a:r>
            <a:endParaRPr lang="en-US" sz="1400" dirty="0"/>
          </a:p>
        </p:txBody>
      </p:sp>
      <p:sp>
        <p:nvSpPr>
          <p:cNvPr id="12" name="Stat card 3"/>
          <p:cNvSpPr/>
          <p:nvPr/>
        </p:nvSpPr>
        <p:spPr>
          <a:xfrm>
            <a:off x="5065776" y="1508760"/>
            <a:ext cx="2057400" cy="2468880"/>
          </a:xfrm>
          <a:prstGeom prst="roundRect">
            <a:avLst>
              <a:gd name="adj" fmla="val 6222"/>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13" name="Text 10"/>
          <p:cNvSpPr txBox="1"/>
          <p:nvPr/>
        </p:nvSpPr>
        <p:spPr>
          <a:xfrm>
            <a:off x="5157216" y="1691640"/>
            <a:ext cx="1874520" cy="914400"/>
          </a:xfrm>
          <a:prstGeom prst="rect">
            <a:avLst/>
          </a:prstGeom>
          <a:noFill/>
          <a:ln/>
        </p:spPr>
        <p:txBody>
          <a:bodyPr wrap="square" lIns="0" tIns="0" rIns="0" bIns="0" rtlCol="0" anchor="ctr"/>
          <a:lstStyle/>
          <a:p>
            <a:pPr algn="ctr" indent="0" marL="0">
              <a:buNone/>
            </a:pPr>
            <a:r>
              <a:rPr lang="en-US" sz="4000" b="1" dirty="0">
                <a:solidFill>
                  <a:schemeClr val="accent1"/>
                </a:solidFill>
                <a:latin typeface="+mj-lt" pitchFamily="34" charset="0"/>
                <a:ea typeface="+mj-lt" pitchFamily="34" charset="-122"/>
                <a:cs typeface="+mj-lt" pitchFamily="34" charset="-120"/>
              </a:rPr>
              <a:t>3</a:t>
            </a:r>
            <a:endParaRPr lang="en-US" sz="4000" dirty="0"/>
          </a:p>
        </p:txBody>
      </p:sp>
      <p:sp>
        <p:nvSpPr>
          <p:cNvPr id="14" name="Text 11"/>
          <p:cNvSpPr txBox="1"/>
          <p:nvPr/>
        </p:nvSpPr>
        <p:spPr>
          <a:xfrm>
            <a:off x="5202936" y="2697480"/>
            <a:ext cx="1783080" cy="365760"/>
          </a:xfrm>
          <a:prstGeom prst="rect">
            <a:avLst/>
          </a:prstGeom>
          <a:noFill/>
          <a:ln/>
        </p:spPr>
        <p:txBody>
          <a:bodyPr wrap="square" lIns="0" tIns="0" rIns="0" bIns="0" rtlCol="0" anchor="t"/>
          <a:lstStyle/>
          <a:p>
            <a:pPr algn="ctr" indent="0" marL="0">
              <a:buNone/>
            </a:pPr>
            <a:r>
              <a:rPr lang="en-US" sz="1600" b="1" dirty="0">
                <a:solidFill>
                  <a:schemeClr val="tx1"/>
                </a:solidFill>
              </a:rPr>
              <a:t>Tones</a:t>
            </a:r>
            <a:endParaRPr lang="en-US" sz="1600" dirty="0"/>
          </a:p>
        </p:txBody>
      </p:sp>
      <p:sp>
        <p:nvSpPr>
          <p:cNvPr id="15" name="Text 12"/>
          <p:cNvSpPr txBox="1"/>
          <p:nvPr/>
        </p:nvSpPr>
        <p:spPr>
          <a:xfrm>
            <a:off x="5202936" y="3108960"/>
            <a:ext cx="1783080" cy="731520"/>
          </a:xfrm>
          <a:prstGeom prst="rect">
            <a:avLst/>
          </a:prstGeom>
          <a:noFill/>
          <a:ln/>
        </p:spPr>
        <p:txBody>
          <a:bodyPr wrap="square" lIns="0" tIns="0" rIns="0" bIns="0" rtlCol="0" anchor="t"/>
          <a:lstStyle/>
          <a:p>
            <a:pPr algn="ctr" indent="0" marL="0">
              <a:buNone/>
            </a:pPr>
            <a:r>
              <a:rPr lang="en-US" sz="1400" dirty="0">
                <a:solidFill>
                  <a:srgbClr val="5A5F7D"/>
                </a:solidFill>
              </a:rPr>
              <a:t>Professional, Friendly, Formal</a:t>
            </a:r>
            <a:endParaRPr lang="en-US" sz="1400" dirty="0"/>
          </a:p>
        </p:txBody>
      </p:sp>
      <p:sp>
        <p:nvSpPr>
          <p:cNvPr id="16" name="Stat card 4"/>
          <p:cNvSpPr/>
          <p:nvPr/>
        </p:nvSpPr>
        <p:spPr>
          <a:xfrm>
            <a:off x="7324344" y="1508760"/>
            <a:ext cx="2057400" cy="2468880"/>
          </a:xfrm>
          <a:prstGeom prst="roundRect">
            <a:avLst>
              <a:gd name="adj" fmla="val 6222"/>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17" name="Text 14"/>
          <p:cNvSpPr txBox="1"/>
          <p:nvPr/>
        </p:nvSpPr>
        <p:spPr>
          <a:xfrm>
            <a:off x="7415784" y="1691640"/>
            <a:ext cx="1874520" cy="914400"/>
          </a:xfrm>
          <a:prstGeom prst="rect">
            <a:avLst/>
          </a:prstGeom>
          <a:noFill/>
          <a:ln/>
        </p:spPr>
        <p:txBody>
          <a:bodyPr wrap="square" lIns="0" tIns="0" rIns="0" bIns="0" rtlCol="0" anchor="ctr"/>
          <a:lstStyle/>
          <a:p>
            <a:pPr algn="ctr" indent="0" marL="0">
              <a:buNone/>
            </a:pPr>
            <a:r>
              <a:rPr lang="en-US" sz="4000" b="1" dirty="0">
                <a:solidFill>
                  <a:schemeClr val="accent2"/>
                </a:solidFill>
                <a:latin typeface="+mj-lt" pitchFamily="34" charset="0"/>
                <a:ea typeface="+mj-lt" pitchFamily="34" charset="-122"/>
                <a:cs typeface="+mj-lt" pitchFamily="34" charset="-120"/>
              </a:rPr>
              <a:t>7</a:t>
            </a:r>
            <a:endParaRPr lang="en-US" sz="4000" dirty="0"/>
          </a:p>
        </p:txBody>
      </p:sp>
      <p:sp>
        <p:nvSpPr>
          <p:cNvPr id="18" name="Text 15"/>
          <p:cNvSpPr txBox="1"/>
          <p:nvPr/>
        </p:nvSpPr>
        <p:spPr>
          <a:xfrm>
            <a:off x="7461504" y="2697480"/>
            <a:ext cx="1783080" cy="365760"/>
          </a:xfrm>
          <a:prstGeom prst="rect">
            <a:avLst/>
          </a:prstGeom>
          <a:noFill/>
          <a:ln/>
        </p:spPr>
        <p:txBody>
          <a:bodyPr wrap="square" lIns="0" tIns="0" rIns="0" bIns="0" rtlCol="0" anchor="t"/>
          <a:lstStyle/>
          <a:p>
            <a:pPr algn="ctr" indent="0" marL="0">
              <a:buNone/>
            </a:pPr>
            <a:r>
              <a:rPr lang="en-US" sz="1600" b="1" dirty="0">
                <a:solidFill>
                  <a:schemeClr val="tx1"/>
                </a:solidFill>
              </a:rPr>
              <a:t>Screens</a:t>
            </a:r>
            <a:endParaRPr lang="en-US" sz="1600" dirty="0"/>
          </a:p>
        </p:txBody>
      </p:sp>
      <p:sp>
        <p:nvSpPr>
          <p:cNvPr id="19" name="Text 16"/>
          <p:cNvSpPr txBox="1"/>
          <p:nvPr/>
        </p:nvSpPr>
        <p:spPr>
          <a:xfrm>
            <a:off x="7461504" y="3108960"/>
            <a:ext cx="1783080" cy="731520"/>
          </a:xfrm>
          <a:prstGeom prst="rect">
            <a:avLst/>
          </a:prstGeom>
          <a:noFill/>
          <a:ln/>
        </p:spPr>
        <p:txBody>
          <a:bodyPr wrap="square" lIns="0" tIns="0" rIns="0" bIns="0" rtlCol="0" anchor="t"/>
          <a:lstStyle/>
          <a:p>
            <a:pPr algn="ctr" indent="0" marL="0">
              <a:buNone/>
            </a:pPr>
            <a:r>
              <a:rPr lang="en-US" sz="1400" dirty="0">
                <a:solidFill>
                  <a:srgbClr val="5A5F7D"/>
                </a:solidFill>
              </a:rPr>
              <a:t>Landing page and 6 dashboard views</a:t>
            </a:r>
            <a:endParaRPr lang="en-US" sz="1400" dirty="0"/>
          </a:p>
        </p:txBody>
      </p:sp>
      <p:sp>
        <p:nvSpPr>
          <p:cNvPr id="20" name="Stat card 5"/>
          <p:cNvSpPr/>
          <p:nvPr/>
        </p:nvSpPr>
        <p:spPr>
          <a:xfrm>
            <a:off x="9582912" y="1508760"/>
            <a:ext cx="2057400" cy="2468880"/>
          </a:xfrm>
          <a:prstGeom prst="roundRect">
            <a:avLst>
              <a:gd name="adj" fmla="val 6222"/>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21" name="Text 18"/>
          <p:cNvSpPr txBox="1"/>
          <p:nvPr/>
        </p:nvSpPr>
        <p:spPr>
          <a:xfrm>
            <a:off x="9674352" y="1691640"/>
            <a:ext cx="1874520" cy="914400"/>
          </a:xfrm>
          <a:prstGeom prst="rect">
            <a:avLst/>
          </a:prstGeom>
          <a:noFill/>
          <a:ln/>
        </p:spPr>
        <p:txBody>
          <a:bodyPr wrap="square" lIns="0" tIns="0" rIns="0" bIns="0" rtlCol="0" anchor="ctr"/>
          <a:lstStyle/>
          <a:p>
            <a:pPr algn="ctr" indent="0" marL="0">
              <a:buNone/>
            </a:pPr>
            <a:r>
              <a:rPr lang="en-US" sz="4000" b="1" dirty="0">
                <a:solidFill>
                  <a:schemeClr val="accent1"/>
                </a:solidFill>
                <a:latin typeface="+mj-lt" pitchFamily="34" charset="0"/>
                <a:ea typeface="+mj-lt" pitchFamily="34" charset="-122"/>
                <a:cs typeface="+mj-lt" pitchFamily="34" charset="-120"/>
              </a:rPr>
              <a:t>3,200+</a:t>
            </a:r>
            <a:endParaRPr lang="en-US" sz="4000" dirty="0"/>
          </a:p>
        </p:txBody>
      </p:sp>
      <p:sp>
        <p:nvSpPr>
          <p:cNvPr id="22" name="Text 19"/>
          <p:cNvSpPr txBox="1"/>
          <p:nvPr/>
        </p:nvSpPr>
        <p:spPr>
          <a:xfrm>
            <a:off x="9720072" y="2697480"/>
            <a:ext cx="1783080" cy="365760"/>
          </a:xfrm>
          <a:prstGeom prst="rect">
            <a:avLst/>
          </a:prstGeom>
          <a:noFill/>
          <a:ln/>
        </p:spPr>
        <p:txBody>
          <a:bodyPr wrap="square" lIns="0" tIns="0" rIns="0" bIns="0" rtlCol="0" anchor="t"/>
          <a:lstStyle/>
          <a:p>
            <a:pPr algn="ctr" indent="0" marL="0">
              <a:buNone/>
            </a:pPr>
            <a:r>
              <a:rPr lang="en-US" sz="1600" b="1" dirty="0">
                <a:solidFill>
                  <a:schemeClr val="tx1"/>
                </a:solidFill>
              </a:rPr>
              <a:t>Lines of code</a:t>
            </a:r>
            <a:endParaRPr lang="en-US" sz="1600" dirty="0"/>
          </a:p>
        </p:txBody>
      </p:sp>
      <p:sp>
        <p:nvSpPr>
          <p:cNvPr id="23" name="Text 20"/>
          <p:cNvSpPr txBox="1"/>
          <p:nvPr/>
        </p:nvSpPr>
        <p:spPr>
          <a:xfrm>
            <a:off x="9720072" y="3108960"/>
            <a:ext cx="1783080" cy="731520"/>
          </a:xfrm>
          <a:prstGeom prst="rect">
            <a:avLst/>
          </a:prstGeom>
          <a:noFill/>
          <a:ln/>
        </p:spPr>
        <p:txBody>
          <a:bodyPr wrap="square" lIns="0" tIns="0" rIns="0" bIns="0" rtlCol="0" anchor="t"/>
          <a:lstStyle/>
          <a:p>
            <a:pPr algn="ctr" indent="0" marL="0">
              <a:buNone/>
            </a:pPr>
            <a:r>
              <a:rPr lang="en-US" sz="1400" dirty="0">
                <a:solidFill>
                  <a:srgbClr val="5A5F7D"/>
                </a:solidFill>
              </a:rPr>
              <a:t>Backend, frontend and tools</a:t>
            </a:r>
            <a:endParaRPr lang="en-US" sz="1400" dirty="0"/>
          </a:p>
        </p:txBody>
      </p:sp>
      <p:sp>
        <p:nvSpPr>
          <p:cNvPr id="24" name="Highlights strip"/>
          <p:cNvSpPr/>
          <p:nvPr/>
        </p:nvSpPr>
        <p:spPr>
          <a:xfrm>
            <a:off x="548640" y="4297680"/>
            <a:ext cx="11091672" cy="1828800"/>
          </a:xfrm>
          <a:prstGeom prst="roundRect">
            <a:avLst>
              <a:gd name="adj" fmla="val 7000"/>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25" name="Highlight 1 background"/>
          <p:cNvSpPr/>
          <p:nvPr/>
        </p:nvSpPr>
        <p:spPr>
          <a:xfrm>
            <a:off x="868680" y="4709160"/>
            <a:ext cx="731520" cy="731520"/>
          </a:xfrm>
          <a:prstGeom prst="ellipse">
            <a:avLst/>
          </a:prstGeom>
          <a:solidFill>
            <a:schemeClr val="accent1"/>
          </a:solidFill>
          <a:ln w="12700">
            <a:solidFill>
              <a:schemeClr val="accent1"/>
            </a:solidFill>
            <a:prstDash val="solid"/>
          </a:ln>
        </p:spPr>
      </p:sp>
      <p:pic>
        <p:nvPicPr>
          <p:cNvPr id="26" name="Highlight 1 icon" descr="English and Urdu">    </p:cNvPr>
          <p:cNvPicPr>
            <a:picLocks noChangeAspect="1"/>
          </p:cNvPicPr>
          <p:nvPr/>
        </p:nvPicPr>
        <p:blipFill>
          <a:blip r:embed="rId1"/>
          <a:stretch>
            <a:fillRect/>
          </a:stretch>
        </p:blipFill>
        <p:spPr>
          <a:xfrm>
            <a:off x="1051560" y="4892040"/>
            <a:ext cx="365760" cy="365760"/>
          </a:xfrm>
          <a:prstGeom prst="rect">
            <a:avLst/>
          </a:prstGeom>
        </p:spPr>
      </p:pic>
      <p:sp>
        <p:nvSpPr>
          <p:cNvPr id="27" name="Text 23"/>
          <p:cNvSpPr txBox="1"/>
          <p:nvPr/>
        </p:nvSpPr>
        <p:spPr>
          <a:xfrm>
            <a:off x="1783080" y="4681728"/>
            <a:ext cx="2514600" cy="365760"/>
          </a:xfrm>
          <a:prstGeom prst="rect">
            <a:avLst/>
          </a:prstGeom>
          <a:noFill/>
          <a:ln/>
        </p:spPr>
        <p:txBody>
          <a:bodyPr wrap="square" lIns="0" tIns="0" rIns="0" bIns="0" rtlCol="0" anchor="t"/>
          <a:lstStyle/>
          <a:p>
            <a:pPr indent="0" marL="0">
              <a:buNone/>
            </a:pPr>
            <a:r>
              <a:rPr lang="en-US" sz="1800" b="1" dirty="0">
                <a:solidFill>
                  <a:schemeClr val="tx1"/>
                </a:solidFill>
              </a:rPr>
              <a:t>English and Urdu</a:t>
            </a:r>
            <a:endParaRPr lang="en-US" sz="1800" dirty="0"/>
          </a:p>
        </p:txBody>
      </p:sp>
      <p:sp>
        <p:nvSpPr>
          <p:cNvPr id="28" name="Text 24"/>
          <p:cNvSpPr txBox="1"/>
          <p:nvPr/>
        </p:nvSpPr>
        <p:spPr>
          <a:xfrm>
            <a:off x="1783080" y="5074920"/>
            <a:ext cx="2514600" cy="822960"/>
          </a:xfrm>
          <a:prstGeom prst="rect">
            <a:avLst/>
          </a:prstGeom>
          <a:noFill/>
          <a:ln/>
        </p:spPr>
        <p:txBody>
          <a:bodyPr wrap="square" lIns="0" tIns="0" rIns="0" bIns="0" rtlCol="0" anchor="t"/>
          <a:lstStyle/>
          <a:p>
            <a:pPr indent="0" marL="0">
              <a:buNone/>
            </a:pPr>
            <a:r>
              <a:rPr lang="en-US" sz="1400" dirty="0">
                <a:solidFill>
                  <a:srgbClr val="5A5F7D"/>
                </a:solidFill>
              </a:rPr>
              <a:t>Right-to-left text in the page and in Word</a:t>
            </a:r>
            <a:endParaRPr lang="en-US" sz="1400" dirty="0"/>
          </a:p>
        </p:txBody>
      </p:sp>
      <p:sp>
        <p:nvSpPr>
          <p:cNvPr id="29" name="Highlight 2 background"/>
          <p:cNvSpPr/>
          <p:nvPr/>
        </p:nvSpPr>
        <p:spPr>
          <a:xfrm>
            <a:off x="4480560" y="4709160"/>
            <a:ext cx="731520" cy="731520"/>
          </a:xfrm>
          <a:prstGeom prst="ellipse">
            <a:avLst/>
          </a:prstGeom>
          <a:solidFill>
            <a:schemeClr val="accent2"/>
          </a:solidFill>
          <a:ln w="12700">
            <a:solidFill>
              <a:schemeClr val="accent2"/>
            </a:solidFill>
            <a:prstDash val="solid"/>
          </a:ln>
        </p:spPr>
      </p:sp>
      <p:pic>
        <p:nvPicPr>
          <p:cNvPr id="30" name="Highlight 2 icon" descr="Five ways to take it away">    </p:cNvPr>
          <p:cNvPicPr>
            <a:picLocks noChangeAspect="1"/>
          </p:cNvPicPr>
          <p:nvPr/>
        </p:nvPicPr>
        <p:blipFill>
          <a:blip r:embed="rId2"/>
          <a:stretch>
            <a:fillRect/>
          </a:stretch>
        </p:blipFill>
        <p:spPr>
          <a:xfrm>
            <a:off x="4663440" y="4892040"/>
            <a:ext cx="365760" cy="365760"/>
          </a:xfrm>
          <a:prstGeom prst="rect">
            <a:avLst/>
          </a:prstGeom>
        </p:spPr>
      </p:pic>
      <p:sp>
        <p:nvSpPr>
          <p:cNvPr id="31" name="Text 26"/>
          <p:cNvSpPr txBox="1"/>
          <p:nvPr/>
        </p:nvSpPr>
        <p:spPr>
          <a:xfrm>
            <a:off x="5394960" y="4681728"/>
            <a:ext cx="2514600" cy="365760"/>
          </a:xfrm>
          <a:prstGeom prst="rect">
            <a:avLst/>
          </a:prstGeom>
          <a:noFill/>
          <a:ln/>
        </p:spPr>
        <p:txBody>
          <a:bodyPr wrap="square" lIns="0" tIns="0" rIns="0" bIns="0" rtlCol="0" anchor="t"/>
          <a:lstStyle/>
          <a:p>
            <a:pPr indent="0" marL="0">
              <a:buNone/>
            </a:pPr>
            <a:r>
              <a:rPr lang="en-US" sz="1800" b="1" dirty="0">
                <a:solidFill>
                  <a:schemeClr val="tx1"/>
                </a:solidFill>
              </a:rPr>
              <a:t>Five ways to take it away</a:t>
            </a:r>
            <a:endParaRPr lang="en-US" sz="1800" dirty="0"/>
          </a:p>
        </p:txBody>
      </p:sp>
      <p:sp>
        <p:nvSpPr>
          <p:cNvPr id="32" name="Text 27"/>
          <p:cNvSpPr txBox="1"/>
          <p:nvPr/>
        </p:nvSpPr>
        <p:spPr>
          <a:xfrm>
            <a:off x="5394960" y="5074920"/>
            <a:ext cx="2514600" cy="822960"/>
          </a:xfrm>
          <a:prstGeom prst="rect">
            <a:avLst/>
          </a:prstGeom>
          <a:noFill/>
          <a:ln/>
        </p:spPr>
        <p:txBody>
          <a:bodyPr wrap="square" lIns="0" tIns="0" rIns="0" bIns="0" rtlCol="0" anchor="t"/>
          <a:lstStyle/>
          <a:p>
            <a:pPr indent="0" marL="0">
              <a:buNone/>
            </a:pPr>
            <a:r>
              <a:rPr lang="en-US" sz="1400" dirty="0">
                <a:solidFill>
                  <a:srgbClr val="5A5F7D"/>
                </a:solidFill>
              </a:rPr>
              <a:t>Copy, text, Word, PDF or your mail app</a:t>
            </a:r>
            <a:endParaRPr lang="en-US" sz="1400" dirty="0"/>
          </a:p>
        </p:txBody>
      </p:sp>
      <p:sp>
        <p:nvSpPr>
          <p:cNvPr id="33" name="Highlight 3 background"/>
          <p:cNvSpPr/>
          <p:nvPr/>
        </p:nvSpPr>
        <p:spPr>
          <a:xfrm>
            <a:off x="8092440" y="4709160"/>
            <a:ext cx="731520" cy="731520"/>
          </a:xfrm>
          <a:prstGeom prst="ellipse">
            <a:avLst/>
          </a:prstGeom>
          <a:solidFill>
            <a:schemeClr val="accent6"/>
          </a:solidFill>
          <a:ln w="12700">
            <a:solidFill>
              <a:schemeClr val="accent6"/>
            </a:solidFill>
            <a:prstDash val="solid"/>
          </a:ln>
        </p:spPr>
      </p:sp>
      <p:pic>
        <p:nvPicPr>
          <p:cNvPr id="34" name="Highlight 3 icon" descr="Voice and dark mode">    </p:cNvPr>
          <p:cNvPicPr>
            <a:picLocks noChangeAspect="1"/>
          </p:cNvPicPr>
          <p:nvPr/>
        </p:nvPicPr>
        <p:blipFill>
          <a:blip r:embed="rId3"/>
          <a:stretch>
            <a:fillRect/>
          </a:stretch>
        </p:blipFill>
        <p:spPr>
          <a:xfrm>
            <a:off x="8275320" y="4892040"/>
            <a:ext cx="365760" cy="365760"/>
          </a:xfrm>
          <a:prstGeom prst="rect">
            <a:avLst/>
          </a:prstGeom>
        </p:spPr>
      </p:pic>
      <p:sp>
        <p:nvSpPr>
          <p:cNvPr id="35" name="Text 29"/>
          <p:cNvSpPr txBox="1"/>
          <p:nvPr/>
        </p:nvSpPr>
        <p:spPr>
          <a:xfrm>
            <a:off x="9006840" y="4681728"/>
            <a:ext cx="2514600" cy="365760"/>
          </a:xfrm>
          <a:prstGeom prst="rect">
            <a:avLst/>
          </a:prstGeom>
          <a:noFill/>
          <a:ln/>
        </p:spPr>
        <p:txBody>
          <a:bodyPr wrap="square" lIns="0" tIns="0" rIns="0" bIns="0" rtlCol="0" anchor="t"/>
          <a:lstStyle/>
          <a:p>
            <a:pPr indent="0" marL="0">
              <a:buNone/>
            </a:pPr>
            <a:r>
              <a:rPr lang="en-US" sz="1800" b="1" dirty="0">
                <a:solidFill>
                  <a:schemeClr val="tx1"/>
                </a:solidFill>
              </a:rPr>
              <a:t>Voice and dark mode</a:t>
            </a:r>
            <a:endParaRPr lang="en-US" sz="1800" dirty="0"/>
          </a:p>
        </p:txBody>
      </p:sp>
      <p:sp>
        <p:nvSpPr>
          <p:cNvPr id="36" name="Text 30"/>
          <p:cNvSpPr txBox="1"/>
          <p:nvPr/>
        </p:nvSpPr>
        <p:spPr>
          <a:xfrm>
            <a:off x="9006840" y="5074920"/>
            <a:ext cx="2514600" cy="822960"/>
          </a:xfrm>
          <a:prstGeom prst="rect">
            <a:avLst/>
          </a:prstGeom>
          <a:noFill/>
          <a:ln/>
        </p:spPr>
        <p:txBody>
          <a:bodyPr wrap="square" lIns="0" tIns="0" rIns="0" bIns="0" rtlCol="0" anchor="t"/>
          <a:lstStyle/>
          <a:p>
            <a:pPr indent="0" marL="0">
              <a:buNone/>
            </a:pPr>
            <a:r>
              <a:rPr lang="en-US" sz="1400" dirty="0">
                <a:solidFill>
                  <a:srgbClr val="5A5F7D"/>
                </a:solidFill>
              </a:rPr>
              <a:t>Speak the purpose, switch themes any time</a:t>
            </a:r>
            <a:endParaRPr lang="en-US" sz="1400" dirty="0"/>
          </a:p>
        </p:txBody>
      </p:sp>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1"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From idea to email in six steps</a:t>
            </a:r>
            <a:endParaRPr lang="en-US" sz="3400" dirty="0"/>
          </a:p>
        </p:txBody>
      </p:sp>
      <p:sp>
        <p:nvSpPr>
          <p:cNvPr id="4" name="Step card 1"/>
          <p:cNvSpPr/>
          <p:nvPr/>
        </p:nvSpPr>
        <p:spPr>
          <a:xfrm>
            <a:off x="548640" y="1645920"/>
            <a:ext cx="1700784" cy="2834640"/>
          </a:xfrm>
          <a:prstGeom prst="roundRect">
            <a:avLst>
              <a:gd name="adj" fmla="val 7527"/>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5" name="Step 1 number background"/>
          <p:cNvSpPr/>
          <p:nvPr/>
        </p:nvSpPr>
        <p:spPr>
          <a:xfrm>
            <a:off x="749808" y="1847088"/>
            <a:ext cx="603504" cy="603504"/>
          </a:xfrm>
          <a:prstGeom prst="ellipse">
            <a:avLst/>
          </a:prstGeom>
          <a:solidFill>
            <a:schemeClr val="accent1"/>
          </a:solidFill>
          <a:ln w="12700">
            <a:solidFill>
              <a:schemeClr val="accent1"/>
            </a:solidFill>
            <a:prstDash val="solid"/>
          </a:ln>
        </p:spPr>
      </p:sp>
      <p:sp>
        <p:nvSpPr>
          <p:cNvPr id="6" name="Text 3"/>
          <p:cNvSpPr txBox="1"/>
          <p:nvPr/>
        </p:nvSpPr>
        <p:spPr>
          <a:xfrm>
            <a:off x="749808" y="1847088"/>
            <a:ext cx="603504" cy="603504"/>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1</a:t>
            </a:r>
            <a:endParaRPr lang="en-US" sz="2200" dirty="0"/>
          </a:p>
        </p:txBody>
      </p:sp>
      <p:sp>
        <p:nvSpPr>
          <p:cNvPr id="7" name="Text 4"/>
          <p:cNvSpPr txBox="1"/>
          <p:nvPr/>
        </p:nvSpPr>
        <p:spPr>
          <a:xfrm>
            <a:off x="731520" y="2651760"/>
            <a:ext cx="1371600" cy="640080"/>
          </a:xfrm>
          <a:prstGeom prst="rect">
            <a:avLst/>
          </a:prstGeom>
          <a:noFill/>
          <a:ln/>
        </p:spPr>
        <p:txBody>
          <a:bodyPr wrap="square" lIns="0" tIns="0" rIns="0" bIns="0" rtlCol="0" anchor="t"/>
          <a:lstStyle/>
          <a:p>
            <a:pPr indent="0" marL="0">
              <a:buNone/>
            </a:pPr>
            <a:r>
              <a:rPr lang="en-US" sz="1800" b="1" dirty="0">
                <a:solidFill>
                  <a:schemeClr val="tx1"/>
                </a:solidFill>
              </a:rPr>
              <a:t>Fill the form</a:t>
            </a:r>
            <a:endParaRPr lang="en-US" sz="1800" dirty="0"/>
          </a:p>
        </p:txBody>
      </p:sp>
      <p:sp>
        <p:nvSpPr>
          <p:cNvPr id="8" name="Text 5"/>
          <p:cNvSpPr txBox="1"/>
          <p:nvPr/>
        </p:nvSpPr>
        <p:spPr>
          <a:xfrm>
            <a:off x="731520" y="3310128"/>
            <a:ext cx="1371600" cy="1097280"/>
          </a:xfrm>
          <a:prstGeom prst="rect">
            <a:avLst/>
          </a:prstGeom>
          <a:noFill/>
          <a:ln/>
        </p:spPr>
        <p:txBody>
          <a:bodyPr wrap="square" lIns="0" tIns="0" rIns="0" bIns="0" rtlCol="0" anchor="t"/>
          <a:lstStyle/>
          <a:p>
            <a:pPr indent="0" marL="0">
              <a:buNone/>
            </a:pPr>
            <a:r>
              <a:rPr lang="en-US" sz="1400" dirty="0">
                <a:solidFill>
                  <a:srgbClr val="5A5F7D"/>
                </a:solidFill>
              </a:rPr>
              <a:t>Recipient, purpose, tone, length, language</a:t>
            </a:r>
            <a:endParaRPr lang="en-US" sz="1400" dirty="0"/>
          </a:p>
        </p:txBody>
      </p:sp>
      <p:sp>
        <p:nvSpPr>
          <p:cNvPr id="9" name="Step card 2"/>
          <p:cNvSpPr/>
          <p:nvPr/>
        </p:nvSpPr>
        <p:spPr>
          <a:xfrm>
            <a:off x="2423160" y="1645920"/>
            <a:ext cx="1700784" cy="2834640"/>
          </a:xfrm>
          <a:prstGeom prst="roundRect">
            <a:avLst>
              <a:gd name="adj" fmla="val 7527"/>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10" name="Step 2 number background"/>
          <p:cNvSpPr/>
          <p:nvPr/>
        </p:nvSpPr>
        <p:spPr>
          <a:xfrm>
            <a:off x="2624328" y="1847088"/>
            <a:ext cx="603504" cy="603504"/>
          </a:xfrm>
          <a:prstGeom prst="ellipse">
            <a:avLst/>
          </a:prstGeom>
          <a:solidFill>
            <a:schemeClr val="accent2"/>
          </a:solidFill>
          <a:ln w="12700">
            <a:solidFill>
              <a:schemeClr val="accent2"/>
            </a:solidFill>
            <a:prstDash val="solid"/>
          </a:ln>
        </p:spPr>
      </p:sp>
      <p:sp>
        <p:nvSpPr>
          <p:cNvPr id="11" name="Text 8"/>
          <p:cNvSpPr txBox="1"/>
          <p:nvPr/>
        </p:nvSpPr>
        <p:spPr>
          <a:xfrm>
            <a:off x="2624328" y="1847088"/>
            <a:ext cx="603504" cy="603504"/>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2</a:t>
            </a:r>
            <a:endParaRPr lang="en-US" sz="2200" dirty="0"/>
          </a:p>
        </p:txBody>
      </p:sp>
      <p:sp>
        <p:nvSpPr>
          <p:cNvPr id="12" name="Text 9"/>
          <p:cNvSpPr txBox="1"/>
          <p:nvPr/>
        </p:nvSpPr>
        <p:spPr>
          <a:xfrm>
            <a:off x="2606040" y="2651760"/>
            <a:ext cx="1371600" cy="640080"/>
          </a:xfrm>
          <a:prstGeom prst="rect">
            <a:avLst/>
          </a:prstGeom>
          <a:noFill/>
          <a:ln/>
        </p:spPr>
        <p:txBody>
          <a:bodyPr wrap="square" lIns="0" tIns="0" rIns="0" bIns="0" rtlCol="0" anchor="t"/>
          <a:lstStyle/>
          <a:p>
            <a:pPr indent="0" marL="0">
              <a:buNone/>
            </a:pPr>
            <a:r>
              <a:rPr lang="en-US" sz="1800" b="1" dirty="0">
                <a:solidFill>
                  <a:schemeClr val="tx1"/>
                </a:solidFill>
              </a:rPr>
              <a:t>Send the request</a:t>
            </a:r>
            <a:endParaRPr lang="en-US" sz="1800" dirty="0"/>
          </a:p>
        </p:txBody>
      </p:sp>
      <p:sp>
        <p:nvSpPr>
          <p:cNvPr id="13" name="Text 10"/>
          <p:cNvSpPr txBox="1"/>
          <p:nvPr/>
        </p:nvSpPr>
        <p:spPr>
          <a:xfrm>
            <a:off x="2606040" y="3310128"/>
            <a:ext cx="1371600" cy="1097280"/>
          </a:xfrm>
          <a:prstGeom prst="rect">
            <a:avLst/>
          </a:prstGeom>
          <a:noFill/>
          <a:ln/>
        </p:spPr>
        <p:txBody>
          <a:bodyPr wrap="square" lIns="0" tIns="0" rIns="0" bIns="0" rtlCol="0" anchor="t"/>
          <a:lstStyle/>
          <a:p>
            <a:pPr indent="0" marL="0">
              <a:buNone/>
            </a:pPr>
            <a:r>
              <a:rPr lang="en-US" sz="1400" dirty="0">
                <a:solidFill>
                  <a:srgbClr val="5A5F7D"/>
                </a:solidFill>
              </a:rPr>
              <a:t>Browser checks input, then calls the API</a:t>
            </a:r>
            <a:endParaRPr lang="en-US" sz="1400" dirty="0"/>
          </a:p>
        </p:txBody>
      </p:sp>
      <p:sp>
        <p:nvSpPr>
          <p:cNvPr id="14" name="Step card 3"/>
          <p:cNvSpPr/>
          <p:nvPr/>
        </p:nvSpPr>
        <p:spPr>
          <a:xfrm>
            <a:off x="4297680" y="1645920"/>
            <a:ext cx="1700784" cy="2834640"/>
          </a:xfrm>
          <a:prstGeom prst="roundRect">
            <a:avLst>
              <a:gd name="adj" fmla="val 7527"/>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15" name="Step 3 number background"/>
          <p:cNvSpPr/>
          <p:nvPr/>
        </p:nvSpPr>
        <p:spPr>
          <a:xfrm>
            <a:off x="4498848" y="1847088"/>
            <a:ext cx="603504" cy="603504"/>
          </a:xfrm>
          <a:prstGeom prst="ellipse">
            <a:avLst/>
          </a:prstGeom>
          <a:solidFill>
            <a:schemeClr val="accent6"/>
          </a:solidFill>
          <a:ln w="12700">
            <a:solidFill>
              <a:schemeClr val="accent6"/>
            </a:solidFill>
            <a:prstDash val="solid"/>
          </a:ln>
        </p:spPr>
      </p:sp>
      <p:sp>
        <p:nvSpPr>
          <p:cNvPr id="16" name="Text 13"/>
          <p:cNvSpPr txBox="1"/>
          <p:nvPr/>
        </p:nvSpPr>
        <p:spPr>
          <a:xfrm>
            <a:off x="4498848" y="1847088"/>
            <a:ext cx="603504" cy="603504"/>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3</a:t>
            </a:r>
            <a:endParaRPr lang="en-US" sz="2200" dirty="0"/>
          </a:p>
        </p:txBody>
      </p:sp>
      <p:sp>
        <p:nvSpPr>
          <p:cNvPr id="17" name="Text 14"/>
          <p:cNvSpPr txBox="1"/>
          <p:nvPr/>
        </p:nvSpPr>
        <p:spPr>
          <a:xfrm>
            <a:off x="4480560" y="2651760"/>
            <a:ext cx="1371600" cy="640080"/>
          </a:xfrm>
          <a:prstGeom prst="rect">
            <a:avLst/>
          </a:prstGeom>
          <a:noFill/>
          <a:ln/>
        </p:spPr>
        <p:txBody>
          <a:bodyPr wrap="square" lIns="0" tIns="0" rIns="0" bIns="0" rtlCol="0" anchor="t"/>
          <a:lstStyle/>
          <a:p>
            <a:pPr indent="0" marL="0">
              <a:buNone/>
            </a:pPr>
            <a:r>
              <a:rPr lang="en-US" sz="1800" b="1" dirty="0">
                <a:solidFill>
                  <a:schemeClr val="tx1"/>
                </a:solidFill>
              </a:rPr>
              <a:t>Build the prompt</a:t>
            </a:r>
            <a:endParaRPr lang="en-US" sz="1800" dirty="0"/>
          </a:p>
        </p:txBody>
      </p:sp>
      <p:sp>
        <p:nvSpPr>
          <p:cNvPr id="18" name="Text 15"/>
          <p:cNvSpPr txBox="1"/>
          <p:nvPr/>
        </p:nvSpPr>
        <p:spPr>
          <a:xfrm>
            <a:off x="4480560" y="3310128"/>
            <a:ext cx="1371600" cy="1097280"/>
          </a:xfrm>
          <a:prstGeom prst="rect">
            <a:avLst/>
          </a:prstGeom>
          <a:noFill/>
          <a:ln/>
        </p:spPr>
        <p:txBody>
          <a:bodyPr wrap="square" lIns="0" tIns="0" rIns="0" bIns="0" rtlCol="0" anchor="t"/>
          <a:lstStyle/>
          <a:p>
            <a:pPr indent="0" marL="0">
              <a:buNone/>
            </a:pPr>
            <a:r>
              <a:rPr lang="en-US" sz="1400" dirty="0">
                <a:solidFill>
                  <a:srgbClr val="5A5F7D"/>
                </a:solidFill>
              </a:rPr>
              <a:t>FastAPI validates and writes the prompt</a:t>
            </a:r>
            <a:endParaRPr lang="en-US" sz="1400" dirty="0"/>
          </a:p>
        </p:txBody>
      </p:sp>
      <p:sp>
        <p:nvSpPr>
          <p:cNvPr id="19" name="Step card 4"/>
          <p:cNvSpPr/>
          <p:nvPr/>
        </p:nvSpPr>
        <p:spPr>
          <a:xfrm>
            <a:off x="6172200" y="1645920"/>
            <a:ext cx="1700784" cy="2834640"/>
          </a:xfrm>
          <a:prstGeom prst="roundRect">
            <a:avLst>
              <a:gd name="adj" fmla="val 7527"/>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20" name="Step 4 number background"/>
          <p:cNvSpPr/>
          <p:nvPr/>
        </p:nvSpPr>
        <p:spPr>
          <a:xfrm>
            <a:off x="6373368" y="1847088"/>
            <a:ext cx="603504" cy="603504"/>
          </a:xfrm>
          <a:prstGeom prst="ellipse">
            <a:avLst/>
          </a:prstGeom>
          <a:solidFill>
            <a:schemeClr val="accent5"/>
          </a:solidFill>
          <a:ln w="12700">
            <a:solidFill>
              <a:schemeClr val="accent5"/>
            </a:solidFill>
            <a:prstDash val="solid"/>
          </a:ln>
        </p:spPr>
      </p:sp>
      <p:sp>
        <p:nvSpPr>
          <p:cNvPr id="21" name="Text 18"/>
          <p:cNvSpPr txBox="1"/>
          <p:nvPr/>
        </p:nvSpPr>
        <p:spPr>
          <a:xfrm>
            <a:off x="6373368" y="1847088"/>
            <a:ext cx="603504" cy="603504"/>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4</a:t>
            </a:r>
            <a:endParaRPr lang="en-US" sz="2200" dirty="0"/>
          </a:p>
        </p:txBody>
      </p:sp>
      <p:sp>
        <p:nvSpPr>
          <p:cNvPr id="22" name="Text 19"/>
          <p:cNvSpPr txBox="1"/>
          <p:nvPr/>
        </p:nvSpPr>
        <p:spPr>
          <a:xfrm>
            <a:off x="6355080" y="2651760"/>
            <a:ext cx="1371600" cy="640080"/>
          </a:xfrm>
          <a:prstGeom prst="rect">
            <a:avLst/>
          </a:prstGeom>
          <a:noFill/>
          <a:ln/>
        </p:spPr>
        <p:txBody>
          <a:bodyPr wrap="square" lIns="0" tIns="0" rIns="0" bIns="0" rtlCol="0" anchor="t"/>
          <a:lstStyle/>
          <a:p>
            <a:pPr indent="0" marL="0">
              <a:buNone/>
            </a:pPr>
            <a:r>
              <a:rPr lang="en-US" sz="1800" b="1" dirty="0">
                <a:solidFill>
                  <a:schemeClr val="tx1"/>
                </a:solidFill>
              </a:rPr>
              <a:t>Ask the AI</a:t>
            </a:r>
            <a:endParaRPr lang="en-US" sz="1800" dirty="0"/>
          </a:p>
        </p:txBody>
      </p:sp>
      <p:sp>
        <p:nvSpPr>
          <p:cNvPr id="23" name="Text 20"/>
          <p:cNvSpPr txBox="1"/>
          <p:nvPr/>
        </p:nvSpPr>
        <p:spPr>
          <a:xfrm>
            <a:off x="6355080" y="3310128"/>
            <a:ext cx="1371600" cy="1097280"/>
          </a:xfrm>
          <a:prstGeom prst="rect">
            <a:avLst/>
          </a:prstGeom>
          <a:noFill/>
          <a:ln/>
        </p:spPr>
        <p:txBody>
          <a:bodyPr wrap="square" lIns="0" tIns="0" rIns="0" bIns="0" rtlCol="0" anchor="t"/>
          <a:lstStyle/>
          <a:p>
            <a:pPr indent="0" marL="0">
              <a:buNone/>
            </a:pPr>
            <a:r>
              <a:rPr lang="en-US" sz="1400" dirty="0">
                <a:solidFill>
                  <a:srgbClr val="5A5F7D"/>
                </a:solidFill>
              </a:rPr>
              <a:t>Groq replies with a subject and a body</a:t>
            </a:r>
            <a:endParaRPr lang="en-US" sz="1400" dirty="0"/>
          </a:p>
        </p:txBody>
      </p:sp>
      <p:sp>
        <p:nvSpPr>
          <p:cNvPr id="24" name="Step card 5"/>
          <p:cNvSpPr/>
          <p:nvPr/>
        </p:nvSpPr>
        <p:spPr>
          <a:xfrm>
            <a:off x="8046720" y="1645920"/>
            <a:ext cx="1700784" cy="2834640"/>
          </a:xfrm>
          <a:prstGeom prst="roundRect">
            <a:avLst>
              <a:gd name="adj" fmla="val 7527"/>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25" name="Step 5 number background"/>
          <p:cNvSpPr/>
          <p:nvPr/>
        </p:nvSpPr>
        <p:spPr>
          <a:xfrm>
            <a:off x="8247888" y="1847088"/>
            <a:ext cx="603504" cy="603504"/>
          </a:xfrm>
          <a:prstGeom prst="ellipse">
            <a:avLst/>
          </a:prstGeom>
          <a:solidFill>
            <a:schemeClr val="accent1"/>
          </a:solidFill>
          <a:ln w="12700">
            <a:solidFill>
              <a:schemeClr val="accent1"/>
            </a:solidFill>
            <a:prstDash val="solid"/>
          </a:ln>
        </p:spPr>
      </p:sp>
      <p:sp>
        <p:nvSpPr>
          <p:cNvPr id="26" name="Text 23"/>
          <p:cNvSpPr txBox="1"/>
          <p:nvPr/>
        </p:nvSpPr>
        <p:spPr>
          <a:xfrm>
            <a:off x="8247888" y="1847088"/>
            <a:ext cx="603504" cy="603504"/>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5</a:t>
            </a:r>
            <a:endParaRPr lang="en-US" sz="2200" dirty="0"/>
          </a:p>
        </p:txBody>
      </p:sp>
      <p:sp>
        <p:nvSpPr>
          <p:cNvPr id="27" name="Text 24"/>
          <p:cNvSpPr txBox="1"/>
          <p:nvPr/>
        </p:nvSpPr>
        <p:spPr>
          <a:xfrm>
            <a:off x="8229600" y="2651760"/>
            <a:ext cx="1371600" cy="640080"/>
          </a:xfrm>
          <a:prstGeom prst="rect">
            <a:avLst/>
          </a:prstGeom>
          <a:noFill/>
          <a:ln/>
        </p:spPr>
        <p:txBody>
          <a:bodyPr wrap="square" lIns="0" tIns="0" rIns="0" bIns="0" rtlCol="0" anchor="t"/>
          <a:lstStyle/>
          <a:p>
            <a:pPr indent="0" marL="0">
              <a:buNone/>
            </a:pPr>
            <a:r>
              <a:rPr lang="en-US" sz="1800" b="1" dirty="0">
                <a:solidFill>
                  <a:schemeClr val="tx1"/>
                </a:solidFill>
              </a:rPr>
              <a:t>Parse and save</a:t>
            </a:r>
            <a:endParaRPr lang="en-US" sz="1800" dirty="0"/>
          </a:p>
        </p:txBody>
      </p:sp>
      <p:sp>
        <p:nvSpPr>
          <p:cNvPr id="28" name="Text 25"/>
          <p:cNvSpPr txBox="1"/>
          <p:nvPr/>
        </p:nvSpPr>
        <p:spPr>
          <a:xfrm>
            <a:off x="8229600" y="3310128"/>
            <a:ext cx="1371600" cy="1097280"/>
          </a:xfrm>
          <a:prstGeom prst="rect">
            <a:avLst/>
          </a:prstGeom>
          <a:noFill/>
          <a:ln/>
        </p:spPr>
        <p:txBody>
          <a:bodyPr wrap="square" lIns="0" tIns="0" rIns="0" bIns="0" rtlCol="0" anchor="t"/>
          <a:lstStyle/>
          <a:p>
            <a:pPr indent="0" marL="0">
              <a:buNone/>
            </a:pPr>
            <a:r>
              <a:rPr lang="en-US" sz="1400" dirty="0">
                <a:solidFill>
                  <a:srgbClr val="5A5F7D"/>
                </a:solidFill>
              </a:rPr>
              <a:t>The JSON is checked and stored</a:t>
            </a:r>
            <a:endParaRPr lang="en-US" sz="1400" dirty="0"/>
          </a:p>
        </p:txBody>
      </p:sp>
      <p:sp>
        <p:nvSpPr>
          <p:cNvPr id="29" name="Step card 6"/>
          <p:cNvSpPr/>
          <p:nvPr/>
        </p:nvSpPr>
        <p:spPr>
          <a:xfrm>
            <a:off x="9921240" y="1645920"/>
            <a:ext cx="1700784" cy="2834640"/>
          </a:xfrm>
          <a:prstGeom prst="roundRect">
            <a:avLst>
              <a:gd name="adj" fmla="val 7527"/>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30" name="Step 6 number background"/>
          <p:cNvSpPr/>
          <p:nvPr/>
        </p:nvSpPr>
        <p:spPr>
          <a:xfrm>
            <a:off x="10122408" y="1847088"/>
            <a:ext cx="603504" cy="603504"/>
          </a:xfrm>
          <a:prstGeom prst="ellipse">
            <a:avLst/>
          </a:prstGeom>
          <a:solidFill>
            <a:schemeClr val="accent2"/>
          </a:solidFill>
          <a:ln w="12700">
            <a:solidFill>
              <a:schemeClr val="accent2"/>
            </a:solidFill>
            <a:prstDash val="solid"/>
          </a:ln>
        </p:spPr>
      </p:sp>
      <p:sp>
        <p:nvSpPr>
          <p:cNvPr id="31" name="Text 28"/>
          <p:cNvSpPr txBox="1"/>
          <p:nvPr/>
        </p:nvSpPr>
        <p:spPr>
          <a:xfrm>
            <a:off x="10122408" y="1847088"/>
            <a:ext cx="603504" cy="603504"/>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6</a:t>
            </a:r>
            <a:endParaRPr lang="en-US" sz="2200" dirty="0"/>
          </a:p>
        </p:txBody>
      </p:sp>
      <p:sp>
        <p:nvSpPr>
          <p:cNvPr id="32" name="Text 29"/>
          <p:cNvSpPr txBox="1"/>
          <p:nvPr/>
        </p:nvSpPr>
        <p:spPr>
          <a:xfrm>
            <a:off x="10104120" y="2651760"/>
            <a:ext cx="1371600" cy="640080"/>
          </a:xfrm>
          <a:prstGeom prst="rect">
            <a:avLst/>
          </a:prstGeom>
          <a:noFill/>
          <a:ln/>
        </p:spPr>
        <p:txBody>
          <a:bodyPr wrap="square" lIns="0" tIns="0" rIns="0" bIns="0" rtlCol="0" anchor="t"/>
          <a:lstStyle/>
          <a:p>
            <a:pPr indent="0" marL="0">
              <a:buNone/>
            </a:pPr>
            <a:r>
              <a:rPr lang="en-US" sz="1800" b="1" dirty="0">
                <a:solidFill>
                  <a:schemeClr val="tx1"/>
                </a:solidFill>
              </a:rPr>
              <a:t>Show the email</a:t>
            </a:r>
            <a:endParaRPr lang="en-US" sz="1800" dirty="0"/>
          </a:p>
        </p:txBody>
      </p:sp>
      <p:sp>
        <p:nvSpPr>
          <p:cNvPr id="33" name="Text 30"/>
          <p:cNvSpPr txBox="1"/>
          <p:nvPr/>
        </p:nvSpPr>
        <p:spPr>
          <a:xfrm>
            <a:off x="10104120" y="3310128"/>
            <a:ext cx="1371600" cy="1097280"/>
          </a:xfrm>
          <a:prstGeom prst="rect">
            <a:avLst/>
          </a:prstGeom>
          <a:noFill/>
          <a:ln/>
        </p:spPr>
        <p:txBody>
          <a:bodyPr wrap="square" lIns="0" tIns="0" rIns="0" bIns="0" rtlCol="0" anchor="t"/>
          <a:lstStyle/>
          <a:p>
            <a:pPr indent="0" marL="0">
              <a:buNone/>
            </a:pPr>
            <a:r>
              <a:rPr lang="en-US" sz="1400" dirty="0">
                <a:solidFill>
                  <a:srgbClr val="5A5F7D"/>
                </a:solidFill>
              </a:rPr>
              <a:t>Typing effect, then edit or refine</a:t>
            </a:r>
            <a:endParaRPr lang="en-US" sz="1400" dirty="0"/>
          </a:p>
        </p:txBody>
      </p:sp>
      <p:sp>
        <p:nvSpPr>
          <p:cNvPr id="34" name="Callout"/>
          <p:cNvSpPr/>
          <p:nvPr/>
        </p:nvSpPr>
        <p:spPr>
          <a:xfrm>
            <a:off x="548640" y="4892040"/>
            <a:ext cx="11091672" cy="1188720"/>
          </a:xfrm>
          <a:prstGeom prst="roundRect">
            <a:avLst>
              <a:gd name="adj" fmla="val 10769"/>
            </a:avLst>
          </a:prstGeom>
          <a:solidFill>
            <a:schemeClr val="tx2"/>
          </a:solidFill>
          <a:ln w="12700">
            <a:solidFill>
              <a:schemeClr val="tx2"/>
            </a:solidFill>
            <a:prstDash val="solid"/>
          </a:ln>
        </p:spPr>
      </p:sp>
      <p:sp>
        <p:nvSpPr>
          <p:cNvPr id="35" name="Callout icon background"/>
          <p:cNvSpPr/>
          <p:nvPr/>
        </p:nvSpPr>
        <p:spPr>
          <a:xfrm>
            <a:off x="868680" y="5212080"/>
            <a:ext cx="548640" cy="548640"/>
          </a:xfrm>
          <a:prstGeom prst="ellipse">
            <a:avLst/>
          </a:prstGeom>
          <a:solidFill>
            <a:schemeClr val="accent2"/>
          </a:solidFill>
          <a:ln w="12700">
            <a:solidFill>
              <a:schemeClr val="accent2"/>
            </a:solidFill>
            <a:prstDash val="solid"/>
          </a:ln>
        </p:spPr>
      </p:sp>
      <p:pic>
        <p:nvPicPr>
          <p:cNvPr id="36" name="Callout icon" descr="lightning bolt">    </p:cNvPr>
          <p:cNvPicPr>
            <a:picLocks noChangeAspect="1"/>
          </p:cNvPicPr>
          <p:nvPr/>
        </p:nvPicPr>
        <p:blipFill>
          <a:blip r:embed="rId1"/>
          <a:stretch>
            <a:fillRect/>
          </a:stretch>
        </p:blipFill>
        <p:spPr>
          <a:xfrm>
            <a:off x="1005840" y="5349240"/>
            <a:ext cx="274320" cy="274320"/>
          </a:xfrm>
          <a:prstGeom prst="rect">
            <a:avLst/>
          </a:prstGeom>
        </p:spPr>
      </p:pic>
      <p:sp>
        <p:nvSpPr>
          <p:cNvPr id="37" name="Text 33"/>
          <p:cNvSpPr txBox="1"/>
          <p:nvPr/>
        </p:nvSpPr>
        <p:spPr>
          <a:xfrm>
            <a:off x="1691640" y="4892040"/>
            <a:ext cx="9601200" cy="1188720"/>
          </a:xfrm>
          <a:prstGeom prst="rect">
            <a:avLst/>
          </a:prstGeom>
          <a:noFill/>
          <a:ln/>
        </p:spPr>
        <p:txBody>
          <a:bodyPr wrap="square" lIns="0" tIns="0" rIns="0" bIns="0" rtlCol="0" anchor="ctr"/>
          <a:lstStyle/>
          <a:p>
            <a:pPr indent="0" marL="0">
              <a:buNone/>
            </a:pPr>
            <a:r>
              <a:rPr lang="en-US" sz="1800" dirty="0">
                <a:solidFill>
                  <a:schemeClr val="bg1"/>
                </a:solidFill>
              </a:rPr>
              <a:t>While the AI works, the form locks and a progress label shows. When the email arrives it types out, and every field stays editable.</a:t>
            </a:r>
            <a:endParaRPr lang="en-US" sz="1800" dirty="0"/>
          </a:p>
        </p:txBody>
      </p:sp>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1"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The technology behind it</a:t>
            </a:r>
            <a:endParaRPr lang="en-US" sz="3400" dirty="0"/>
          </a:p>
        </p:txBody>
      </p:sp>
      <p:sp>
        <p:nvSpPr>
          <p:cNvPr id="4" name="Tech card FastAPI"/>
          <p:cNvSpPr/>
          <p:nvPr/>
        </p:nvSpPr>
        <p:spPr>
          <a:xfrm>
            <a:off x="548640" y="1463040"/>
            <a:ext cx="2606040" cy="2240280"/>
          </a:xfrm>
          <a:prstGeom prst="roundRect">
            <a:avLst>
              <a:gd name="adj" fmla="val 571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5" name="FastAPI icon background"/>
          <p:cNvSpPr/>
          <p:nvPr/>
        </p:nvSpPr>
        <p:spPr>
          <a:xfrm>
            <a:off x="804672" y="1719072"/>
            <a:ext cx="658368" cy="658368"/>
          </a:xfrm>
          <a:prstGeom prst="ellipse">
            <a:avLst/>
          </a:prstGeom>
          <a:solidFill>
            <a:schemeClr val="accent1"/>
          </a:solidFill>
          <a:ln w="12700">
            <a:solidFill>
              <a:schemeClr val="accent1"/>
            </a:solidFill>
            <a:prstDash val="solid"/>
          </a:ln>
        </p:spPr>
      </p:sp>
      <p:pic>
        <p:nvPicPr>
          <p:cNvPr id="6" name="FastAPI icon" descr="FastAPI icon">    </p:cNvPr>
          <p:cNvPicPr>
            <a:picLocks noChangeAspect="1"/>
          </p:cNvPicPr>
          <p:nvPr/>
        </p:nvPicPr>
        <p:blipFill>
          <a:blip r:embed="rId1"/>
          <a:stretch>
            <a:fillRect/>
          </a:stretch>
        </p:blipFill>
        <p:spPr>
          <a:xfrm>
            <a:off x="969264" y="1883664"/>
            <a:ext cx="329184" cy="329184"/>
          </a:xfrm>
          <a:prstGeom prst="rect">
            <a:avLst/>
          </a:prstGeom>
        </p:spPr>
      </p:pic>
      <p:sp>
        <p:nvSpPr>
          <p:cNvPr id="7" name="Text 3"/>
          <p:cNvSpPr txBox="1"/>
          <p:nvPr/>
        </p:nvSpPr>
        <p:spPr>
          <a:xfrm>
            <a:off x="804672" y="2468880"/>
            <a:ext cx="2194560" cy="365760"/>
          </a:xfrm>
          <a:prstGeom prst="rect">
            <a:avLst/>
          </a:prstGeom>
          <a:noFill/>
          <a:ln/>
        </p:spPr>
        <p:txBody>
          <a:bodyPr wrap="square" lIns="0" tIns="0" rIns="0" bIns="0" rtlCol="0" anchor="t"/>
          <a:lstStyle/>
          <a:p>
            <a:pPr indent="0" marL="0">
              <a:buNone/>
            </a:pPr>
            <a:r>
              <a:rPr lang="en-US" sz="1800" b="1" dirty="0">
                <a:solidFill>
                  <a:schemeClr val="tx1"/>
                </a:solidFill>
              </a:rPr>
              <a:t>FastAPI</a:t>
            </a:r>
            <a:endParaRPr lang="en-US" sz="1800" dirty="0"/>
          </a:p>
        </p:txBody>
      </p:sp>
      <p:sp>
        <p:nvSpPr>
          <p:cNvPr id="8" name="Text 4"/>
          <p:cNvSpPr txBox="1"/>
          <p:nvPr/>
        </p:nvSpPr>
        <p:spPr>
          <a:xfrm>
            <a:off x="804672" y="2852928"/>
            <a:ext cx="2148840" cy="777240"/>
          </a:xfrm>
          <a:prstGeom prst="rect">
            <a:avLst/>
          </a:prstGeom>
          <a:noFill/>
          <a:ln/>
        </p:spPr>
        <p:txBody>
          <a:bodyPr wrap="square" lIns="0" tIns="0" rIns="0" bIns="0" rtlCol="0" anchor="t"/>
          <a:lstStyle/>
          <a:p>
            <a:pPr indent="0" marL="0">
              <a:buNone/>
            </a:pPr>
            <a:r>
              <a:rPr lang="en-US" sz="1400" dirty="0">
                <a:solidFill>
                  <a:srgbClr val="5A5F7D"/>
                </a:solidFill>
              </a:rPr>
              <a:t>Python web framework with 22 routes and input validation</a:t>
            </a:r>
            <a:endParaRPr lang="en-US" sz="1400" dirty="0"/>
          </a:p>
        </p:txBody>
      </p:sp>
      <p:sp>
        <p:nvSpPr>
          <p:cNvPr id="9" name="Tech card Groq API"/>
          <p:cNvSpPr/>
          <p:nvPr/>
        </p:nvSpPr>
        <p:spPr>
          <a:xfrm>
            <a:off x="3374136" y="1463040"/>
            <a:ext cx="2606040" cy="2240280"/>
          </a:xfrm>
          <a:prstGeom prst="roundRect">
            <a:avLst>
              <a:gd name="adj" fmla="val 571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10" name="Groq API icon background"/>
          <p:cNvSpPr/>
          <p:nvPr/>
        </p:nvSpPr>
        <p:spPr>
          <a:xfrm>
            <a:off x="3630168" y="1719072"/>
            <a:ext cx="658368" cy="658368"/>
          </a:xfrm>
          <a:prstGeom prst="ellipse">
            <a:avLst/>
          </a:prstGeom>
          <a:solidFill>
            <a:schemeClr val="accent2"/>
          </a:solidFill>
          <a:ln w="12700">
            <a:solidFill>
              <a:schemeClr val="accent2"/>
            </a:solidFill>
            <a:prstDash val="solid"/>
          </a:ln>
        </p:spPr>
      </p:sp>
      <p:pic>
        <p:nvPicPr>
          <p:cNvPr id="11" name="Groq API icon" descr="Groq API icon">    </p:cNvPr>
          <p:cNvPicPr>
            <a:picLocks noChangeAspect="1"/>
          </p:cNvPicPr>
          <p:nvPr/>
        </p:nvPicPr>
        <p:blipFill>
          <a:blip r:embed="rId2"/>
          <a:stretch>
            <a:fillRect/>
          </a:stretch>
        </p:blipFill>
        <p:spPr>
          <a:xfrm>
            <a:off x="3794760" y="1883664"/>
            <a:ext cx="329184" cy="329184"/>
          </a:xfrm>
          <a:prstGeom prst="rect">
            <a:avLst/>
          </a:prstGeom>
        </p:spPr>
      </p:pic>
      <p:sp>
        <p:nvSpPr>
          <p:cNvPr id="12" name="Text 7"/>
          <p:cNvSpPr txBox="1"/>
          <p:nvPr/>
        </p:nvSpPr>
        <p:spPr>
          <a:xfrm>
            <a:off x="3630168" y="2468880"/>
            <a:ext cx="2194560" cy="365760"/>
          </a:xfrm>
          <a:prstGeom prst="rect">
            <a:avLst/>
          </a:prstGeom>
          <a:noFill/>
          <a:ln/>
        </p:spPr>
        <p:txBody>
          <a:bodyPr wrap="square" lIns="0" tIns="0" rIns="0" bIns="0" rtlCol="0" anchor="t"/>
          <a:lstStyle/>
          <a:p>
            <a:pPr indent="0" marL="0">
              <a:buNone/>
            </a:pPr>
            <a:r>
              <a:rPr lang="en-US" sz="1800" b="1" dirty="0">
                <a:solidFill>
                  <a:schemeClr val="tx1"/>
                </a:solidFill>
              </a:rPr>
              <a:t>Groq API</a:t>
            </a:r>
            <a:endParaRPr lang="en-US" sz="1800" dirty="0"/>
          </a:p>
        </p:txBody>
      </p:sp>
      <p:sp>
        <p:nvSpPr>
          <p:cNvPr id="13" name="Text 8"/>
          <p:cNvSpPr txBox="1"/>
          <p:nvPr/>
        </p:nvSpPr>
        <p:spPr>
          <a:xfrm>
            <a:off x="3630168" y="2852928"/>
            <a:ext cx="2148840" cy="777240"/>
          </a:xfrm>
          <a:prstGeom prst="rect">
            <a:avLst/>
          </a:prstGeom>
          <a:noFill/>
          <a:ln/>
        </p:spPr>
        <p:txBody>
          <a:bodyPr wrap="square" lIns="0" tIns="0" rIns="0" bIns="0" rtlCol="0" anchor="t"/>
          <a:lstStyle/>
          <a:p>
            <a:pPr indent="0" marL="0">
              <a:buNone/>
            </a:pPr>
            <a:r>
              <a:rPr lang="en-US" sz="1400" dirty="0">
                <a:solidFill>
                  <a:srgbClr val="5A5F7D"/>
                </a:solidFill>
              </a:rPr>
              <a:t>Fast LLM inference with llama-3.3-70b-versatile</a:t>
            </a:r>
            <a:endParaRPr lang="en-US" sz="1400" dirty="0"/>
          </a:p>
        </p:txBody>
      </p:sp>
      <p:sp>
        <p:nvSpPr>
          <p:cNvPr id="14" name="Tech card SQLite"/>
          <p:cNvSpPr/>
          <p:nvPr/>
        </p:nvSpPr>
        <p:spPr>
          <a:xfrm>
            <a:off x="6199632" y="1463040"/>
            <a:ext cx="2606040" cy="2240280"/>
          </a:xfrm>
          <a:prstGeom prst="roundRect">
            <a:avLst>
              <a:gd name="adj" fmla="val 571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15" name="SQLite icon background"/>
          <p:cNvSpPr/>
          <p:nvPr/>
        </p:nvSpPr>
        <p:spPr>
          <a:xfrm>
            <a:off x="6455664" y="1719072"/>
            <a:ext cx="658368" cy="658368"/>
          </a:xfrm>
          <a:prstGeom prst="ellipse">
            <a:avLst/>
          </a:prstGeom>
          <a:solidFill>
            <a:schemeClr val="accent6"/>
          </a:solidFill>
          <a:ln w="12700">
            <a:solidFill>
              <a:schemeClr val="accent6"/>
            </a:solidFill>
            <a:prstDash val="solid"/>
          </a:ln>
        </p:spPr>
      </p:sp>
      <p:pic>
        <p:nvPicPr>
          <p:cNvPr id="16" name="SQLite icon" descr="SQLite icon">    </p:cNvPr>
          <p:cNvPicPr>
            <a:picLocks noChangeAspect="1"/>
          </p:cNvPicPr>
          <p:nvPr/>
        </p:nvPicPr>
        <p:blipFill>
          <a:blip r:embed="rId3"/>
          <a:stretch>
            <a:fillRect/>
          </a:stretch>
        </p:blipFill>
        <p:spPr>
          <a:xfrm>
            <a:off x="6620256" y="1883664"/>
            <a:ext cx="329184" cy="329184"/>
          </a:xfrm>
          <a:prstGeom prst="rect">
            <a:avLst/>
          </a:prstGeom>
        </p:spPr>
      </p:pic>
      <p:sp>
        <p:nvSpPr>
          <p:cNvPr id="17" name="Text 11"/>
          <p:cNvSpPr txBox="1"/>
          <p:nvPr/>
        </p:nvSpPr>
        <p:spPr>
          <a:xfrm>
            <a:off x="6455664" y="2468880"/>
            <a:ext cx="2194560" cy="365760"/>
          </a:xfrm>
          <a:prstGeom prst="rect">
            <a:avLst/>
          </a:prstGeom>
          <a:noFill/>
          <a:ln/>
        </p:spPr>
        <p:txBody>
          <a:bodyPr wrap="square" lIns="0" tIns="0" rIns="0" bIns="0" rtlCol="0" anchor="t"/>
          <a:lstStyle/>
          <a:p>
            <a:pPr indent="0" marL="0">
              <a:buNone/>
            </a:pPr>
            <a:r>
              <a:rPr lang="en-US" sz="1800" b="1" dirty="0">
                <a:solidFill>
                  <a:schemeClr val="tx1"/>
                </a:solidFill>
              </a:rPr>
              <a:t>SQLite</a:t>
            </a:r>
            <a:endParaRPr lang="en-US" sz="1800" dirty="0"/>
          </a:p>
        </p:txBody>
      </p:sp>
      <p:sp>
        <p:nvSpPr>
          <p:cNvPr id="18" name="Text 12"/>
          <p:cNvSpPr txBox="1"/>
          <p:nvPr/>
        </p:nvSpPr>
        <p:spPr>
          <a:xfrm>
            <a:off x="6455664" y="2852928"/>
            <a:ext cx="2148840" cy="777240"/>
          </a:xfrm>
          <a:prstGeom prst="rect">
            <a:avLst/>
          </a:prstGeom>
          <a:noFill/>
          <a:ln/>
        </p:spPr>
        <p:txBody>
          <a:bodyPr wrap="square" lIns="0" tIns="0" rIns="0" bIns="0" rtlCol="0" anchor="t"/>
          <a:lstStyle/>
          <a:p>
            <a:pPr indent="0" marL="0">
              <a:buNone/>
            </a:pPr>
            <a:r>
              <a:rPr lang="en-US" sz="1400" dirty="0">
                <a:solidFill>
                  <a:srgbClr val="5A5F7D"/>
                </a:solidFill>
              </a:rPr>
              <a:t>Zero-setup database for local development</a:t>
            </a:r>
            <a:endParaRPr lang="en-US" sz="1400" dirty="0"/>
          </a:p>
        </p:txBody>
      </p:sp>
      <p:sp>
        <p:nvSpPr>
          <p:cNvPr id="19" name="Tech card Firestore"/>
          <p:cNvSpPr/>
          <p:nvPr/>
        </p:nvSpPr>
        <p:spPr>
          <a:xfrm>
            <a:off x="9025128" y="1463040"/>
            <a:ext cx="2606040" cy="2240280"/>
          </a:xfrm>
          <a:prstGeom prst="roundRect">
            <a:avLst>
              <a:gd name="adj" fmla="val 571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20" name="Firestore icon background"/>
          <p:cNvSpPr/>
          <p:nvPr/>
        </p:nvSpPr>
        <p:spPr>
          <a:xfrm>
            <a:off x="9281160" y="1719072"/>
            <a:ext cx="658368" cy="658368"/>
          </a:xfrm>
          <a:prstGeom prst="ellipse">
            <a:avLst/>
          </a:prstGeom>
          <a:solidFill>
            <a:schemeClr val="accent5"/>
          </a:solidFill>
          <a:ln w="12700">
            <a:solidFill>
              <a:schemeClr val="accent5"/>
            </a:solidFill>
            <a:prstDash val="solid"/>
          </a:ln>
        </p:spPr>
      </p:sp>
      <p:pic>
        <p:nvPicPr>
          <p:cNvPr id="21" name="Firestore icon" descr="Firestore icon">    </p:cNvPr>
          <p:cNvPicPr>
            <a:picLocks noChangeAspect="1"/>
          </p:cNvPicPr>
          <p:nvPr/>
        </p:nvPicPr>
        <p:blipFill>
          <a:blip r:embed="rId4"/>
          <a:stretch>
            <a:fillRect/>
          </a:stretch>
        </p:blipFill>
        <p:spPr>
          <a:xfrm>
            <a:off x="9445752" y="1883664"/>
            <a:ext cx="329184" cy="329184"/>
          </a:xfrm>
          <a:prstGeom prst="rect">
            <a:avLst/>
          </a:prstGeom>
        </p:spPr>
      </p:pic>
      <p:sp>
        <p:nvSpPr>
          <p:cNvPr id="22" name="Text 15"/>
          <p:cNvSpPr txBox="1"/>
          <p:nvPr/>
        </p:nvSpPr>
        <p:spPr>
          <a:xfrm>
            <a:off x="9281160" y="2468880"/>
            <a:ext cx="2194560" cy="365760"/>
          </a:xfrm>
          <a:prstGeom prst="rect">
            <a:avLst/>
          </a:prstGeom>
          <a:noFill/>
          <a:ln/>
        </p:spPr>
        <p:txBody>
          <a:bodyPr wrap="square" lIns="0" tIns="0" rIns="0" bIns="0" rtlCol="0" anchor="t"/>
          <a:lstStyle/>
          <a:p>
            <a:pPr indent="0" marL="0">
              <a:buNone/>
            </a:pPr>
            <a:r>
              <a:rPr lang="en-US" sz="1800" b="1" dirty="0">
                <a:solidFill>
                  <a:schemeClr val="tx1"/>
                </a:solidFill>
              </a:rPr>
              <a:t>Firestore</a:t>
            </a:r>
            <a:endParaRPr lang="en-US" sz="1800" dirty="0"/>
          </a:p>
        </p:txBody>
      </p:sp>
      <p:sp>
        <p:nvSpPr>
          <p:cNvPr id="23" name="Text 16"/>
          <p:cNvSpPr txBox="1"/>
          <p:nvPr/>
        </p:nvSpPr>
        <p:spPr>
          <a:xfrm>
            <a:off x="9281160" y="2852928"/>
            <a:ext cx="2148840" cy="777240"/>
          </a:xfrm>
          <a:prstGeom prst="rect">
            <a:avLst/>
          </a:prstGeom>
          <a:noFill/>
          <a:ln/>
        </p:spPr>
        <p:txBody>
          <a:bodyPr wrap="square" lIns="0" tIns="0" rIns="0" bIns="0" rtlCol="0" anchor="t"/>
          <a:lstStyle/>
          <a:p>
            <a:pPr indent="0" marL="0">
              <a:buNone/>
            </a:pPr>
            <a:r>
              <a:rPr lang="en-US" sz="1400" dirty="0">
                <a:solidFill>
                  <a:srgbClr val="5A5F7D"/>
                </a:solidFill>
              </a:rPr>
              <a:t>Firebase cloud database used in production</a:t>
            </a:r>
            <a:endParaRPr lang="en-US" sz="1400" dirty="0"/>
          </a:p>
        </p:txBody>
      </p:sp>
      <p:sp>
        <p:nvSpPr>
          <p:cNvPr id="24" name="Tech card python-docx"/>
          <p:cNvSpPr/>
          <p:nvPr/>
        </p:nvSpPr>
        <p:spPr>
          <a:xfrm>
            <a:off x="548640" y="3931920"/>
            <a:ext cx="2606040" cy="2240280"/>
          </a:xfrm>
          <a:prstGeom prst="roundRect">
            <a:avLst>
              <a:gd name="adj" fmla="val 571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25" name="python-docx icon background"/>
          <p:cNvSpPr/>
          <p:nvPr/>
        </p:nvSpPr>
        <p:spPr>
          <a:xfrm>
            <a:off x="804672" y="4187952"/>
            <a:ext cx="658368" cy="658368"/>
          </a:xfrm>
          <a:prstGeom prst="ellipse">
            <a:avLst/>
          </a:prstGeom>
          <a:solidFill>
            <a:schemeClr val="accent1"/>
          </a:solidFill>
          <a:ln w="12700">
            <a:solidFill>
              <a:schemeClr val="accent1"/>
            </a:solidFill>
            <a:prstDash val="solid"/>
          </a:ln>
        </p:spPr>
      </p:sp>
      <p:pic>
        <p:nvPicPr>
          <p:cNvPr id="26" name="python-docx icon" descr="python-docx icon">    </p:cNvPr>
          <p:cNvPicPr>
            <a:picLocks noChangeAspect="1"/>
          </p:cNvPicPr>
          <p:nvPr/>
        </p:nvPicPr>
        <p:blipFill>
          <a:blip r:embed="rId5"/>
          <a:stretch>
            <a:fillRect/>
          </a:stretch>
        </p:blipFill>
        <p:spPr>
          <a:xfrm>
            <a:off x="969264" y="4352544"/>
            <a:ext cx="329184" cy="329184"/>
          </a:xfrm>
          <a:prstGeom prst="rect">
            <a:avLst/>
          </a:prstGeom>
        </p:spPr>
      </p:pic>
      <p:sp>
        <p:nvSpPr>
          <p:cNvPr id="27" name="Text 19"/>
          <p:cNvSpPr txBox="1"/>
          <p:nvPr/>
        </p:nvSpPr>
        <p:spPr>
          <a:xfrm>
            <a:off x="804672" y="4937760"/>
            <a:ext cx="2194560" cy="365760"/>
          </a:xfrm>
          <a:prstGeom prst="rect">
            <a:avLst/>
          </a:prstGeom>
          <a:noFill/>
          <a:ln/>
        </p:spPr>
        <p:txBody>
          <a:bodyPr wrap="square" lIns="0" tIns="0" rIns="0" bIns="0" rtlCol="0" anchor="t"/>
          <a:lstStyle/>
          <a:p>
            <a:pPr indent="0" marL="0">
              <a:buNone/>
            </a:pPr>
            <a:r>
              <a:rPr lang="en-US" sz="1800" b="1" dirty="0">
                <a:solidFill>
                  <a:schemeClr val="tx1"/>
                </a:solidFill>
              </a:rPr>
              <a:t>python-docx</a:t>
            </a:r>
            <a:endParaRPr lang="en-US" sz="1800" dirty="0"/>
          </a:p>
        </p:txBody>
      </p:sp>
      <p:sp>
        <p:nvSpPr>
          <p:cNvPr id="28" name="Text 20"/>
          <p:cNvSpPr txBox="1"/>
          <p:nvPr/>
        </p:nvSpPr>
        <p:spPr>
          <a:xfrm>
            <a:off x="804672" y="5321808"/>
            <a:ext cx="2148840" cy="777240"/>
          </a:xfrm>
          <a:prstGeom prst="rect">
            <a:avLst/>
          </a:prstGeom>
          <a:noFill/>
          <a:ln/>
        </p:spPr>
        <p:txBody>
          <a:bodyPr wrap="square" lIns="0" tIns="0" rIns="0" bIns="0" rtlCol="0" anchor="t"/>
          <a:lstStyle/>
          <a:p>
            <a:pPr indent="0" marL="0">
              <a:buNone/>
            </a:pPr>
            <a:r>
              <a:rPr lang="en-US" sz="1400" dirty="0">
                <a:solidFill>
                  <a:srgbClr val="5A5F7D"/>
                </a:solidFill>
              </a:rPr>
              <a:t>Builds Word files, including right-to-left Urdu</a:t>
            </a:r>
            <a:endParaRPr lang="en-US" sz="1400" dirty="0"/>
          </a:p>
        </p:txBody>
      </p:sp>
      <p:sp>
        <p:nvSpPr>
          <p:cNvPr id="29" name="Tech card HTML, CSS, JS"/>
          <p:cNvSpPr/>
          <p:nvPr/>
        </p:nvSpPr>
        <p:spPr>
          <a:xfrm>
            <a:off x="3374136" y="3931920"/>
            <a:ext cx="2606040" cy="2240280"/>
          </a:xfrm>
          <a:prstGeom prst="roundRect">
            <a:avLst>
              <a:gd name="adj" fmla="val 571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30" name="HTML, CSS, JS icon background"/>
          <p:cNvSpPr/>
          <p:nvPr/>
        </p:nvSpPr>
        <p:spPr>
          <a:xfrm>
            <a:off x="3630168" y="4187952"/>
            <a:ext cx="658368" cy="658368"/>
          </a:xfrm>
          <a:prstGeom prst="ellipse">
            <a:avLst/>
          </a:prstGeom>
          <a:solidFill>
            <a:schemeClr val="accent2"/>
          </a:solidFill>
          <a:ln w="12700">
            <a:solidFill>
              <a:schemeClr val="accent2"/>
            </a:solidFill>
            <a:prstDash val="solid"/>
          </a:ln>
        </p:spPr>
      </p:sp>
      <p:pic>
        <p:nvPicPr>
          <p:cNvPr id="31" name="HTML, CSS, JS icon" descr="HTML, CSS, JS icon">    </p:cNvPr>
          <p:cNvPicPr>
            <a:picLocks noChangeAspect="1"/>
          </p:cNvPicPr>
          <p:nvPr/>
        </p:nvPicPr>
        <p:blipFill>
          <a:blip r:embed="rId6"/>
          <a:stretch>
            <a:fillRect/>
          </a:stretch>
        </p:blipFill>
        <p:spPr>
          <a:xfrm>
            <a:off x="3794760" y="4352544"/>
            <a:ext cx="329184" cy="329184"/>
          </a:xfrm>
          <a:prstGeom prst="rect">
            <a:avLst/>
          </a:prstGeom>
        </p:spPr>
      </p:pic>
      <p:sp>
        <p:nvSpPr>
          <p:cNvPr id="32" name="Text 23"/>
          <p:cNvSpPr txBox="1"/>
          <p:nvPr/>
        </p:nvSpPr>
        <p:spPr>
          <a:xfrm>
            <a:off x="3630168" y="4937760"/>
            <a:ext cx="2194560" cy="365760"/>
          </a:xfrm>
          <a:prstGeom prst="rect">
            <a:avLst/>
          </a:prstGeom>
          <a:noFill/>
          <a:ln/>
        </p:spPr>
        <p:txBody>
          <a:bodyPr wrap="square" lIns="0" tIns="0" rIns="0" bIns="0" rtlCol="0" anchor="t"/>
          <a:lstStyle/>
          <a:p>
            <a:pPr indent="0" marL="0">
              <a:buNone/>
            </a:pPr>
            <a:r>
              <a:rPr lang="en-US" sz="1800" b="1" dirty="0">
                <a:solidFill>
                  <a:schemeClr val="tx1"/>
                </a:solidFill>
              </a:rPr>
              <a:t>HTML, CSS, JS</a:t>
            </a:r>
            <a:endParaRPr lang="en-US" sz="1800" dirty="0"/>
          </a:p>
        </p:txBody>
      </p:sp>
      <p:sp>
        <p:nvSpPr>
          <p:cNvPr id="33" name="Text 24"/>
          <p:cNvSpPr txBox="1"/>
          <p:nvPr/>
        </p:nvSpPr>
        <p:spPr>
          <a:xfrm>
            <a:off x="3630168" y="5321808"/>
            <a:ext cx="2148840" cy="777240"/>
          </a:xfrm>
          <a:prstGeom prst="rect">
            <a:avLst/>
          </a:prstGeom>
          <a:noFill/>
          <a:ln/>
        </p:spPr>
        <p:txBody>
          <a:bodyPr wrap="square" lIns="0" tIns="0" rIns="0" bIns="0" rtlCol="0" anchor="t"/>
          <a:lstStyle/>
          <a:p>
            <a:pPr indent="0" marL="0">
              <a:buNone/>
            </a:pPr>
            <a:r>
              <a:rPr lang="en-US" sz="1400" dirty="0">
                <a:solidFill>
                  <a:srgbClr val="5A5F7D"/>
                </a:solidFill>
              </a:rPr>
              <a:t>No build step, fast pages, no framework needed</a:t>
            </a:r>
            <a:endParaRPr lang="en-US" sz="1400" dirty="0"/>
          </a:p>
        </p:txBody>
      </p:sp>
      <p:sp>
        <p:nvSpPr>
          <p:cNvPr id="34" name="Tech card Web Speech API"/>
          <p:cNvSpPr/>
          <p:nvPr/>
        </p:nvSpPr>
        <p:spPr>
          <a:xfrm>
            <a:off x="6199632" y="3931920"/>
            <a:ext cx="2606040" cy="2240280"/>
          </a:xfrm>
          <a:prstGeom prst="roundRect">
            <a:avLst>
              <a:gd name="adj" fmla="val 571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35" name="Web Speech API icon background"/>
          <p:cNvSpPr/>
          <p:nvPr/>
        </p:nvSpPr>
        <p:spPr>
          <a:xfrm>
            <a:off x="6455664" y="4187952"/>
            <a:ext cx="658368" cy="658368"/>
          </a:xfrm>
          <a:prstGeom prst="ellipse">
            <a:avLst/>
          </a:prstGeom>
          <a:solidFill>
            <a:schemeClr val="accent6"/>
          </a:solidFill>
          <a:ln w="12700">
            <a:solidFill>
              <a:schemeClr val="accent6"/>
            </a:solidFill>
            <a:prstDash val="solid"/>
          </a:ln>
        </p:spPr>
      </p:sp>
      <p:pic>
        <p:nvPicPr>
          <p:cNvPr id="36" name="Web Speech API icon" descr="Web Speech API icon">    </p:cNvPr>
          <p:cNvPicPr>
            <a:picLocks noChangeAspect="1"/>
          </p:cNvPicPr>
          <p:nvPr/>
        </p:nvPicPr>
        <p:blipFill>
          <a:blip r:embed="rId7"/>
          <a:stretch>
            <a:fillRect/>
          </a:stretch>
        </p:blipFill>
        <p:spPr>
          <a:xfrm>
            <a:off x="6620256" y="4352544"/>
            <a:ext cx="329184" cy="329184"/>
          </a:xfrm>
          <a:prstGeom prst="rect">
            <a:avLst/>
          </a:prstGeom>
        </p:spPr>
      </p:pic>
      <p:sp>
        <p:nvSpPr>
          <p:cNvPr id="37" name="Text 27"/>
          <p:cNvSpPr txBox="1"/>
          <p:nvPr/>
        </p:nvSpPr>
        <p:spPr>
          <a:xfrm>
            <a:off x="6455664" y="4937760"/>
            <a:ext cx="2194560" cy="365760"/>
          </a:xfrm>
          <a:prstGeom prst="rect">
            <a:avLst/>
          </a:prstGeom>
          <a:noFill/>
          <a:ln/>
        </p:spPr>
        <p:txBody>
          <a:bodyPr wrap="square" lIns="0" tIns="0" rIns="0" bIns="0" rtlCol="0" anchor="t"/>
          <a:lstStyle/>
          <a:p>
            <a:pPr indent="0" marL="0">
              <a:buNone/>
            </a:pPr>
            <a:r>
              <a:rPr lang="en-US" sz="1800" b="1" dirty="0">
                <a:solidFill>
                  <a:schemeClr val="tx1"/>
                </a:solidFill>
              </a:rPr>
              <a:t>Web Speech API</a:t>
            </a:r>
            <a:endParaRPr lang="en-US" sz="1800" dirty="0"/>
          </a:p>
        </p:txBody>
      </p:sp>
      <p:sp>
        <p:nvSpPr>
          <p:cNvPr id="38" name="Text 28"/>
          <p:cNvSpPr txBox="1"/>
          <p:nvPr/>
        </p:nvSpPr>
        <p:spPr>
          <a:xfrm>
            <a:off x="6455664" y="5321808"/>
            <a:ext cx="2148840" cy="777240"/>
          </a:xfrm>
          <a:prstGeom prst="rect">
            <a:avLst/>
          </a:prstGeom>
          <a:noFill/>
          <a:ln/>
        </p:spPr>
        <p:txBody>
          <a:bodyPr wrap="square" lIns="0" tIns="0" rIns="0" bIns="0" rtlCol="0" anchor="t"/>
          <a:lstStyle/>
          <a:p>
            <a:pPr indent="0" marL="0">
              <a:buNone/>
            </a:pPr>
            <a:r>
              <a:rPr lang="en-US" sz="1400" dirty="0">
                <a:solidFill>
                  <a:srgbClr val="5A5F7D"/>
                </a:solidFill>
              </a:rPr>
              <a:t>Voice input in the browser, English and Urdu</a:t>
            </a:r>
            <a:endParaRPr lang="en-US" sz="1400" dirty="0"/>
          </a:p>
        </p:txBody>
      </p:sp>
      <p:sp>
        <p:nvSpPr>
          <p:cNvPr id="39" name="Tech card Vercel"/>
          <p:cNvSpPr/>
          <p:nvPr/>
        </p:nvSpPr>
        <p:spPr>
          <a:xfrm>
            <a:off x="9025128" y="3931920"/>
            <a:ext cx="2606040" cy="2240280"/>
          </a:xfrm>
          <a:prstGeom prst="roundRect">
            <a:avLst>
              <a:gd name="adj" fmla="val 571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40" name="Vercel icon background"/>
          <p:cNvSpPr/>
          <p:nvPr/>
        </p:nvSpPr>
        <p:spPr>
          <a:xfrm>
            <a:off x="9281160" y="4187952"/>
            <a:ext cx="658368" cy="658368"/>
          </a:xfrm>
          <a:prstGeom prst="ellipse">
            <a:avLst/>
          </a:prstGeom>
          <a:solidFill>
            <a:schemeClr val="accent5"/>
          </a:solidFill>
          <a:ln w="12700">
            <a:solidFill>
              <a:schemeClr val="accent5"/>
            </a:solidFill>
            <a:prstDash val="solid"/>
          </a:ln>
        </p:spPr>
      </p:sp>
      <p:pic>
        <p:nvPicPr>
          <p:cNvPr id="41" name="Vercel icon" descr="Vercel icon">    </p:cNvPr>
          <p:cNvPicPr>
            <a:picLocks noChangeAspect="1"/>
          </p:cNvPicPr>
          <p:nvPr/>
        </p:nvPicPr>
        <p:blipFill>
          <a:blip r:embed="rId8"/>
          <a:stretch>
            <a:fillRect/>
          </a:stretch>
        </p:blipFill>
        <p:spPr>
          <a:xfrm>
            <a:off x="9445752" y="4352544"/>
            <a:ext cx="329184" cy="329184"/>
          </a:xfrm>
          <a:prstGeom prst="rect">
            <a:avLst/>
          </a:prstGeom>
        </p:spPr>
      </p:pic>
      <p:sp>
        <p:nvSpPr>
          <p:cNvPr id="42" name="Text 31"/>
          <p:cNvSpPr txBox="1"/>
          <p:nvPr/>
        </p:nvSpPr>
        <p:spPr>
          <a:xfrm>
            <a:off x="9281160" y="4937760"/>
            <a:ext cx="2194560" cy="365760"/>
          </a:xfrm>
          <a:prstGeom prst="rect">
            <a:avLst/>
          </a:prstGeom>
          <a:noFill/>
          <a:ln/>
        </p:spPr>
        <p:txBody>
          <a:bodyPr wrap="square" lIns="0" tIns="0" rIns="0" bIns="0" rtlCol="0" anchor="t"/>
          <a:lstStyle/>
          <a:p>
            <a:pPr indent="0" marL="0">
              <a:buNone/>
            </a:pPr>
            <a:r>
              <a:rPr lang="en-US" sz="1800" b="1" dirty="0">
                <a:solidFill>
                  <a:schemeClr val="tx1"/>
                </a:solidFill>
              </a:rPr>
              <a:t>Vercel</a:t>
            </a:r>
            <a:endParaRPr lang="en-US" sz="1800" dirty="0"/>
          </a:p>
        </p:txBody>
      </p:sp>
      <p:sp>
        <p:nvSpPr>
          <p:cNvPr id="43" name="Text 32"/>
          <p:cNvSpPr txBox="1"/>
          <p:nvPr/>
        </p:nvSpPr>
        <p:spPr>
          <a:xfrm>
            <a:off x="9281160" y="5321808"/>
            <a:ext cx="2148840" cy="777240"/>
          </a:xfrm>
          <a:prstGeom prst="rect">
            <a:avLst/>
          </a:prstGeom>
          <a:noFill/>
          <a:ln/>
        </p:spPr>
        <p:txBody>
          <a:bodyPr wrap="square" lIns="0" tIns="0" rIns="0" bIns="0" rtlCol="0" anchor="t"/>
          <a:lstStyle/>
          <a:p>
            <a:pPr indent="0" marL="0">
              <a:buNone/>
            </a:pPr>
            <a:r>
              <a:rPr lang="en-US" sz="1400" dirty="0">
                <a:solidFill>
                  <a:srgbClr val="5A5F7D"/>
                </a:solidFill>
              </a:rPr>
              <a:t>Hosting with a CDN for pages and a function for the API</a:t>
            </a:r>
            <a:endParaRPr lang="en-US" sz="1400" dirty="0"/>
          </a:p>
        </p:txBody>
      </p:sp>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1"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System architecture</a:t>
            </a:r>
            <a:endParaRPr lang="en-US" sz="3400" dirty="0"/>
          </a:p>
        </p:txBody>
      </p:sp>
      <p:pic>
        <p:nvPicPr>
          <p:cNvPr id="4" name="Architecture diagram: browser, FastAPI application, Groq API and storage layer" descr="Architecture diagram: browser, FastAPI application, Groq API and storage layer">    </p:cNvPr>
          <p:cNvPicPr>
            <a:picLocks noChangeAspect="1"/>
          </p:cNvPicPr>
          <p:nvPr/>
        </p:nvPicPr>
        <p:blipFill>
          <a:blip r:embed="rId1"/>
          <a:stretch>
            <a:fillRect/>
          </a:stretch>
        </p:blipFill>
        <p:spPr>
          <a:xfrm>
            <a:off x="883768" y="1371600"/>
            <a:ext cx="10424160" cy="4841713"/>
          </a:xfrm>
          <a:prstGeom prst="rect">
            <a:avLst/>
          </a:prstGeom>
        </p:spPr>
      </p:pic>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1"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Generate an email</a:t>
            </a:r>
            <a:endParaRPr lang="en-US" sz="3400" dirty="0"/>
          </a:p>
        </p:txBody>
      </p:sp>
      <p:sp>
        <p:nvSpPr>
          <p:cNvPr id="4" name="Recipient name icon background"/>
          <p:cNvSpPr/>
          <p:nvPr/>
        </p:nvSpPr>
        <p:spPr>
          <a:xfrm>
            <a:off x="548640" y="1463040"/>
            <a:ext cx="640080" cy="640080"/>
          </a:xfrm>
          <a:prstGeom prst="ellipse">
            <a:avLst/>
          </a:prstGeom>
          <a:solidFill>
            <a:schemeClr val="accent1"/>
          </a:solidFill>
          <a:ln w="12700">
            <a:solidFill>
              <a:schemeClr val="accent1"/>
            </a:solidFill>
            <a:prstDash val="solid"/>
          </a:ln>
        </p:spPr>
      </p:sp>
      <p:pic>
        <p:nvPicPr>
          <p:cNvPr id="5" name="Recipient name icon" descr="Recipient name icon">    </p:cNvPr>
          <p:cNvPicPr>
            <a:picLocks noChangeAspect="1"/>
          </p:cNvPicPr>
          <p:nvPr/>
        </p:nvPicPr>
        <p:blipFill>
          <a:blip r:embed="rId1"/>
          <a:stretch>
            <a:fillRect/>
          </a:stretch>
        </p:blipFill>
        <p:spPr>
          <a:xfrm>
            <a:off x="708660" y="1623060"/>
            <a:ext cx="320040" cy="320040"/>
          </a:xfrm>
          <a:prstGeom prst="rect">
            <a:avLst/>
          </a:prstGeom>
        </p:spPr>
      </p:pic>
      <p:sp>
        <p:nvSpPr>
          <p:cNvPr id="6" name="Text 2"/>
          <p:cNvSpPr txBox="1"/>
          <p:nvPr/>
        </p:nvSpPr>
        <p:spPr>
          <a:xfrm>
            <a:off x="1371600" y="1444752"/>
            <a:ext cx="3840480" cy="329184"/>
          </a:xfrm>
          <a:prstGeom prst="rect">
            <a:avLst/>
          </a:prstGeom>
          <a:noFill/>
          <a:ln/>
        </p:spPr>
        <p:txBody>
          <a:bodyPr wrap="square" lIns="0" tIns="0" rIns="0" bIns="0" rtlCol="0" anchor="t"/>
          <a:lstStyle/>
          <a:p>
            <a:pPr indent="0" marL="0">
              <a:buNone/>
            </a:pPr>
            <a:r>
              <a:rPr lang="en-US" sz="1800" b="1" dirty="0">
                <a:solidFill>
                  <a:schemeClr val="tx1"/>
                </a:solidFill>
              </a:rPr>
              <a:t>Recipient name</a:t>
            </a:r>
            <a:endParaRPr lang="en-US" sz="1800" dirty="0"/>
          </a:p>
        </p:txBody>
      </p:sp>
      <p:sp>
        <p:nvSpPr>
          <p:cNvPr id="7" name="Text 3"/>
          <p:cNvSpPr txBox="1"/>
          <p:nvPr/>
        </p:nvSpPr>
        <p:spPr>
          <a:xfrm>
            <a:off x="1371600" y="1801368"/>
            <a:ext cx="3840480" cy="365760"/>
          </a:xfrm>
          <a:prstGeom prst="rect">
            <a:avLst/>
          </a:prstGeom>
          <a:noFill/>
          <a:ln/>
        </p:spPr>
        <p:txBody>
          <a:bodyPr wrap="square" lIns="0" tIns="0" rIns="0" bIns="0" rtlCol="0" anchor="t"/>
          <a:lstStyle/>
          <a:p>
            <a:pPr indent="0" marL="0">
              <a:buNone/>
            </a:pPr>
            <a:r>
              <a:rPr lang="en-US" sz="1400" dirty="0">
                <a:solidFill>
                  <a:srgbClr val="5A5F7D"/>
                </a:solidFill>
              </a:rPr>
              <a:t>Who the email is for</a:t>
            </a:r>
            <a:endParaRPr lang="en-US" sz="1400" dirty="0"/>
          </a:p>
        </p:txBody>
      </p:sp>
      <p:sp>
        <p:nvSpPr>
          <p:cNvPr id="8" name="Email purpose icon background"/>
          <p:cNvSpPr/>
          <p:nvPr/>
        </p:nvSpPr>
        <p:spPr>
          <a:xfrm>
            <a:off x="548640" y="2395728"/>
            <a:ext cx="640080" cy="640080"/>
          </a:xfrm>
          <a:prstGeom prst="ellipse">
            <a:avLst/>
          </a:prstGeom>
          <a:solidFill>
            <a:schemeClr val="accent2"/>
          </a:solidFill>
          <a:ln w="12700">
            <a:solidFill>
              <a:schemeClr val="accent2"/>
            </a:solidFill>
            <a:prstDash val="solid"/>
          </a:ln>
        </p:spPr>
      </p:sp>
      <p:pic>
        <p:nvPicPr>
          <p:cNvPr id="9" name="Email purpose icon" descr="Email purpose icon">    </p:cNvPr>
          <p:cNvPicPr>
            <a:picLocks noChangeAspect="1"/>
          </p:cNvPicPr>
          <p:nvPr/>
        </p:nvPicPr>
        <p:blipFill>
          <a:blip r:embed="rId2"/>
          <a:stretch>
            <a:fillRect/>
          </a:stretch>
        </p:blipFill>
        <p:spPr>
          <a:xfrm>
            <a:off x="708660" y="2555748"/>
            <a:ext cx="320040" cy="320040"/>
          </a:xfrm>
          <a:prstGeom prst="rect">
            <a:avLst/>
          </a:prstGeom>
        </p:spPr>
      </p:pic>
      <p:sp>
        <p:nvSpPr>
          <p:cNvPr id="10" name="Text 5"/>
          <p:cNvSpPr txBox="1"/>
          <p:nvPr/>
        </p:nvSpPr>
        <p:spPr>
          <a:xfrm>
            <a:off x="1371600" y="2377440"/>
            <a:ext cx="3840480" cy="329184"/>
          </a:xfrm>
          <a:prstGeom prst="rect">
            <a:avLst/>
          </a:prstGeom>
          <a:noFill/>
          <a:ln/>
        </p:spPr>
        <p:txBody>
          <a:bodyPr wrap="square" lIns="0" tIns="0" rIns="0" bIns="0" rtlCol="0" anchor="t"/>
          <a:lstStyle/>
          <a:p>
            <a:pPr indent="0" marL="0">
              <a:buNone/>
            </a:pPr>
            <a:r>
              <a:rPr lang="en-US" sz="1800" b="1" dirty="0">
                <a:solidFill>
                  <a:schemeClr val="tx1"/>
                </a:solidFill>
              </a:rPr>
              <a:t>Email purpose</a:t>
            </a:r>
            <a:endParaRPr lang="en-US" sz="1800" dirty="0"/>
          </a:p>
        </p:txBody>
      </p:sp>
      <p:sp>
        <p:nvSpPr>
          <p:cNvPr id="11" name="Text 6"/>
          <p:cNvSpPr txBox="1"/>
          <p:nvPr/>
        </p:nvSpPr>
        <p:spPr>
          <a:xfrm>
            <a:off x="1371600" y="2734056"/>
            <a:ext cx="3840480" cy="365760"/>
          </a:xfrm>
          <a:prstGeom prst="rect">
            <a:avLst/>
          </a:prstGeom>
          <a:noFill/>
          <a:ln/>
        </p:spPr>
        <p:txBody>
          <a:bodyPr wrap="square" lIns="0" tIns="0" rIns="0" bIns="0" rtlCol="0" anchor="t"/>
          <a:lstStyle/>
          <a:p>
            <a:pPr indent="0" marL="0">
              <a:buNone/>
            </a:pPr>
            <a:r>
              <a:rPr lang="en-US" sz="1400" dirty="0">
                <a:solidFill>
                  <a:srgbClr val="5A5F7D"/>
                </a:solidFill>
              </a:rPr>
              <a:t>Type it, speak it or start from a template</a:t>
            </a:r>
            <a:endParaRPr lang="en-US" sz="1400" dirty="0"/>
          </a:p>
        </p:txBody>
      </p:sp>
      <p:sp>
        <p:nvSpPr>
          <p:cNvPr id="12" name="Tone icon background"/>
          <p:cNvSpPr/>
          <p:nvPr/>
        </p:nvSpPr>
        <p:spPr>
          <a:xfrm>
            <a:off x="548640" y="3328416"/>
            <a:ext cx="640080" cy="640080"/>
          </a:xfrm>
          <a:prstGeom prst="ellipse">
            <a:avLst/>
          </a:prstGeom>
          <a:solidFill>
            <a:schemeClr val="accent6"/>
          </a:solidFill>
          <a:ln w="12700">
            <a:solidFill>
              <a:schemeClr val="accent6"/>
            </a:solidFill>
            <a:prstDash val="solid"/>
          </a:ln>
        </p:spPr>
      </p:sp>
      <p:pic>
        <p:nvPicPr>
          <p:cNvPr id="13" name="Tone icon" descr="Tone icon">    </p:cNvPr>
          <p:cNvPicPr>
            <a:picLocks noChangeAspect="1"/>
          </p:cNvPicPr>
          <p:nvPr/>
        </p:nvPicPr>
        <p:blipFill>
          <a:blip r:embed="rId3"/>
          <a:stretch>
            <a:fillRect/>
          </a:stretch>
        </p:blipFill>
        <p:spPr>
          <a:xfrm>
            <a:off x="708660" y="3488436"/>
            <a:ext cx="320040" cy="320040"/>
          </a:xfrm>
          <a:prstGeom prst="rect">
            <a:avLst/>
          </a:prstGeom>
        </p:spPr>
      </p:pic>
      <p:sp>
        <p:nvSpPr>
          <p:cNvPr id="14" name="Text 8"/>
          <p:cNvSpPr txBox="1"/>
          <p:nvPr/>
        </p:nvSpPr>
        <p:spPr>
          <a:xfrm>
            <a:off x="1371600" y="3310128"/>
            <a:ext cx="3840480" cy="329184"/>
          </a:xfrm>
          <a:prstGeom prst="rect">
            <a:avLst/>
          </a:prstGeom>
          <a:noFill/>
          <a:ln/>
        </p:spPr>
        <p:txBody>
          <a:bodyPr wrap="square" lIns="0" tIns="0" rIns="0" bIns="0" rtlCol="0" anchor="t"/>
          <a:lstStyle/>
          <a:p>
            <a:pPr indent="0" marL="0">
              <a:buNone/>
            </a:pPr>
            <a:r>
              <a:rPr lang="en-US" sz="1800" b="1" dirty="0">
                <a:solidFill>
                  <a:schemeClr val="tx1"/>
                </a:solidFill>
              </a:rPr>
              <a:t>Tone</a:t>
            </a:r>
            <a:endParaRPr lang="en-US" sz="1800" dirty="0"/>
          </a:p>
        </p:txBody>
      </p:sp>
      <p:sp>
        <p:nvSpPr>
          <p:cNvPr id="15" name="Text 9"/>
          <p:cNvSpPr txBox="1"/>
          <p:nvPr/>
        </p:nvSpPr>
        <p:spPr>
          <a:xfrm>
            <a:off x="1371600" y="3666744"/>
            <a:ext cx="3840480" cy="365760"/>
          </a:xfrm>
          <a:prstGeom prst="rect">
            <a:avLst/>
          </a:prstGeom>
          <a:noFill/>
          <a:ln/>
        </p:spPr>
        <p:txBody>
          <a:bodyPr wrap="square" lIns="0" tIns="0" rIns="0" bIns="0" rtlCol="0" anchor="t"/>
          <a:lstStyle/>
          <a:p>
            <a:pPr indent="0" marL="0">
              <a:buNone/>
            </a:pPr>
            <a:r>
              <a:rPr lang="en-US" sz="1400" dirty="0">
                <a:solidFill>
                  <a:srgbClr val="5A5F7D"/>
                </a:solidFill>
              </a:rPr>
              <a:t>Professional, Friendly or Formal</a:t>
            </a:r>
            <a:endParaRPr lang="en-US" sz="1400" dirty="0"/>
          </a:p>
        </p:txBody>
      </p:sp>
      <p:sp>
        <p:nvSpPr>
          <p:cNvPr id="16" name="Length icon background"/>
          <p:cNvSpPr/>
          <p:nvPr/>
        </p:nvSpPr>
        <p:spPr>
          <a:xfrm>
            <a:off x="548640" y="4261104"/>
            <a:ext cx="640080" cy="640080"/>
          </a:xfrm>
          <a:prstGeom prst="ellipse">
            <a:avLst/>
          </a:prstGeom>
          <a:solidFill>
            <a:schemeClr val="accent5"/>
          </a:solidFill>
          <a:ln w="12700">
            <a:solidFill>
              <a:schemeClr val="accent5"/>
            </a:solidFill>
            <a:prstDash val="solid"/>
          </a:ln>
        </p:spPr>
      </p:sp>
      <p:pic>
        <p:nvPicPr>
          <p:cNvPr id="17" name="Length icon" descr="Length icon">    </p:cNvPr>
          <p:cNvPicPr>
            <a:picLocks noChangeAspect="1"/>
          </p:cNvPicPr>
          <p:nvPr/>
        </p:nvPicPr>
        <p:blipFill>
          <a:blip r:embed="rId4"/>
          <a:stretch>
            <a:fillRect/>
          </a:stretch>
        </p:blipFill>
        <p:spPr>
          <a:xfrm>
            <a:off x="708660" y="4421124"/>
            <a:ext cx="320040" cy="320040"/>
          </a:xfrm>
          <a:prstGeom prst="rect">
            <a:avLst/>
          </a:prstGeom>
        </p:spPr>
      </p:pic>
      <p:sp>
        <p:nvSpPr>
          <p:cNvPr id="18" name="Text 11"/>
          <p:cNvSpPr txBox="1"/>
          <p:nvPr/>
        </p:nvSpPr>
        <p:spPr>
          <a:xfrm>
            <a:off x="1371600" y="4242816"/>
            <a:ext cx="3840480" cy="329184"/>
          </a:xfrm>
          <a:prstGeom prst="rect">
            <a:avLst/>
          </a:prstGeom>
          <a:noFill/>
          <a:ln/>
        </p:spPr>
        <p:txBody>
          <a:bodyPr wrap="square" lIns="0" tIns="0" rIns="0" bIns="0" rtlCol="0" anchor="t"/>
          <a:lstStyle/>
          <a:p>
            <a:pPr indent="0" marL="0">
              <a:buNone/>
            </a:pPr>
            <a:r>
              <a:rPr lang="en-US" sz="1800" b="1" dirty="0">
                <a:solidFill>
                  <a:schemeClr val="tx1"/>
                </a:solidFill>
              </a:rPr>
              <a:t>Length</a:t>
            </a:r>
            <a:endParaRPr lang="en-US" sz="1800" dirty="0"/>
          </a:p>
        </p:txBody>
      </p:sp>
      <p:sp>
        <p:nvSpPr>
          <p:cNvPr id="19" name="Text 12"/>
          <p:cNvSpPr txBox="1"/>
          <p:nvPr/>
        </p:nvSpPr>
        <p:spPr>
          <a:xfrm>
            <a:off x="1371600" y="4599432"/>
            <a:ext cx="3840480" cy="365760"/>
          </a:xfrm>
          <a:prstGeom prst="rect">
            <a:avLst/>
          </a:prstGeom>
          <a:noFill/>
          <a:ln/>
        </p:spPr>
        <p:txBody>
          <a:bodyPr wrap="square" lIns="0" tIns="0" rIns="0" bIns="0" rtlCol="0" anchor="t"/>
          <a:lstStyle/>
          <a:p>
            <a:pPr indent="0" marL="0">
              <a:buNone/>
            </a:pPr>
            <a:r>
              <a:rPr lang="en-US" sz="1400" dirty="0">
                <a:solidFill>
                  <a:srgbClr val="5A5F7D"/>
                </a:solidFill>
              </a:rPr>
              <a:t>Short, Medium or Long</a:t>
            </a:r>
            <a:endParaRPr lang="en-US" sz="1400" dirty="0"/>
          </a:p>
        </p:txBody>
      </p:sp>
      <p:sp>
        <p:nvSpPr>
          <p:cNvPr id="20" name="Language icon background"/>
          <p:cNvSpPr/>
          <p:nvPr/>
        </p:nvSpPr>
        <p:spPr>
          <a:xfrm>
            <a:off x="548640" y="5193792"/>
            <a:ext cx="640080" cy="640080"/>
          </a:xfrm>
          <a:prstGeom prst="ellipse">
            <a:avLst/>
          </a:prstGeom>
          <a:solidFill>
            <a:schemeClr val="accent1"/>
          </a:solidFill>
          <a:ln w="12700">
            <a:solidFill>
              <a:schemeClr val="accent1"/>
            </a:solidFill>
            <a:prstDash val="solid"/>
          </a:ln>
        </p:spPr>
      </p:sp>
      <p:pic>
        <p:nvPicPr>
          <p:cNvPr id="21" name="Language icon" descr="Language icon">    </p:cNvPr>
          <p:cNvPicPr>
            <a:picLocks noChangeAspect="1"/>
          </p:cNvPicPr>
          <p:nvPr/>
        </p:nvPicPr>
        <p:blipFill>
          <a:blip r:embed="rId5"/>
          <a:stretch>
            <a:fillRect/>
          </a:stretch>
        </p:blipFill>
        <p:spPr>
          <a:xfrm>
            <a:off x="708660" y="5353812"/>
            <a:ext cx="320040" cy="320040"/>
          </a:xfrm>
          <a:prstGeom prst="rect">
            <a:avLst/>
          </a:prstGeom>
        </p:spPr>
      </p:pic>
      <p:sp>
        <p:nvSpPr>
          <p:cNvPr id="22" name="Text 14"/>
          <p:cNvSpPr txBox="1"/>
          <p:nvPr/>
        </p:nvSpPr>
        <p:spPr>
          <a:xfrm>
            <a:off x="1371600" y="5175504"/>
            <a:ext cx="3840480" cy="329184"/>
          </a:xfrm>
          <a:prstGeom prst="rect">
            <a:avLst/>
          </a:prstGeom>
          <a:noFill/>
          <a:ln/>
        </p:spPr>
        <p:txBody>
          <a:bodyPr wrap="square" lIns="0" tIns="0" rIns="0" bIns="0" rtlCol="0" anchor="t"/>
          <a:lstStyle/>
          <a:p>
            <a:pPr indent="0" marL="0">
              <a:buNone/>
            </a:pPr>
            <a:r>
              <a:rPr lang="en-US" sz="1800" b="1" dirty="0">
                <a:solidFill>
                  <a:schemeClr val="tx1"/>
                </a:solidFill>
              </a:rPr>
              <a:t>Language</a:t>
            </a:r>
            <a:endParaRPr lang="en-US" sz="1800" dirty="0"/>
          </a:p>
        </p:txBody>
      </p:sp>
      <p:sp>
        <p:nvSpPr>
          <p:cNvPr id="23" name="Text 15"/>
          <p:cNvSpPr txBox="1"/>
          <p:nvPr/>
        </p:nvSpPr>
        <p:spPr>
          <a:xfrm>
            <a:off x="1371600" y="5532120"/>
            <a:ext cx="3840480" cy="365760"/>
          </a:xfrm>
          <a:prstGeom prst="rect">
            <a:avLst/>
          </a:prstGeom>
          <a:noFill/>
          <a:ln/>
        </p:spPr>
        <p:txBody>
          <a:bodyPr wrap="square" lIns="0" tIns="0" rIns="0" bIns="0" rtlCol="0" anchor="t"/>
          <a:lstStyle/>
          <a:p>
            <a:pPr indent="0" marL="0">
              <a:buNone/>
            </a:pPr>
            <a:r>
              <a:rPr lang="en-US" sz="1400" dirty="0">
                <a:solidFill>
                  <a:srgbClr val="5A5F7D"/>
                </a:solidFill>
              </a:rPr>
              <a:t>English or Urdu</a:t>
            </a:r>
            <a:endParaRPr lang="en-US" sz="1400" dirty="0"/>
          </a:p>
        </p:txBody>
      </p:sp>
      <p:pic>
        <p:nvPicPr>
          <p:cNvPr id="24" name="Dashboard with the form on the left and a generated formal email on the right" descr="Dashboard with the form on the left and a generated formal email on the right">    </p:cNvPr>
          <p:cNvPicPr>
            <a:picLocks noChangeAspect="1"/>
          </p:cNvPicPr>
          <p:nvPr/>
        </p:nvPicPr>
        <p:blipFill>
          <a:blip r:embed="rId6"/>
          <a:stretch>
            <a:fillRect/>
          </a:stretch>
        </p:blipFill>
        <p:spPr>
          <a:xfrm>
            <a:off x="5605272" y="1463040"/>
            <a:ext cx="6035040" cy="4497880"/>
          </a:xfrm>
          <a:prstGeom prst="rect">
            <a:avLst/>
          </a:prstGeom>
        </p:spPr>
      </p:pic>
      <p:sp>
        <p:nvSpPr>
          <p:cNvPr id="25" name="Text 16"/>
          <p:cNvSpPr txBox="1"/>
          <p:nvPr/>
        </p:nvSpPr>
        <p:spPr>
          <a:xfrm>
            <a:off x="5605272" y="6070648"/>
            <a:ext cx="6035040" cy="274320"/>
          </a:xfrm>
          <a:prstGeom prst="rect">
            <a:avLst/>
          </a:prstGeom>
          <a:noFill/>
          <a:ln/>
        </p:spPr>
        <p:txBody>
          <a:bodyPr wrap="square" lIns="0" tIns="0" rIns="0" bIns="0" rtlCol="0" anchor="t"/>
          <a:lstStyle/>
          <a:p>
            <a:pPr indent="0" marL="0">
              <a:buNone/>
            </a:pPr>
            <a:r>
              <a:rPr lang="en-US" sz="1200" i="1" dirty="0">
                <a:solidFill>
                  <a:srgbClr val="5A5F7D"/>
                </a:solidFill>
              </a:rPr>
              <a:t>The dashboard with sample data: form on the left, generated email on the right.</a:t>
            </a:r>
            <a:endParaRPr lang="en-US" sz="1200" dirty="0"/>
          </a:p>
        </p:txBody>
      </p:sp>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1"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Eight AI tools around every draft</a:t>
            </a:r>
            <a:endParaRPr lang="en-US" sz="3400" dirty="0"/>
          </a:p>
        </p:txBody>
      </p:sp>
      <p:sp>
        <p:nvSpPr>
          <p:cNvPr id="4" name="Tool card Reply mode"/>
          <p:cNvSpPr/>
          <p:nvPr/>
        </p:nvSpPr>
        <p:spPr>
          <a:xfrm>
            <a:off x="548640" y="1463040"/>
            <a:ext cx="2606040" cy="2240280"/>
          </a:xfrm>
          <a:prstGeom prst="roundRect">
            <a:avLst>
              <a:gd name="adj" fmla="val 571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5" name="Reply mode icon background"/>
          <p:cNvSpPr/>
          <p:nvPr/>
        </p:nvSpPr>
        <p:spPr>
          <a:xfrm>
            <a:off x="804672" y="1719072"/>
            <a:ext cx="658368" cy="658368"/>
          </a:xfrm>
          <a:prstGeom prst="ellipse">
            <a:avLst/>
          </a:prstGeom>
          <a:solidFill>
            <a:schemeClr val="accent1"/>
          </a:solidFill>
          <a:ln w="12700">
            <a:solidFill>
              <a:schemeClr val="accent1"/>
            </a:solidFill>
            <a:prstDash val="solid"/>
          </a:ln>
        </p:spPr>
      </p:sp>
      <p:pic>
        <p:nvPicPr>
          <p:cNvPr id="6" name="Reply mode icon" descr="Reply mode icon">    </p:cNvPr>
          <p:cNvPicPr>
            <a:picLocks noChangeAspect="1"/>
          </p:cNvPicPr>
          <p:nvPr/>
        </p:nvPicPr>
        <p:blipFill>
          <a:blip r:embed="rId1"/>
          <a:stretch>
            <a:fillRect/>
          </a:stretch>
        </p:blipFill>
        <p:spPr>
          <a:xfrm>
            <a:off x="969264" y="1883664"/>
            <a:ext cx="329184" cy="329184"/>
          </a:xfrm>
          <a:prstGeom prst="rect">
            <a:avLst/>
          </a:prstGeom>
        </p:spPr>
      </p:pic>
      <p:sp>
        <p:nvSpPr>
          <p:cNvPr id="7" name="Text 3"/>
          <p:cNvSpPr txBox="1"/>
          <p:nvPr/>
        </p:nvSpPr>
        <p:spPr>
          <a:xfrm>
            <a:off x="804672" y="2468880"/>
            <a:ext cx="2194560" cy="365760"/>
          </a:xfrm>
          <a:prstGeom prst="rect">
            <a:avLst/>
          </a:prstGeom>
          <a:noFill/>
          <a:ln/>
        </p:spPr>
        <p:txBody>
          <a:bodyPr wrap="square" lIns="0" tIns="0" rIns="0" bIns="0" rtlCol="0" anchor="t"/>
          <a:lstStyle/>
          <a:p>
            <a:pPr indent="0" marL="0">
              <a:buNone/>
            </a:pPr>
            <a:r>
              <a:rPr lang="en-US" sz="1800" b="1" dirty="0">
                <a:solidFill>
                  <a:schemeClr val="tx1"/>
                </a:solidFill>
              </a:rPr>
              <a:t>Reply mode</a:t>
            </a:r>
            <a:endParaRPr lang="en-US" sz="1800" dirty="0"/>
          </a:p>
        </p:txBody>
      </p:sp>
      <p:sp>
        <p:nvSpPr>
          <p:cNvPr id="8" name="Text 4"/>
          <p:cNvSpPr txBox="1"/>
          <p:nvPr/>
        </p:nvSpPr>
        <p:spPr>
          <a:xfrm>
            <a:off x="804672" y="2852928"/>
            <a:ext cx="2148840" cy="777240"/>
          </a:xfrm>
          <a:prstGeom prst="rect">
            <a:avLst/>
          </a:prstGeom>
          <a:noFill/>
          <a:ln/>
        </p:spPr>
        <p:txBody>
          <a:bodyPr wrap="square" lIns="0" tIns="0" rIns="0" bIns="0" rtlCol="0" anchor="t"/>
          <a:lstStyle/>
          <a:p>
            <a:pPr indent="0" marL="0">
              <a:buNone/>
            </a:pPr>
            <a:r>
              <a:rPr lang="en-US" sz="1400" dirty="0">
                <a:solidFill>
                  <a:srgbClr val="5A5F7D"/>
                </a:solidFill>
              </a:rPr>
              <a:t>Paste a received email and get a reply</a:t>
            </a:r>
            <a:endParaRPr lang="en-US" sz="1400" dirty="0"/>
          </a:p>
        </p:txBody>
      </p:sp>
      <p:sp>
        <p:nvSpPr>
          <p:cNvPr id="9" name="Tool card Custom changes"/>
          <p:cNvSpPr/>
          <p:nvPr/>
        </p:nvSpPr>
        <p:spPr>
          <a:xfrm>
            <a:off x="3374136" y="1463040"/>
            <a:ext cx="2606040" cy="2240280"/>
          </a:xfrm>
          <a:prstGeom prst="roundRect">
            <a:avLst>
              <a:gd name="adj" fmla="val 571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10" name="Custom changes icon background"/>
          <p:cNvSpPr/>
          <p:nvPr/>
        </p:nvSpPr>
        <p:spPr>
          <a:xfrm>
            <a:off x="3630168" y="1719072"/>
            <a:ext cx="658368" cy="658368"/>
          </a:xfrm>
          <a:prstGeom prst="ellipse">
            <a:avLst/>
          </a:prstGeom>
          <a:solidFill>
            <a:schemeClr val="accent2"/>
          </a:solidFill>
          <a:ln w="12700">
            <a:solidFill>
              <a:schemeClr val="accent2"/>
            </a:solidFill>
            <a:prstDash val="solid"/>
          </a:ln>
        </p:spPr>
      </p:sp>
      <p:pic>
        <p:nvPicPr>
          <p:cNvPr id="11" name="Custom changes icon" descr="Custom changes icon">    </p:cNvPr>
          <p:cNvPicPr>
            <a:picLocks noChangeAspect="1"/>
          </p:cNvPicPr>
          <p:nvPr/>
        </p:nvPicPr>
        <p:blipFill>
          <a:blip r:embed="rId2"/>
          <a:stretch>
            <a:fillRect/>
          </a:stretch>
        </p:blipFill>
        <p:spPr>
          <a:xfrm>
            <a:off x="3794760" y="1883664"/>
            <a:ext cx="329184" cy="329184"/>
          </a:xfrm>
          <a:prstGeom prst="rect">
            <a:avLst/>
          </a:prstGeom>
        </p:spPr>
      </p:pic>
      <p:sp>
        <p:nvSpPr>
          <p:cNvPr id="12" name="Text 7"/>
          <p:cNvSpPr txBox="1"/>
          <p:nvPr/>
        </p:nvSpPr>
        <p:spPr>
          <a:xfrm>
            <a:off x="3630168" y="2468880"/>
            <a:ext cx="2194560" cy="365760"/>
          </a:xfrm>
          <a:prstGeom prst="rect">
            <a:avLst/>
          </a:prstGeom>
          <a:noFill/>
          <a:ln/>
        </p:spPr>
        <p:txBody>
          <a:bodyPr wrap="square" lIns="0" tIns="0" rIns="0" bIns="0" rtlCol="0" anchor="t"/>
          <a:lstStyle/>
          <a:p>
            <a:pPr indent="0" marL="0">
              <a:buNone/>
            </a:pPr>
            <a:r>
              <a:rPr lang="en-US" sz="1800" b="1" dirty="0">
                <a:solidFill>
                  <a:schemeClr val="tx1"/>
                </a:solidFill>
              </a:rPr>
              <a:t>Custom changes</a:t>
            </a:r>
            <a:endParaRPr lang="en-US" sz="1800" dirty="0"/>
          </a:p>
        </p:txBody>
      </p:sp>
      <p:sp>
        <p:nvSpPr>
          <p:cNvPr id="13" name="Text 8"/>
          <p:cNvSpPr txBox="1"/>
          <p:nvPr/>
        </p:nvSpPr>
        <p:spPr>
          <a:xfrm>
            <a:off x="3630168" y="2852928"/>
            <a:ext cx="2148840" cy="777240"/>
          </a:xfrm>
          <a:prstGeom prst="rect">
            <a:avLst/>
          </a:prstGeom>
          <a:noFill/>
          <a:ln/>
        </p:spPr>
        <p:txBody>
          <a:bodyPr wrap="square" lIns="0" tIns="0" rIns="0" bIns="0" rtlCol="0" anchor="t"/>
          <a:lstStyle/>
          <a:p>
            <a:pPr indent="0" marL="0">
              <a:buNone/>
            </a:pPr>
            <a:r>
              <a:rPr lang="en-US" sz="1400" dirty="0">
                <a:solidFill>
                  <a:srgbClr val="5A5F7D"/>
                </a:solidFill>
              </a:rPr>
              <a:t>Type "make it more polite" and it rewrites</a:t>
            </a:r>
            <a:endParaRPr lang="en-US" sz="1400" dirty="0"/>
          </a:p>
        </p:txBody>
      </p:sp>
      <p:sp>
        <p:nvSpPr>
          <p:cNvPr id="14" name="Tool card Subject ideas"/>
          <p:cNvSpPr/>
          <p:nvPr/>
        </p:nvSpPr>
        <p:spPr>
          <a:xfrm>
            <a:off x="6199632" y="1463040"/>
            <a:ext cx="2606040" cy="2240280"/>
          </a:xfrm>
          <a:prstGeom prst="roundRect">
            <a:avLst>
              <a:gd name="adj" fmla="val 571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15" name="Subject ideas icon background"/>
          <p:cNvSpPr/>
          <p:nvPr/>
        </p:nvSpPr>
        <p:spPr>
          <a:xfrm>
            <a:off x="6455664" y="1719072"/>
            <a:ext cx="658368" cy="658368"/>
          </a:xfrm>
          <a:prstGeom prst="ellipse">
            <a:avLst/>
          </a:prstGeom>
          <a:solidFill>
            <a:schemeClr val="accent6"/>
          </a:solidFill>
          <a:ln w="12700">
            <a:solidFill>
              <a:schemeClr val="accent6"/>
            </a:solidFill>
            <a:prstDash val="solid"/>
          </a:ln>
        </p:spPr>
      </p:sp>
      <p:pic>
        <p:nvPicPr>
          <p:cNvPr id="16" name="Subject ideas icon" descr="Subject ideas icon">    </p:cNvPr>
          <p:cNvPicPr>
            <a:picLocks noChangeAspect="1"/>
          </p:cNvPicPr>
          <p:nvPr/>
        </p:nvPicPr>
        <p:blipFill>
          <a:blip r:embed="rId3"/>
          <a:stretch>
            <a:fillRect/>
          </a:stretch>
        </p:blipFill>
        <p:spPr>
          <a:xfrm>
            <a:off x="6620256" y="1883664"/>
            <a:ext cx="329184" cy="329184"/>
          </a:xfrm>
          <a:prstGeom prst="rect">
            <a:avLst/>
          </a:prstGeom>
        </p:spPr>
      </p:pic>
      <p:sp>
        <p:nvSpPr>
          <p:cNvPr id="17" name="Text 11"/>
          <p:cNvSpPr txBox="1"/>
          <p:nvPr/>
        </p:nvSpPr>
        <p:spPr>
          <a:xfrm>
            <a:off x="6455664" y="2468880"/>
            <a:ext cx="2194560" cy="365760"/>
          </a:xfrm>
          <a:prstGeom prst="rect">
            <a:avLst/>
          </a:prstGeom>
          <a:noFill/>
          <a:ln/>
        </p:spPr>
        <p:txBody>
          <a:bodyPr wrap="square" lIns="0" tIns="0" rIns="0" bIns="0" rtlCol="0" anchor="t"/>
          <a:lstStyle/>
          <a:p>
            <a:pPr indent="0" marL="0">
              <a:buNone/>
            </a:pPr>
            <a:r>
              <a:rPr lang="en-US" sz="1800" b="1" dirty="0">
                <a:solidFill>
                  <a:schemeClr val="tx1"/>
                </a:solidFill>
              </a:rPr>
              <a:t>Subject ideas</a:t>
            </a:r>
            <a:endParaRPr lang="en-US" sz="1800" dirty="0"/>
          </a:p>
        </p:txBody>
      </p:sp>
      <p:sp>
        <p:nvSpPr>
          <p:cNvPr id="18" name="Text 12"/>
          <p:cNvSpPr txBox="1"/>
          <p:nvPr/>
        </p:nvSpPr>
        <p:spPr>
          <a:xfrm>
            <a:off x="6455664" y="2852928"/>
            <a:ext cx="2148840" cy="777240"/>
          </a:xfrm>
          <a:prstGeom prst="rect">
            <a:avLst/>
          </a:prstGeom>
          <a:noFill/>
          <a:ln/>
        </p:spPr>
        <p:txBody>
          <a:bodyPr wrap="square" lIns="0" tIns="0" rIns="0" bIns="0" rtlCol="0" anchor="t"/>
          <a:lstStyle/>
          <a:p>
            <a:pPr indent="0" marL="0">
              <a:buNone/>
            </a:pPr>
            <a:r>
              <a:rPr lang="en-US" sz="1400" dirty="0">
                <a:solidFill>
                  <a:srgbClr val="5A5F7D"/>
                </a:solidFill>
              </a:rPr>
              <a:t>Three alternative subject lines to pick from</a:t>
            </a:r>
            <a:endParaRPr lang="en-US" sz="1400" dirty="0"/>
          </a:p>
        </p:txBody>
      </p:sp>
      <p:sp>
        <p:nvSpPr>
          <p:cNvPr id="19" name="Tool card Quality score"/>
          <p:cNvSpPr/>
          <p:nvPr/>
        </p:nvSpPr>
        <p:spPr>
          <a:xfrm>
            <a:off x="9025128" y="1463040"/>
            <a:ext cx="2606040" cy="2240280"/>
          </a:xfrm>
          <a:prstGeom prst="roundRect">
            <a:avLst>
              <a:gd name="adj" fmla="val 571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20" name="Quality score icon background"/>
          <p:cNvSpPr/>
          <p:nvPr/>
        </p:nvSpPr>
        <p:spPr>
          <a:xfrm>
            <a:off x="9281160" y="1719072"/>
            <a:ext cx="658368" cy="658368"/>
          </a:xfrm>
          <a:prstGeom prst="ellipse">
            <a:avLst/>
          </a:prstGeom>
          <a:solidFill>
            <a:schemeClr val="accent5"/>
          </a:solidFill>
          <a:ln w="12700">
            <a:solidFill>
              <a:schemeClr val="accent5"/>
            </a:solidFill>
            <a:prstDash val="solid"/>
          </a:ln>
        </p:spPr>
      </p:sp>
      <p:pic>
        <p:nvPicPr>
          <p:cNvPr id="21" name="Quality score icon" descr="Quality score icon">    </p:cNvPr>
          <p:cNvPicPr>
            <a:picLocks noChangeAspect="1"/>
          </p:cNvPicPr>
          <p:nvPr/>
        </p:nvPicPr>
        <p:blipFill>
          <a:blip r:embed="rId4"/>
          <a:stretch>
            <a:fillRect/>
          </a:stretch>
        </p:blipFill>
        <p:spPr>
          <a:xfrm>
            <a:off x="9445752" y="1883664"/>
            <a:ext cx="329184" cy="329184"/>
          </a:xfrm>
          <a:prstGeom prst="rect">
            <a:avLst/>
          </a:prstGeom>
        </p:spPr>
      </p:pic>
      <p:sp>
        <p:nvSpPr>
          <p:cNvPr id="22" name="Text 15"/>
          <p:cNvSpPr txBox="1"/>
          <p:nvPr/>
        </p:nvSpPr>
        <p:spPr>
          <a:xfrm>
            <a:off x="9281160" y="2468880"/>
            <a:ext cx="2194560" cy="365760"/>
          </a:xfrm>
          <a:prstGeom prst="rect">
            <a:avLst/>
          </a:prstGeom>
          <a:noFill/>
          <a:ln/>
        </p:spPr>
        <p:txBody>
          <a:bodyPr wrap="square" lIns="0" tIns="0" rIns="0" bIns="0" rtlCol="0" anchor="t"/>
          <a:lstStyle/>
          <a:p>
            <a:pPr indent="0" marL="0">
              <a:buNone/>
            </a:pPr>
            <a:r>
              <a:rPr lang="en-US" sz="1800" b="1" dirty="0">
                <a:solidFill>
                  <a:schemeClr val="tx1"/>
                </a:solidFill>
              </a:rPr>
              <a:t>Quality score</a:t>
            </a:r>
            <a:endParaRPr lang="en-US" sz="1800" dirty="0"/>
          </a:p>
        </p:txBody>
      </p:sp>
      <p:sp>
        <p:nvSpPr>
          <p:cNvPr id="23" name="Text 16"/>
          <p:cNvSpPr txBox="1"/>
          <p:nvPr/>
        </p:nvSpPr>
        <p:spPr>
          <a:xfrm>
            <a:off x="9281160" y="2852928"/>
            <a:ext cx="2148840" cy="777240"/>
          </a:xfrm>
          <a:prstGeom prst="rect">
            <a:avLst/>
          </a:prstGeom>
          <a:noFill/>
          <a:ln/>
        </p:spPr>
        <p:txBody>
          <a:bodyPr wrap="square" lIns="0" tIns="0" rIns="0" bIns="0" rtlCol="0" anchor="t"/>
          <a:lstStyle/>
          <a:p>
            <a:pPr indent="0" marL="0">
              <a:buNone/>
            </a:pPr>
            <a:r>
              <a:rPr lang="en-US" sz="1400" dirty="0">
                <a:solidFill>
                  <a:srgbClr val="5A5F7D"/>
                </a:solidFill>
              </a:rPr>
              <a:t>A 0 to 100 score with practical tips</a:t>
            </a:r>
            <a:endParaRPr lang="en-US" sz="1400" dirty="0"/>
          </a:p>
        </p:txBody>
      </p:sp>
      <p:sp>
        <p:nvSpPr>
          <p:cNvPr id="24" name="Tool card Tone detector"/>
          <p:cNvSpPr/>
          <p:nvPr/>
        </p:nvSpPr>
        <p:spPr>
          <a:xfrm>
            <a:off x="548640" y="3931920"/>
            <a:ext cx="2606040" cy="2240280"/>
          </a:xfrm>
          <a:prstGeom prst="roundRect">
            <a:avLst>
              <a:gd name="adj" fmla="val 571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25" name="Tone detector icon background"/>
          <p:cNvSpPr/>
          <p:nvPr/>
        </p:nvSpPr>
        <p:spPr>
          <a:xfrm>
            <a:off x="804672" y="4187952"/>
            <a:ext cx="658368" cy="658368"/>
          </a:xfrm>
          <a:prstGeom prst="ellipse">
            <a:avLst/>
          </a:prstGeom>
          <a:solidFill>
            <a:schemeClr val="accent1"/>
          </a:solidFill>
          <a:ln w="12700">
            <a:solidFill>
              <a:schemeClr val="accent1"/>
            </a:solidFill>
            <a:prstDash val="solid"/>
          </a:ln>
        </p:spPr>
      </p:sp>
      <p:pic>
        <p:nvPicPr>
          <p:cNvPr id="26" name="Tone detector icon" descr="Tone detector icon">    </p:cNvPr>
          <p:cNvPicPr>
            <a:picLocks noChangeAspect="1"/>
          </p:cNvPicPr>
          <p:nvPr/>
        </p:nvPicPr>
        <p:blipFill>
          <a:blip r:embed="rId5"/>
          <a:stretch>
            <a:fillRect/>
          </a:stretch>
        </p:blipFill>
        <p:spPr>
          <a:xfrm>
            <a:off x="969264" y="4352544"/>
            <a:ext cx="329184" cy="329184"/>
          </a:xfrm>
          <a:prstGeom prst="rect">
            <a:avLst/>
          </a:prstGeom>
        </p:spPr>
      </p:pic>
      <p:sp>
        <p:nvSpPr>
          <p:cNvPr id="27" name="Text 19"/>
          <p:cNvSpPr txBox="1"/>
          <p:nvPr/>
        </p:nvSpPr>
        <p:spPr>
          <a:xfrm>
            <a:off x="804672" y="4937760"/>
            <a:ext cx="2194560" cy="365760"/>
          </a:xfrm>
          <a:prstGeom prst="rect">
            <a:avLst/>
          </a:prstGeom>
          <a:noFill/>
          <a:ln/>
        </p:spPr>
        <p:txBody>
          <a:bodyPr wrap="square" lIns="0" tIns="0" rIns="0" bIns="0" rtlCol="0" anchor="t"/>
          <a:lstStyle/>
          <a:p>
            <a:pPr indent="0" marL="0">
              <a:buNone/>
            </a:pPr>
            <a:r>
              <a:rPr lang="en-US" sz="1800" b="1" dirty="0">
                <a:solidFill>
                  <a:schemeClr val="tx1"/>
                </a:solidFill>
              </a:rPr>
              <a:t>Tone detector</a:t>
            </a:r>
            <a:endParaRPr lang="en-US" sz="1800" dirty="0"/>
          </a:p>
        </p:txBody>
      </p:sp>
      <p:sp>
        <p:nvSpPr>
          <p:cNvPr id="28" name="Text 20"/>
          <p:cNvSpPr txBox="1"/>
          <p:nvPr/>
        </p:nvSpPr>
        <p:spPr>
          <a:xfrm>
            <a:off x="804672" y="5321808"/>
            <a:ext cx="2148840" cy="777240"/>
          </a:xfrm>
          <a:prstGeom prst="rect">
            <a:avLst/>
          </a:prstGeom>
          <a:noFill/>
          <a:ln/>
        </p:spPr>
        <p:txBody>
          <a:bodyPr wrap="square" lIns="0" tIns="0" rIns="0" bIns="0" rtlCol="0" anchor="t"/>
          <a:lstStyle/>
          <a:p>
            <a:pPr indent="0" marL="0">
              <a:buNone/>
            </a:pPr>
            <a:r>
              <a:rPr lang="en-US" sz="1400" dirty="0">
                <a:solidFill>
                  <a:srgbClr val="5A5F7D"/>
                </a:solidFill>
              </a:rPr>
              <a:t>Percentages across four tones</a:t>
            </a:r>
            <a:endParaRPr lang="en-US" sz="1400" dirty="0"/>
          </a:p>
        </p:txBody>
      </p:sp>
      <p:sp>
        <p:nvSpPr>
          <p:cNvPr id="29" name="Tool card Grammar fix"/>
          <p:cNvSpPr/>
          <p:nvPr/>
        </p:nvSpPr>
        <p:spPr>
          <a:xfrm>
            <a:off x="3374136" y="3931920"/>
            <a:ext cx="2606040" cy="2240280"/>
          </a:xfrm>
          <a:prstGeom prst="roundRect">
            <a:avLst>
              <a:gd name="adj" fmla="val 571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30" name="Grammar fix icon background"/>
          <p:cNvSpPr/>
          <p:nvPr/>
        </p:nvSpPr>
        <p:spPr>
          <a:xfrm>
            <a:off x="3630168" y="4187952"/>
            <a:ext cx="658368" cy="658368"/>
          </a:xfrm>
          <a:prstGeom prst="ellipse">
            <a:avLst/>
          </a:prstGeom>
          <a:solidFill>
            <a:schemeClr val="accent2"/>
          </a:solidFill>
          <a:ln w="12700">
            <a:solidFill>
              <a:schemeClr val="accent2"/>
            </a:solidFill>
            <a:prstDash val="solid"/>
          </a:ln>
        </p:spPr>
      </p:sp>
      <p:pic>
        <p:nvPicPr>
          <p:cNvPr id="31" name="Grammar fix icon" descr="Grammar fix icon">    </p:cNvPr>
          <p:cNvPicPr>
            <a:picLocks noChangeAspect="1"/>
          </p:cNvPicPr>
          <p:nvPr/>
        </p:nvPicPr>
        <p:blipFill>
          <a:blip r:embed="rId6"/>
          <a:stretch>
            <a:fillRect/>
          </a:stretch>
        </p:blipFill>
        <p:spPr>
          <a:xfrm>
            <a:off x="3794760" y="4352544"/>
            <a:ext cx="329184" cy="329184"/>
          </a:xfrm>
          <a:prstGeom prst="rect">
            <a:avLst/>
          </a:prstGeom>
        </p:spPr>
      </p:pic>
      <p:sp>
        <p:nvSpPr>
          <p:cNvPr id="32" name="Text 23"/>
          <p:cNvSpPr txBox="1"/>
          <p:nvPr/>
        </p:nvSpPr>
        <p:spPr>
          <a:xfrm>
            <a:off x="3630168" y="4937760"/>
            <a:ext cx="2194560" cy="365760"/>
          </a:xfrm>
          <a:prstGeom prst="rect">
            <a:avLst/>
          </a:prstGeom>
          <a:noFill/>
          <a:ln/>
        </p:spPr>
        <p:txBody>
          <a:bodyPr wrap="square" lIns="0" tIns="0" rIns="0" bIns="0" rtlCol="0" anchor="t"/>
          <a:lstStyle/>
          <a:p>
            <a:pPr indent="0" marL="0">
              <a:buNone/>
            </a:pPr>
            <a:r>
              <a:rPr lang="en-US" sz="1800" b="1" dirty="0">
                <a:solidFill>
                  <a:schemeClr val="tx1"/>
                </a:solidFill>
              </a:rPr>
              <a:t>Grammar fix</a:t>
            </a:r>
            <a:endParaRPr lang="en-US" sz="1800" dirty="0"/>
          </a:p>
        </p:txBody>
      </p:sp>
      <p:sp>
        <p:nvSpPr>
          <p:cNvPr id="33" name="Text 24"/>
          <p:cNvSpPr txBox="1"/>
          <p:nvPr/>
        </p:nvSpPr>
        <p:spPr>
          <a:xfrm>
            <a:off x="3630168" y="5321808"/>
            <a:ext cx="2148840" cy="777240"/>
          </a:xfrm>
          <a:prstGeom prst="rect">
            <a:avLst/>
          </a:prstGeom>
          <a:noFill/>
          <a:ln/>
        </p:spPr>
        <p:txBody>
          <a:bodyPr wrap="square" lIns="0" tIns="0" rIns="0" bIns="0" rtlCol="0" anchor="t"/>
          <a:lstStyle/>
          <a:p>
            <a:pPr indent="0" marL="0">
              <a:buNone/>
            </a:pPr>
            <a:r>
              <a:rPr lang="en-US" sz="1400" dirty="0">
                <a:solidFill>
                  <a:srgbClr val="5A5F7D"/>
                </a:solidFill>
              </a:rPr>
              <a:t>Corrects spelling and punctuation only</a:t>
            </a:r>
            <a:endParaRPr lang="en-US" sz="1400" dirty="0"/>
          </a:p>
        </p:txBody>
      </p:sp>
      <p:sp>
        <p:nvSpPr>
          <p:cNvPr id="34" name="Tool card Thread summary"/>
          <p:cNvSpPr/>
          <p:nvPr/>
        </p:nvSpPr>
        <p:spPr>
          <a:xfrm>
            <a:off x="6199632" y="3931920"/>
            <a:ext cx="2606040" cy="2240280"/>
          </a:xfrm>
          <a:prstGeom prst="roundRect">
            <a:avLst>
              <a:gd name="adj" fmla="val 571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35" name="Thread summary icon background"/>
          <p:cNvSpPr/>
          <p:nvPr/>
        </p:nvSpPr>
        <p:spPr>
          <a:xfrm>
            <a:off x="6455664" y="4187952"/>
            <a:ext cx="658368" cy="658368"/>
          </a:xfrm>
          <a:prstGeom prst="ellipse">
            <a:avLst/>
          </a:prstGeom>
          <a:solidFill>
            <a:schemeClr val="accent6"/>
          </a:solidFill>
          <a:ln w="12700">
            <a:solidFill>
              <a:schemeClr val="accent6"/>
            </a:solidFill>
            <a:prstDash val="solid"/>
          </a:ln>
        </p:spPr>
      </p:sp>
      <p:pic>
        <p:nvPicPr>
          <p:cNvPr id="36" name="Thread summary icon" descr="Thread summary icon">    </p:cNvPr>
          <p:cNvPicPr>
            <a:picLocks noChangeAspect="1"/>
          </p:cNvPicPr>
          <p:nvPr/>
        </p:nvPicPr>
        <p:blipFill>
          <a:blip r:embed="rId7"/>
          <a:stretch>
            <a:fillRect/>
          </a:stretch>
        </p:blipFill>
        <p:spPr>
          <a:xfrm>
            <a:off x="6620256" y="4352544"/>
            <a:ext cx="329184" cy="329184"/>
          </a:xfrm>
          <a:prstGeom prst="rect">
            <a:avLst/>
          </a:prstGeom>
        </p:spPr>
      </p:pic>
      <p:sp>
        <p:nvSpPr>
          <p:cNvPr id="37" name="Text 27"/>
          <p:cNvSpPr txBox="1"/>
          <p:nvPr/>
        </p:nvSpPr>
        <p:spPr>
          <a:xfrm>
            <a:off x="6455664" y="4937760"/>
            <a:ext cx="2194560" cy="365760"/>
          </a:xfrm>
          <a:prstGeom prst="rect">
            <a:avLst/>
          </a:prstGeom>
          <a:noFill/>
          <a:ln/>
        </p:spPr>
        <p:txBody>
          <a:bodyPr wrap="square" lIns="0" tIns="0" rIns="0" bIns="0" rtlCol="0" anchor="t"/>
          <a:lstStyle/>
          <a:p>
            <a:pPr indent="0" marL="0">
              <a:buNone/>
            </a:pPr>
            <a:r>
              <a:rPr lang="en-US" sz="1800" b="1" dirty="0">
                <a:solidFill>
                  <a:schemeClr val="tx1"/>
                </a:solidFill>
              </a:rPr>
              <a:t>Thread summary</a:t>
            </a:r>
            <a:endParaRPr lang="en-US" sz="1800" dirty="0"/>
          </a:p>
        </p:txBody>
      </p:sp>
      <p:sp>
        <p:nvSpPr>
          <p:cNvPr id="38" name="Text 28"/>
          <p:cNvSpPr txBox="1"/>
          <p:nvPr/>
        </p:nvSpPr>
        <p:spPr>
          <a:xfrm>
            <a:off x="6455664" y="5321808"/>
            <a:ext cx="2148840" cy="777240"/>
          </a:xfrm>
          <a:prstGeom prst="rect">
            <a:avLst/>
          </a:prstGeom>
          <a:noFill/>
          <a:ln/>
        </p:spPr>
        <p:txBody>
          <a:bodyPr wrap="square" lIns="0" tIns="0" rIns="0" bIns="0" rtlCol="0" anchor="t"/>
          <a:lstStyle/>
          <a:p>
            <a:pPr indent="0" marL="0">
              <a:buNone/>
            </a:pPr>
            <a:r>
              <a:rPr lang="en-US" sz="1400" dirty="0">
                <a:solidFill>
                  <a:srgbClr val="5A5F7D"/>
                </a:solidFill>
              </a:rPr>
              <a:t>Gist, questions and deadlines in a long thread</a:t>
            </a:r>
            <a:endParaRPr lang="en-US" sz="1400" dirty="0"/>
          </a:p>
        </p:txBody>
      </p:sp>
      <p:sp>
        <p:nvSpPr>
          <p:cNvPr id="39" name="Tool card Quick refine"/>
          <p:cNvSpPr/>
          <p:nvPr/>
        </p:nvSpPr>
        <p:spPr>
          <a:xfrm>
            <a:off x="9025128" y="3931920"/>
            <a:ext cx="2606040" cy="2240280"/>
          </a:xfrm>
          <a:prstGeom prst="roundRect">
            <a:avLst>
              <a:gd name="adj" fmla="val 5714"/>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40" name="Quick refine icon background"/>
          <p:cNvSpPr/>
          <p:nvPr/>
        </p:nvSpPr>
        <p:spPr>
          <a:xfrm>
            <a:off x="9281160" y="4187952"/>
            <a:ext cx="658368" cy="658368"/>
          </a:xfrm>
          <a:prstGeom prst="ellipse">
            <a:avLst/>
          </a:prstGeom>
          <a:solidFill>
            <a:schemeClr val="accent5"/>
          </a:solidFill>
          <a:ln w="12700">
            <a:solidFill>
              <a:schemeClr val="accent5"/>
            </a:solidFill>
            <a:prstDash val="solid"/>
          </a:ln>
        </p:spPr>
      </p:sp>
      <p:pic>
        <p:nvPicPr>
          <p:cNvPr id="41" name="Quick refine icon" descr="Quick refine icon">    </p:cNvPr>
          <p:cNvPicPr>
            <a:picLocks noChangeAspect="1"/>
          </p:cNvPicPr>
          <p:nvPr/>
        </p:nvPicPr>
        <p:blipFill>
          <a:blip r:embed="rId8"/>
          <a:stretch>
            <a:fillRect/>
          </a:stretch>
        </p:blipFill>
        <p:spPr>
          <a:xfrm>
            <a:off x="9445752" y="4352544"/>
            <a:ext cx="329184" cy="329184"/>
          </a:xfrm>
          <a:prstGeom prst="rect">
            <a:avLst/>
          </a:prstGeom>
        </p:spPr>
      </p:pic>
      <p:sp>
        <p:nvSpPr>
          <p:cNvPr id="42" name="Text 31"/>
          <p:cNvSpPr txBox="1"/>
          <p:nvPr/>
        </p:nvSpPr>
        <p:spPr>
          <a:xfrm>
            <a:off x="9281160" y="4937760"/>
            <a:ext cx="2194560" cy="365760"/>
          </a:xfrm>
          <a:prstGeom prst="rect">
            <a:avLst/>
          </a:prstGeom>
          <a:noFill/>
          <a:ln/>
        </p:spPr>
        <p:txBody>
          <a:bodyPr wrap="square" lIns="0" tIns="0" rIns="0" bIns="0" rtlCol="0" anchor="t"/>
          <a:lstStyle/>
          <a:p>
            <a:pPr indent="0" marL="0">
              <a:buNone/>
            </a:pPr>
            <a:r>
              <a:rPr lang="en-US" sz="1800" b="1" dirty="0">
                <a:solidFill>
                  <a:schemeClr val="tx1"/>
                </a:solidFill>
              </a:rPr>
              <a:t>Quick refine</a:t>
            </a:r>
            <a:endParaRPr lang="en-US" sz="1800" dirty="0"/>
          </a:p>
        </p:txBody>
      </p:sp>
      <p:sp>
        <p:nvSpPr>
          <p:cNvPr id="43" name="Text 32"/>
          <p:cNvSpPr txBox="1"/>
          <p:nvPr/>
        </p:nvSpPr>
        <p:spPr>
          <a:xfrm>
            <a:off x="9281160" y="5321808"/>
            <a:ext cx="2148840" cy="777240"/>
          </a:xfrm>
          <a:prstGeom prst="rect">
            <a:avLst/>
          </a:prstGeom>
          <a:noFill/>
          <a:ln/>
        </p:spPr>
        <p:txBody>
          <a:bodyPr wrap="square" lIns="0" tIns="0" rIns="0" bIns="0" rtlCol="0" anchor="t"/>
          <a:lstStyle/>
          <a:p>
            <a:pPr indent="0" marL="0">
              <a:buNone/>
            </a:pPr>
            <a:r>
              <a:rPr lang="en-US" sz="1400" dirty="0">
                <a:solidFill>
                  <a:srgbClr val="5A5F7D"/>
                </a:solidFill>
              </a:rPr>
              <a:t>Shorter, longer or translate to Urdu</a:t>
            </a:r>
            <a:endParaRPr lang="en-US" sz="1400" dirty="0"/>
          </a:p>
        </p:txBody>
      </p:sp>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1"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The AI tools in action</a:t>
            </a:r>
            <a:endParaRPr lang="en-US" sz="3400" dirty="0"/>
          </a:p>
        </p:txBody>
      </p:sp>
      <p:sp>
        <p:nvSpPr>
          <p:cNvPr id="4" name="Tool panel 1"/>
          <p:cNvSpPr/>
          <p:nvPr/>
        </p:nvSpPr>
        <p:spPr>
          <a:xfrm>
            <a:off x="548640" y="1417320"/>
            <a:ext cx="3557016" cy="3611880"/>
          </a:xfrm>
          <a:prstGeom prst="roundRect">
            <a:avLst>
              <a:gd name="adj" fmla="val 3599"/>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5" name="Text 2"/>
          <p:cNvSpPr txBox="1"/>
          <p:nvPr/>
        </p:nvSpPr>
        <p:spPr>
          <a:xfrm>
            <a:off x="777240" y="1600200"/>
            <a:ext cx="3108960" cy="365760"/>
          </a:xfrm>
          <a:prstGeom prst="rect">
            <a:avLst/>
          </a:prstGeom>
          <a:noFill/>
          <a:ln/>
        </p:spPr>
        <p:txBody>
          <a:bodyPr wrap="square" lIns="0" tIns="0" rIns="0" bIns="0" rtlCol="0" anchor="t"/>
          <a:lstStyle/>
          <a:p>
            <a:pPr indent="0" marL="0">
              <a:buNone/>
            </a:pPr>
            <a:r>
              <a:rPr lang="en-US" sz="1800" b="1" dirty="0">
                <a:solidFill>
                  <a:schemeClr val="tx1"/>
                </a:solidFill>
              </a:rPr>
              <a:t>Subject suggestions</a:t>
            </a:r>
            <a:endParaRPr lang="en-US" sz="1800" dirty="0"/>
          </a:p>
        </p:txBody>
      </p:sp>
      <p:sp>
        <p:nvSpPr>
          <p:cNvPr id="6" name="Text 3"/>
          <p:cNvSpPr txBox="1"/>
          <p:nvPr/>
        </p:nvSpPr>
        <p:spPr>
          <a:xfrm>
            <a:off x="777240" y="1984248"/>
            <a:ext cx="3108960" cy="320040"/>
          </a:xfrm>
          <a:prstGeom prst="rect">
            <a:avLst/>
          </a:prstGeom>
          <a:noFill/>
          <a:ln/>
        </p:spPr>
        <p:txBody>
          <a:bodyPr wrap="square" lIns="0" tIns="0" rIns="0" bIns="0" rtlCol="0" anchor="t"/>
          <a:lstStyle/>
          <a:p>
            <a:pPr indent="0" marL="0">
              <a:buNone/>
            </a:pPr>
            <a:r>
              <a:rPr lang="en-US" sz="1400" dirty="0">
                <a:solidFill>
                  <a:srgbClr val="5A5F7D"/>
                </a:solidFill>
              </a:rPr>
              <a:t>Three options, one click to apply</a:t>
            </a:r>
            <a:endParaRPr lang="en-US" sz="1400" dirty="0"/>
          </a:p>
        </p:txBody>
      </p:sp>
      <p:sp>
        <p:nvSpPr>
          <p:cNvPr id="7" name="Tool panel 2"/>
          <p:cNvSpPr/>
          <p:nvPr/>
        </p:nvSpPr>
        <p:spPr>
          <a:xfrm>
            <a:off x="4315968" y="1417320"/>
            <a:ext cx="3557016" cy="3611880"/>
          </a:xfrm>
          <a:prstGeom prst="roundRect">
            <a:avLst>
              <a:gd name="adj" fmla="val 3599"/>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8" name="Text 5"/>
          <p:cNvSpPr txBox="1"/>
          <p:nvPr/>
        </p:nvSpPr>
        <p:spPr>
          <a:xfrm>
            <a:off x="4544568" y="1600200"/>
            <a:ext cx="3108960" cy="365760"/>
          </a:xfrm>
          <a:prstGeom prst="rect">
            <a:avLst/>
          </a:prstGeom>
          <a:noFill/>
          <a:ln/>
        </p:spPr>
        <p:txBody>
          <a:bodyPr wrap="square" lIns="0" tIns="0" rIns="0" bIns="0" rtlCol="0" anchor="t"/>
          <a:lstStyle/>
          <a:p>
            <a:pPr indent="0" marL="0">
              <a:buNone/>
            </a:pPr>
            <a:r>
              <a:rPr lang="en-US" sz="1800" b="1" dirty="0">
                <a:solidFill>
                  <a:schemeClr val="tx1"/>
                </a:solidFill>
              </a:rPr>
              <a:t>Quality score and tips</a:t>
            </a:r>
            <a:endParaRPr lang="en-US" sz="1800" dirty="0"/>
          </a:p>
        </p:txBody>
      </p:sp>
      <p:sp>
        <p:nvSpPr>
          <p:cNvPr id="9" name="Text 6"/>
          <p:cNvSpPr txBox="1"/>
          <p:nvPr/>
        </p:nvSpPr>
        <p:spPr>
          <a:xfrm>
            <a:off x="4544568" y="1984248"/>
            <a:ext cx="3108960" cy="320040"/>
          </a:xfrm>
          <a:prstGeom prst="rect">
            <a:avLst/>
          </a:prstGeom>
          <a:noFill/>
          <a:ln/>
        </p:spPr>
        <p:txBody>
          <a:bodyPr wrap="square" lIns="0" tIns="0" rIns="0" bIns="0" rtlCol="0" anchor="t"/>
          <a:lstStyle/>
          <a:p>
            <a:pPr indent="0" marL="0">
              <a:buNone/>
            </a:pPr>
            <a:r>
              <a:rPr lang="en-US" sz="1400" dirty="0">
                <a:solidFill>
                  <a:srgbClr val="5A5F7D"/>
                </a:solidFill>
              </a:rPr>
              <a:t>A score, a verdict and what to improve</a:t>
            </a:r>
            <a:endParaRPr lang="en-US" sz="1400" dirty="0"/>
          </a:p>
        </p:txBody>
      </p:sp>
      <p:sp>
        <p:nvSpPr>
          <p:cNvPr id="10" name="Tool panel 3"/>
          <p:cNvSpPr/>
          <p:nvPr/>
        </p:nvSpPr>
        <p:spPr>
          <a:xfrm>
            <a:off x="8083296" y="1417320"/>
            <a:ext cx="3557016" cy="3611880"/>
          </a:xfrm>
          <a:prstGeom prst="roundRect">
            <a:avLst>
              <a:gd name="adj" fmla="val 3599"/>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11" name="Text 8"/>
          <p:cNvSpPr txBox="1"/>
          <p:nvPr/>
        </p:nvSpPr>
        <p:spPr>
          <a:xfrm>
            <a:off x="8311896" y="1600200"/>
            <a:ext cx="3108960" cy="365760"/>
          </a:xfrm>
          <a:prstGeom prst="rect">
            <a:avLst/>
          </a:prstGeom>
          <a:noFill/>
          <a:ln/>
        </p:spPr>
        <p:txBody>
          <a:bodyPr wrap="square" lIns="0" tIns="0" rIns="0" bIns="0" rtlCol="0" anchor="t"/>
          <a:lstStyle/>
          <a:p>
            <a:pPr indent="0" marL="0">
              <a:buNone/>
            </a:pPr>
            <a:r>
              <a:rPr lang="en-US" sz="1800" b="1" dirty="0">
                <a:solidFill>
                  <a:schemeClr val="tx1"/>
                </a:solidFill>
              </a:rPr>
              <a:t>Tone detector</a:t>
            </a:r>
            <a:endParaRPr lang="en-US" sz="1800" dirty="0"/>
          </a:p>
        </p:txBody>
      </p:sp>
      <p:sp>
        <p:nvSpPr>
          <p:cNvPr id="12" name="Text 9"/>
          <p:cNvSpPr txBox="1"/>
          <p:nvPr/>
        </p:nvSpPr>
        <p:spPr>
          <a:xfrm>
            <a:off x="8311896" y="1984248"/>
            <a:ext cx="3108960" cy="320040"/>
          </a:xfrm>
          <a:prstGeom prst="rect">
            <a:avLst/>
          </a:prstGeom>
          <a:noFill/>
          <a:ln/>
        </p:spPr>
        <p:txBody>
          <a:bodyPr wrap="square" lIns="0" tIns="0" rIns="0" bIns="0" rtlCol="0" anchor="t"/>
          <a:lstStyle/>
          <a:p>
            <a:pPr indent="0" marL="0">
              <a:buNone/>
            </a:pPr>
            <a:r>
              <a:rPr lang="en-US" sz="1400" dirty="0">
                <a:solidFill>
                  <a:srgbClr val="5A5F7D"/>
                </a:solidFill>
              </a:rPr>
              <a:t>How formal, friendly or confident it sounds</a:t>
            </a:r>
            <a:endParaRPr lang="en-US" sz="1400" dirty="0"/>
          </a:p>
        </p:txBody>
      </p:sp>
      <p:pic>
        <p:nvPicPr>
          <p:cNvPr id="13" name="Subject line suggestions panel" descr="Subject line suggestions panel">    </p:cNvPr>
          <p:cNvPicPr>
            <a:picLocks noChangeAspect="1"/>
          </p:cNvPicPr>
          <p:nvPr/>
        </p:nvPicPr>
        <p:blipFill>
          <a:blip r:embed="rId1"/>
          <a:stretch>
            <a:fillRect/>
          </a:stretch>
        </p:blipFill>
        <p:spPr>
          <a:xfrm>
            <a:off x="777240" y="2560320"/>
            <a:ext cx="3099816" cy="1014008"/>
          </a:xfrm>
          <a:prstGeom prst="rect">
            <a:avLst/>
          </a:prstGeom>
        </p:spPr>
      </p:pic>
      <p:pic>
        <p:nvPicPr>
          <p:cNvPr id="14" name="AI quality score ring" descr="AI quality score ring">    </p:cNvPr>
          <p:cNvPicPr>
            <a:picLocks noChangeAspect="1"/>
          </p:cNvPicPr>
          <p:nvPr/>
        </p:nvPicPr>
        <p:blipFill>
          <a:blip r:embed="rId2"/>
          <a:stretch>
            <a:fillRect/>
          </a:stretch>
        </p:blipFill>
        <p:spPr>
          <a:xfrm>
            <a:off x="4544568" y="2560320"/>
            <a:ext cx="3099816" cy="467599"/>
          </a:xfrm>
          <a:prstGeom prst="rect">
            <a:avLst/>
          </a:prstGeom>
        </p:spPr>
      </p:pic>
      <p:pic>
        <p:nvPicPr>
          <p:cNvPr id="15" name="Quality tips panel" descr="Quality tips panel">    </p:cNvPr>
          <p:cNvPicPr>
            <a:picLocks noChangeAspect="1"/>
          </p:cNvPicPr>
          <p:nvPr/>
        </p:nvPicPr>
        <p:blipFill>
          <a:blip r:embed="rId3"/>
          <a:stretch>
            <a:fillRect/>
          </a:stretch>
        </p:blipFill>
        <p:spPr>
          <a:xfrm>
            <a:off x="4544568" y="3210799"/>
            <a:ext cx="3099816" cy="609455"/>
          </a:xfrm>
          <a:prstGeom prst="rect">
            <a:avLst/>
          </a:prstGeom>
        </p:spPr>
      </p:pic>
      <p:pic>
        <p:nvPicPr>
          <p:cNvPr id="16" name="Tone detector panel" descr="Tone detector panel">    </p:cNvPr>
          <p:cNvPicPr>
            <a:picLocks noChangeAspect="1"/>
          </p:cNvPicPr>
          <p:nvPr/>
        </p:nvPicPr>
        <p:blipFill>
          <a:blip r:embed="rId4"/>
          <a:stretch>
            <a:fillRect/>
          </a:stretch>
        </p:blipFill>
        <p:spPr>
          <a:xfrm>
            <a:off x="8311896" y="2560320"/>
            <a:ext cx="3099816" cy="1008754"/>
          </a:xfrm>
          <a:prstGeom prst="rect">
            <a:avLst/>
          </a:prstGeom>
        </p:spPr>
      </p:pic>
      <p:sp>
        <p:nvSpPr>
          <p:cNvPr id="17" name="Tools callout"/>
          <p:cNvSpPr/>
          <p:nvPr/>
        </p:nvSpPr>
        <p:spPr>
          <a:xfrm>
            <a:off x="548640" y="5257800"/>
            <a:ext cx="11091672" cy="960120"/>
          </a:xfrm>
          <a:prstGeom prst="roundRect">
            <a:avLst>
              <a:gd name="adj" fmla="val 13333"/>
            </a:avLst>
          </a:prstGeom>
          <a:solidFill>
            <a:schemeClr val="tx2"/>
          </a:solidFill>
          <a:ln w="12700">
            <a:solidFill>
              <a:schemeClr val="tx2"/>
            </a:solidFill>
            <a:prstDash val="solid"/>
          </a:ln>
        </p:spPr>
      </p:sp>
      <p:sp>
        <p:nvSpPr>
          <p:cNvPr id="18" name="Text 11"/>
          <p:cNvSpPr txBox="1"/>
          <p:nvPr/>
        </p:nvSpPr>
        <p:spPr>
          <a:xfrm>
            <a:off x="822960" y="5257800"/>
            <a:ext cx="10515600" cy="960120"/>
          </a:xfrm>
          <a:prstGeom prst="rect">
            <a:avLst/>
          </a:prstGeom>
          <a:noFill/>
          <a:ln/>
        </p:spPr>
        <p:txBody>
          <a:bodyPr wrap="square" lIns="0" tIns="0" rIns="0" bIns="0" rtlCol="0" anchor="ctr"/>
          <a:lstStyle/>
          <a:p>
            <a:pPr indent="0" marL="0">
              <a:buNone/>
            </a:pPr>
            <a:r>
              <a:rPr lang="en-US" sz="1600" dirty="0">
                <a:solidFill>
                  <a:schemeClr val="bg1"/>
                </a:solidFill>
              </a:rPr>
              <a:t>Each tool is a single API call: /subjects, /analyze and /tone. The quality score is saved with the email, so it is still there when you reopen it from history.</a:t>
            </a:r>
            <a:endParaRPr lang="en-US" sz="1600" dirty="0"/>
          </a:p>
        </p:txBody>
      </p:sp>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1"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Prompt design and AI integration</a:t>
            </a:r>
            <a:endParaRPr lang="en-US" sz="3400" dirty="0"/>
          </a:p>
        </p:txBody>
      </p:sp>
      <p:sp>
        <p:nvSpPr>
          <p:cNvPr id="4" name="Prompt step 1 background"/>
          <p:cNvSpPr/>
          <p:nvPr/>
        </p:nvSpPr>
        <p:spPr>
          <a:xfrm>
            <a:off x="548640" y="1463040"/>
            <a:ext cx="566928" cy="566928"/>
          </a:xfrm>
          <a:prstGeom prst="ellipse">
            <a:avLst/>
          </a:prstGeom>
          <a:solidFill>
            <a:schemeClr val="accent1"/>
          </a:solidFill>
          <a:ln w="12700">
            <a:solidFill>
              <a:schemeClr val="accent1"/>
            </a:solidFill>
            <a:prstDash val="solid"/>
          </a:ln>
        </p:spPr>
      </p:sp>
      <p:sp>
        <p:nvSpPr>
          <p:cNvPr id="5" name="Text 2"/>
          <p:cNvSpPr txBox="1"/>
          <p:nvPr/>
        </p:nvSpPr>
        <p:spPr>
          <a:xfrm>
            <a:off x="548640" y="14630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1</a:t>
            </a:r>
            <a:endParaRPr lang="en-US" sz="2000" dirty="0"/>
          </a:p>
        </p:txBody>
      </p:sp>
      <p:sp>
        <p:nvSpPr>
          <p:cNvPr id="6" name="Text 3"/>
          <p:cNvSpPr txBox="1"/>
          <p:nvPr/>
        </p:nvSpPr>
        <p:spPr>
          <a:xfrm>
            <a:off x="1325880" y="1426464"/>
            <a:ext cx="3840480" cy="329184"/>
          </a:xfrm>
          <a:prstGeom prst="rect">
            <a:avLst/>
          </a:prstGeom>
          <a:noFill/>
          <a:ln/>
        </p:spPr>
        <p:txBody>
          <a:bodyPr wrap="square" lIns="0" tIns="0" rIns="0" bIns="0" rtlCol="0" anchor="t"/>
          <a:lstStyle/>
          <a:p>
            <a:pPr indent="0" marL="0">
              <a:buNone/>
            </a:pPr>
            <a:r>
              <a:rPr lang="en-US" sz="1800" b="1" dirty="0">
                <a:solidFill>
                  <a:schemeClr val="tx1"/>
                </a:solidFill>
              </a:rPr>
              <a:t>System prompt</a:t>
            </a:r>
            <a:endParaRPr lang="en-US" sz="1800" dirty="0"/>
          </a:p>
        </p:txBody>
      </p:sp>
      <p:sp>
        <p:nvSpPr>
          <p:cNvPr id="7" name="Text 4"/>
          <p:cNvSpPr txBox="1"/>
          <p:nvPr/>
        </p:nvSpPr>
        <p:spPr>
          <a:xfrm>
            <a:off x="1325880" y="1792224"/>
            <a:ext cx="3840480" cy="457200"/>
          </a:xfrm>
          <a:prstGeom prst="rect">
            <a:avLst/>
          </a:prstGeom>
          <a:noFill/>
          <a:ln/>
        </p:spPr>
        <p:txBody>
          <a:bodyPr wrap="square" lIns="0" tIns="0" rIns="0" bIns="0" rtlCol="0" anchor="t"/>
          <a:lstStyle/>
          <a:p>
            <a:pPr indent="0" marL="0">
              <a:buNone/>
            </a:pPr>
            <a:r>
              <a:rPr lang="en-US" sz="1400" dirty="0">
                <a:solidFill>
                  <a:srgbClr val="5A5F7D"/>
                </a:solidFill>
              </a:rPr>
              <a:t>Sets the role and demands a JSON object</a:t>
            </a:r>
            <a:endParaRPr lang="en-US" sz="1400" dirty="0"/>
          </a:p>
        </p:txBody>
      </p:sp>
      <p:sp>
        <p:nvSpPr>
          <p:cNvPr id="8" name="Prompt step 2 background"/>
          <p:cNvSpPr/>
          <p:nvPr/>
        </p:nvSpPr>
        <p:spPr>
          <a:xfrm>
            <a:off x="548640" y="2487168"/>
            <a:ext cx="566928" cy="566928"/>
          </a:xfrm>
          <a:prstGeom prst="ellipse">
            <a:avLst/>
          </a:prstGeom>
          <a:solidFill>
            <a:schemeClr val="accent1"/>
          </a:solidFill>
          <a:ln w="12700">
            <a:solidFill>
              <a:schemeClr val="accent1"/>
            </a:solidFill>
            <a:prstDash val="solid"/>
          </a:ln>
        </p:spPr>
      </p:sp>
      <p:sp>
        <p:nvSpPr>
          <p:cNvPr id="9" name="Text 6"/>
          <p:cNvSpPr txBox="1"/>
          <p:nvPr/>
        </p:nvSpPr>
        <p:spPr>
          <a:xfrm>
            <a:off x="548640" y="2487168"/>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2</a:t>
            </a:r>
            <a:endParaRPr lang="en-US" sz="2000" dirty="0"/>
          </a:p>
        </p:txBody>
      </p:sp>
      <p:sp>
        <p:nvSpPr>
          <p:cNvPr id="10" name="Text 7"/>
          <p:cNvSpPr txBox="1"/>
          <p:nvPr/>
        </p:nvSpPr>
        <p:spPr>
          <a:xfrm>
            <a:off x="1325880" y="2450592"/>
            <a:ext cx="3840480" cy="329184"/>
          </a:xfrm>
          <a:prstGeom prst="rect">
            <a:avLst/>
          </a:prstGeom>
          <a:noFill/>
          <a:ln/>
        </p:spPr>
        <p:txBody>
          <a:bodyPr wrap="square" lIns="0" tIns="0" rIns="0" bIns="0" rtlCol="0" anchor="t"/>
          <a:lstStyle/>
          <a:p>
            <a:pPr indent="0" marL="0">
              <a:buNone/>
            </a:pPr>
            <a:r>
              <a:rPr lang="en-US" sz="1800" b="1" dirty="0">
                <a:solidFill>
                  <a:schemeClr val="tx1"/>
                </a:solidFill>
              </a:rPr>
              <a:t>User prompt</a:t>
            </a:r>
            <a:endParaRPr lang="en-US" sz="1800" dirty="0"/>
          </a:p>
        </p:txBody>
      </p:sp>
      <p:sp>
        <p:nvSpPr>
          <p:cNvPr id="11" name="Text 8"/>
          <p:cNvSpPr txBox="1"/>
          <p:nvPr/>
        </p:nvSpPr>
        <p:spPr>
          <a:xfrm>
            <a:off x="1325880" y="2816352"/>
            <a:ext cx="3840480" cy="457200"/>
          </a:xfrm>
          <a:prstGeom prst="rect">
            <a:avLst/>
          </a:prstGeom>
          <a:noFill/>
          <a:ln/>
        </p:spPr>
        <p:txBody>
          <a:bodyPr wrap="square" lIns="0" tIns="0" rIns="0" bIns="0" rtlCol="0" anchor="t"/>
          <a:lstStyle/>
          <a:p>
            <a:pPr indent="0" marL="0">
              <a:buNone/>
            </a:pPr>
            <a:r>
              <a:rPr lang="en-US" sz="1400" dirty="0">
                <a:solidFill>
                  <a:srgbClr val="5A5F7D"/>
                </a:solidFill>
              </a:rPr>
              <a:t>Recipient, purpose, tone guide, length guide</a:t>
            </a:r>
            <a:endParaRPr lang="en-US" sz="1400" dirty="0"/>
          </a:p>
        </p:txBody>
      </p:sp>
      <p:sp>
        <p:nvSpPr>
          <p:cNvPr id="12" name="Prompt step 3 background"/>
          <p:cNvSpPr/>
          <p:nvPr/>
        </p:nvSpPr>
        <p:spPr>
          <a:xfrm>
            <a:off x="548640" y="3511296"/>
            <a:ext cx="566928" cy="566928"/>
          </a:xfrm>
          <a:prstGeom prst="ellipse">
            <a:avLst/>
          </a:prstGeom>
          <a:solidFill>
            <a:schemeClr val="accent1"/>
          </a:solidFill>
          <a:ln w="12700">
            <a:solidFill>
              <a:schemeClr val="accent1"/>
            </a:solidFill>
            <a:prstDash val="solid"/>
          </a:ln>
        </p:spPr>
      </p:sp>
      <p:sp>
        <p:nvSpPr>
          <p:cNvPr id="13" name="Text 10"/>
          <p:cNvSpPr txBox="1"/>
          <p:nvPr/>
        </p:nvSpPr>
        <p:spPr>
          <a:xfrm>
            <a:off x="548640" y="3511296"/>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3</a:t>
            </a:r>
            <a:endParaRPr lang="en-US" sz="2000" dirty="0"/>
          </a:p>
        </p:txBody>
      </p:sp>
      <p:sp>
        <p:nvSpPr>
          <p:cNvPr id="14" name="Text 11"/>
          <p:cNvSpPr txBox="1"/>
          <p:nvPr/>
        </p:nvSpPr>
        <p:spPr>
          <a:xfrm>
            <a:off x="1325880" y="3474720"/>
            <a:ext cx="3840480" cy="329184"/>
          </a:xfrm>
          <a:prstGeom prst="rect">
            <a:avLst/>
          </a:prstGeom>
          <a:noFill/>
          <a:ln/>
        </p:spPr>
        <p:txBody>
          <a:bodyPr wrap="square" lIns="0" tIns="0" rIns="0" bIns="0" rtlCol="0" anchor="t"/>
          <a:lstStyle/>
          <a:p>
            <a:pPr indent="0" marL="0">
              <a:buNone/>
            </a:pPr>
            <a:r>
              <a:rPr lang="en-US" sz="1800" b="1" dirty="0">
                <a:solidFill>
                  <a:schemeClr val="tx1"/>
                </a:solidFill>
              </a:rPr>
              <a:t>JSON mode</a:t>
            </a:r>
            <a:endParaRPr lang="en-US" sz="1800" dirty="0"/>
          </a:p>
        </p:txBody>
      </p:sp>
      <p:sp>
        <p:nvSpPr>
          <p:cNvPr id="15" name="Text 12"/>
          <p:cNvSpPr txBox="1"/>
          <p:nvPr/>
        </p:nvSpPr>
        <p:spPr>
          <a:xfrm>
            <a:off x="1325880" y="3840480"/>
            <a:ext cx="3840480" cy="457200"/>
          </a:xfrm>
          <a:prstGeom prst="rect">
            <a:avLst/>
          </a:prstGeom>
          <a:noFill/>
          <a:ln/>
        </p:spPr>
        <p:txBody>
          <a:bodyPr wrap="square" lIns="0" tIns="0" rIns="0" bIns="0" rtlCol="0" anchor="t"/>
          <a:lstStyle/>
          <a:p>
            <a:pPr indent="0" marL="0">
              <a:buNone/>
            </a:pPr>
            <a:r>
              <a:rPr lang="en-US" sz="1400" dirty="0">
                <a:solidFill>
                  <a:srgbClr val="5A5F7D"/>
                </a:solidFill>
              </a:rPr>
              <a:t>Groq is asked for a JSON response</a:t>
            </a:r>
            <a:endParaRPr lang="en-US" sz="1400" dirty="0"/>
          </a:p>
        </p:txBody>
      </p:sp>
      <p:sp>
        <p:nvSpPr>
          <p:cNvPr id="16" name="Prompt step 4 background"/>
          <p:cNvSpPr/>
          <p:nvPr/>
        </p:nvSpPr>
        <p:spPr>
          <a:xfrm>
            <a:off x="548640" y="4535424"/>
            <a:ext cx="566928" cy="566928"/>
          </a:xfrm>
          <a:prstGeom prst="ellipse">
            <a:avLst/>
          </a:prstGeom>
          <a:solidFill>
            <a:schemeClr val="accent1"/>
          </a:solidFill>
          <a:ln w="12700">
            <a:solidFill>
              <a:schemeClr val="accent1"/>
            </a:solidFill>
            <a:prstDash val="solid"/>
          </a:ln>
        </p:spPr>
      </p:sp>
      <p:sp>
        <p:nvSpPr>
          <p:cNvPr id="17" name="Text 14"/>
          <p:cNvSpPr txBox="1"/>
          <p:nvPr/>
        </p:nvSpPr>
        <p:spPr>
          <a:xfrm>
            <a:off x="548640" y="4535424"/>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4</a:t>
            </a:r>
            <a:endParaRPr lang="en-US" sz="2000" dirty="0"/>
          </a:p>
        </p:txBody>
      </p:sp>
      <p:sp>
        <p:nvSpPr>
          <p:cNvPr id="18" name="Text 15"/>
          <p:cNvSpPr txBox="1"/>
          <p:nvPr/>
        </p:nvSpPr>
        <p:spPr>
          <a:xfrm>
            <a:off x="1325880" y="4498848"/>
            <a:ext cx="3840480" cy="329184"/>
          </a:xfrm>
          <a:prstGeom prst="rect">
            <a:avLst/>
          </a:prstGeom>
          <a:noFill/>
          <a:ln/>
        </p:spPr>
        <p:txBody>
          <a:bodyPr wrap="square" lIns="0" tIns="0" rIns="0" bIns="0" rtlCol="0" anchor="t"/>
          <a:lstStyle/>
          <a:p>
            <a:pPr indent="0" marL="0">
              <a:buNone/>
            </a:pPr>
            <a:r>
              <a:rPr lang="en-US" sz="1800" b="1" dirty="0">
                <a:solidFill>
                  <a:schemeClr val="tx1"/>
                </a:solidFill>
              </a:rPr>
              <a:t>Safe parsing</a:t>
            </a:r>
            <a:endParaRPr lang="en-US" sz="1800" dirty="0"/>
          </a:p>
        </p:txBody>
      </p:sp>
      <p:sp>
        <p:nvSpPr>
          <p:cNvPr id="19" name="Text 16"/>
          <p:cNvSpPr txBox="1"/>
          <p:nvPr/>
        </p:nvSpPr>
        <p:spPr>
          <a:xfrm>
            <a:off x="1325880" y="4864608"/>
            <a:ext cx="3840480" cy="457200"/>
          </a:xfrm>
          <a:prstGeom prst="rect">
            <a:avLst/>
          </a:prstGeom>
          <a:noFill/>
          <a:ln/>
        </p:spPr>
        <p:txBody>
          <a:bodyPr wrap="square" lIns="0" tIns="0" rIns="0" bIns="0" rtlCol="0" anchor="t"/>
          <a:lstStyle/>
          <a:p>
            <a:pPr indent="0" marL="0">
              <a:buNone/>
            </a:pPr>
            <a:r>
              <a:rPr lang="en-US" sz="1400" dirty="0">
                <a:solidFill>
                  <a:srgbClr val="5A5F7D"/>
                </a:solidFill>
              </a:rPr>
              <a:t>Tolerant parser, clear error if unreadable</a:t>
            </a:r>
            <a:endParaRPr lang="en-US" sz="1400" dirty="0"/>
          </a:p>
        </p:txBody>
      </p:sp>
      <p:graphicFrame>
        <p:nvGraphicFramePr>
          <p:cNvPr id="12" name="Temperature table"/>
          <p:cNvGraphicFramePr>
            <a:graphicFrameLocks noGrp="1"/>
          </p:cNvGraphicFramePr>
          <p:nvPr>
            <p:extLst>
              <p:ext uri="{D42A27DB-BD31-4B8C-83A1-F6EECF244321}">
                <p14:modId xmlns:p14="http://schemas.microsoft.com/office/powerpoint/2010/main" val="1579011935"/>
              </p:ext>
            </p:extLst>
          </p:nvPr>
        </p:nvGraphicFramePr>
        <p:xfrm>
          <a:off x="5669280" y="1463040"/>
          <a:ext cx="5971032" cy="914400"/>
        </p:xfrm>
        <a:graphic>
          <a:graphicData uri="http://schemas.openxmlformats.org/drawingml/2006/table">
            <a:tbl>
              <a:tblPr/>
              <a:tblGrid>
                <a:gridCol w="2011680"/>
                <a:gridCol w="1307592"/>
                <a:gridCol w="2651760"/>
              </a:tblGrid>
              <a:tr h="457200">
                <a:tc>
                  <a:txBody>
                    <a:bodyPr/>
                    <a:lstStyle/>
                    <a:p>
                      <a:pPr algn="l" indent="0" marL="0">
                        <a:buNone/>
                      </a:pPr>
                      <a:r>
                        <a:rPr lang="en-US" sz="1400" b="1" dirty="0">
                          <a:solidFill>
                            <a:schemeClr val="bg1"/>
                          </a:solidFill>
                        </a:rPr>
                        <a:t>Task</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Temperature</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accent1"/>
                    </a:solidFill>
                  </a:tcPr>
                </a:tc>
                <a:tc>
                  <a:txBody>
                    <a:bodyPr/>
                    <a:lstStyle/>
                    <a:p>
                      <a:pPr algn="l" indent="0" marL="0">
                        <a:buNone/>
                      </a:pPr>
                      <a:r>
                        <a:rPr lang="en-US" sz="1400" b="1" dirty="0">
                          <a:solidFill>
                            <a:schemeClr val="bg1"/>
                          </a:solidFill>
                        </a:rPr>
                        <a:t>Why</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accent1"/>
                    </a:solidFill>
                  </a:tcPr>
                </a:tc>
              </a:tr>
              <a:tr h="457200">
                <a:tc>
                  <a:txBody>
                    <a:bodyPr/>
                    <a:lstStyle/>
                    <a:p>
                      <a:pPr algn="l" indent="0" marL="0">
                        <a:buNone/>
                      </a:pPr>
                      <a:r>
                        <a:rPr lang="en-US" sz="1400" b="1" dirty="0">
                          <a:solidFill>
                            <a:schemeClr val="tx1"/>
                          </a:solidFill>
                        </a:rPr>
                        <a:t>Generate email</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0.7</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Natural, varied wording</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1"/>
                    </a:solidFill>
                  </a:tcPr>
                </a:tc>
              </a:tr>
              <a:tr h="457200">
                <a:tc>
                  <a:txBody>
                    <a:bodyPr/>
                    <a:lstStyle/>
                    <a:p>
                      <a:pPr algn="l" indent="0" marL="0">
                        <a:buNone/>
                      </a:pPr>
                      <a:r>
                        <a:rPr lang="en-US" sz="1400" b="1" dirty="0">
                          <a:solidFill>
                            <a:schemeClr val="tx1"/>
                          </a:solidFill>
                        </a:rPr>
                        <a:t>Refine or translate</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0.5</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Change it, keep the facts</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2"/>
                    </a:solidFill>
                  </a:tcPr>
                </a:tc>
              </a:tr>
              <a:tr h="457200">
                <a:tc>
                  <a:txBody>
                    <a:bodyPr/>
                    <a:lstStyle/>
                    <a:p>
                      <a:pPr algn="l" indent="0" marL="0">
                        <a:buNone/>
                      </a:pPr>
                      <a:r>
                        <a:rPr lang="en-US" sz="1400" b="1" dirty="0">
                          <a:solidFill>
                            <a:schemeClr val="tx1"/>
                          </a:solidFill>
                        </a:rPr>
                        <a:t>Subject ideas</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0.9</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Three clearly different options</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1"/>
                    </a:solidFill>
                  </a:tcPr>
                </a:tc>
              </a:tr>
              <a:tr h="457200">
                <a:tc>
                  <a:txBody>
                    <a:bodyPr/>
                    <a:lstStyle/>
                    <a:p>
                      <a:pPr algn="l" indent="0" marL="0">
                        <a:buNone/>
                      </a:pPr>
                      <a:r>
                        <a:rPr lang="en-US" sz="1400" b="1" dirty="0">
                          <a:solidFill>
                            <a:schemeClr val="tx1"/>
                          </a:solidFill>
                        </a:rPr>
                        <a:t>Quality score</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0.3</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Steady, honest scoring</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2"/>
                    </a:solidFill>
                  </a:tcPr>
                </a:tc>
              </a:tr>
              <a:tr h="457200">
                <a:tc>
                  <a:txBody>
                    <a:bodyPr/>
                    <a:lstStyle/>
                    <a:p>
                      <a:pPr algn="l" indent="0" marL="0">
                        <a:buNone/>
                      </a:pPr>
                      <a:r>
                        <a:rPr lang="en-US" sz="1400" b="1" dirty="0">
                          <a:solidFill>
                            <a:schemeClr val="tx1"/>
                          </a:solidFill>
                        </a:rPr>
                        <a:t>Tone detector</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0.2</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Consistent measurement</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1"/>
                    </a:solidFill>
                  </a:tcPr>
                </a:tc>
              </a:tr>
              <a:tr h="457200">
                <a:tc>
                  <a:txBody>
                    <a:bodyPr/>
                    <a:lstStyle/>
                    <a:p>
                      <a:pPr algn="l" indent="0" marL="0">
                        <a:buNone/>
                      </a:pPr>
                      <a:r>
                        <a:rPr lang="en-US" sz="1400" b="1" dirty="0">
                          <a:solidFill>
                            <a:schemeClr val="tx1"/>
                          </a:solidFill>
                        </a:rPr>
                        <a:t>Summary</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0.2</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Faithful to the thread</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2"/>
                    </a:solidFill>
                  </a:tcPr>
                </a:tc>
              </a:tr>
              <a:tr h="457200">
                <a:tc>
                  <a:txBody>
                    <a:bodyPr/>
                    <a:lstStyle/>
                    <a:p>
                      <a:pPr algn="l" indent="0" marL="0">
                        <a:buNone/>
                      </a:pPr>
                      <a:r>
                        <a:rPr lang="en-US" sz="1400" b="1" dirty="0">
                          <a:solidFill>
                            <a:schemeClr val="tx1"/>
                          </a:solidFill>
                        </a:rPr>
                        <a:t>Grammar fix</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0.1</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Fix only, never rewrite</a:t>
                      </a:r>
                      <a:endParaRPr lang="en-US" sz="1400" dirty="0"/>
                    </a:p>
                  </a:txBody>
                  <a:tcPr marL="109728" marR="109728"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1"/>
                    </a:solidFill>
                  </a:tcPr>
                </a:tc>
              </a:tr>
            </a:tbl>
          </a:graphicData>
        </a:graphic>
      </p:graphicFrame>
      <p:sp>
        <p:nvSpPr>
          <p:cNvPr id="21" name="Safety callout"/>
          <p:cNvSpPr/>
          <p:nvPr/>
        </p:nvSpPr>
        <p:spPr>
          <a:xfrm>
            <a:off x="548640" y="5623560"/>
            <a:ext cx="11091672" cy="640080"/>
          </a:xfrm>
          <a:prstGeom prst="roundRect">
            <a:avLst>
              <a:gd name="adj" fmla="val 17143"/>
            </a:avLst>
          </a:prstGeom>
          <a:solidFill>
            <a:schemeClr val="tx2"/>
          </a:solidFill>
          <a:ln w="12700">
            <a:solidFill>
              <a:schemeClr val="tx2"/>
            </a:solidFill>
            <a:prstDash val="solid"/>
          </a:ln>
        </p:spPr>
      </p:sp>
      <p:sp>
        <p:nvSpPr>
          <p:cNvPr id="22" name="Text 18"/>
          <p:cNvSpPr txBox="1"/>
          <p:nvPr/>
        </p:nvSpPr>
        <p:spPr>
          <a:xfrm>
            <a:off x="822960" y="5623560"/>
            <a:ext cx="10607040" cy="640080"/>
          </a:xfrm>
          <a:prstGeom prst="rect">
            <a:avLst/>
          </a:prstGeom>
          <a:noFill/>
          <a:ln/>
        </p:spPr>
        <p:txBody>
          <a:bodyPr wrap="square" lIns="0" tIns="0" rIns="0" bIns="0" rtlCol="0" anchor="ctr"/>
          <a:lstStyle/>
          <a:p>
            <a:pPr indent="0" marL="0">
              <a:buNone/>
            </a:pPr>
            <a:r>
              <a:rPr lang="en-US" sz="1600" dirty="0">
                <a:solidFill>
                  <a:schemeClr val="bg1"/>
                </a:solidFill>
              </a:rPr>
              <a:t>Pasted emails and threads are marked as content to respond to, so instructions hidden inside them are not followed.</a:t>
            </a:r>
            <a:endParaRPr lang="en-US" sz="1600" dirty="0"/>
          </a:p>
        </p:txBody>
      </p:sp>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1"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Built to save you time</a:t>
            </a:r>
            <a:endParaRPr lang="en-US" sz="3400" dirty="0"/>
          </a:p>
        </p:txBody>
      </p:sp>
      <p:sp>
        <p:nvSpPr>
          <p:cNvPr id="4" name="Templates icon background"/>
          <p:cNvSpPr/>
          <p:nvPr/>
        </p:nvSpPr>
        <p:spPr>
          <a:xfrm>
            <a:off x="548640" y="1417320"/>
            <a:ext cx="548640" cy="548640"/>
          </a:xfrm>
          <a:prstGeom prst="ellipse">
            <a:avLst/>
          </a:prstGeom>
          <a:solidFill>
            <a:schemeClr val="accent1"/>
          </a:solidFill>
          <a:ln w="12700">
            <a:solidFill>
              <a:schemeClr val="accent1"/>
            </a:solidFill>
            <a:prstDash val="solid"/>
          </a:ln>
        </p:spPr>
      </p:sp>
      <p:pic>
        <p:nvPicPr>
          <p:cNvPr id="5" name="Templates icon" descr="Templates icon">    </p:cNvPr>
          <p:cNvPicPr>
            <a:picLocks noChangeAspect="1"/>
          </p:cNvPicPr>
          <p:nvPr/>
        </p:nvPicPr>
        <p:blipFill>
          <a:blip r:embed="rId1"/>
          <a:stretch>
            <a:fillRect/>
          </a:stretch>
        </p:blipFill>
        <p:spPr>
          <a:xfrm>
            <a:off x="685800" y="1554480"/>
            <a:ext cx="274320" cy="274320"/>
          </a:xfrm>
          <a:prstGeom prst="rect">
            <a:avLst/>
          </a:prstGeom>
        </p:spPr>
      </p:pic>
      <p:sp>
        <p:nvSpPr>
          <p:cNvPr id="6" name="Text 2"/>
          <p:cNvSpPr txBox="1"/>
          <p:nvPr/>
        </p:nvSpPr>
        <p:spPr>
          <a:xfrm>
            <a:off x="1280160" y="1389888"/>
            <a:ext cx="4206240" cy="310896"/>
          </a:xfrm>
          <a:prstGeom prst="rect">
            <a:avLst/>
          </a:prstGeom>
          <a:noFill/>
          <a:ln/>
        </p:spPr>
        <p:txBody>
          <a:bodyPr wrap="square" lIns="0" tIns="0" rIns="0" bIns="0" rtlCol="0" anchor="t"/>
          <a:lstStyle/>
          <a:p>
            <a:pPr indent="0" marL="0">
              <a:buNone/>
            </a:pPr>
            <a:r>
              <a:rPr lang="en-US" sz="1800" b="1" dirty="0">
                <a:solidFill>
                  <a:schemeClr val="tx1"/>
                </a:solidFill>
              </a:rPr>
              <a:t>Templates</a:t>
            </a:r>
            <a:endParaRPr lang="en-US" sz="1800" dirty="0"/>
          </a:p>
        </p:txBody>
      </p:sp>
      <p:sp>
        <p:nvSpPr>
          <p:cNvPr id="7" name="Text 3"/>
          <p:cNvSpPr txBox="1"/>
          <p:nvPr/>
        </p:nvSpPr>
        <p:spPr>
          <a:xfrm>
            <a:off x="1280160" y="1691640"/>
            <a:ext cx="4206240" cy="274320"/>
          </a:xfrm>
          <a:prstGeom prst="rect">
            <a:avLst/>
          </a:prstGeom>
          <a:noFill/>
          <a:ln/>
        </p:spPr>
        <p:txBody>
          <a:bodyPr wrap="square" lIns="0" tIns="0" rIns="0" bIns="0" rtlCol="0" anchor="t"/>
          <a:lstStyle/>
          <a:p>
            <a:pPr indent="0" marL="0">
              <a:buNone/>
            </a:pPr>
            <a:r>
              <a:rPr lang="en-US" sz="1400" dirty="0">
                <a:solidFill>
                  <a:srgbClr val="5A5F7D"/>
                </a:solidFill>
              </a:rPr>
              <a:t>10 built in, plus templates you save</a:t>
            </a:r>
            <a:endParaRPr lang="en-US" sz="1400" dirty="0"/>
          </a:p>
        </p:txBody>
      </p:sp>
      <p:sp>
        <p:nvSpPr>
          <p:cNvPr id="8" name="Favorites and tags icon background"/>
          <p:cNvSpPr/>
          <p:nvPr/>
        </p:nvSpPr>
        <p:spPr>
          <a:xfrm>
            <a:off x="548640" y="2221992"/>
            <a:ext cx="548640" cy="548640"/>
          </a:xfrm>
          <a:prstGeom prst="ellipse">
            <a:avLst/>
          </a:prstGeom>
          <a:solidFill>
            <a:schemeClr val="accent2"/>
          </a:solidFill>
          <a:ln w="12700">
            <a:solidFill>
              <a:schemeClr val="accent2"/>
            </a:solidFill>
            <a:prstDash val="solid"/>
          </a:ln>
        </p:spPr>
      </p:sp>
      <p:pic>
        <p:nvPicPr>
          <p:cNvPr id="9" name="Favorites and tags icon" descr="Favorites and tags icon">    </p:cNvPr>
          <p:cNvPicPr>
            <a:picLocks noChangeAspect="1"/>
          </p:cNvPicPr>
          <p:nvPr/>
        </p:nvPicPr>
        <p:blipFill>
          <a:blip r:embed="rId2"/>
          <a:stretch>
            <a:fillRect/>
          </a:stretch>
        </p:blipFill>
        <p:spPr>
          <a:xfrm>
            <a:off x="685800" y="2359152"/>
            <a:ext cx="274320" cy="274320"/>
          </a:xfrm>
          <a:prstGeom prst="rect">
            <a:avLst/>
          </a:prstGeom>
        </p:spPr>
      </p:pic>
      <p:sp>
        <p:nvSpPr>
          <p:cNvPr id="10" name="Text 5"/>
          <p:cNvSpPr txBox="1"/>
          <p:nvPr/>
        </p:nvSpPr>
        <p:spPr>
          <a:xfrm>
            <a:off x="1280160" y="2194560"/>
            <a:ext cx="4206240" cy="310896"/>
          </a:xfrm>
          <a:prstGeom prst="rect">
            <a:avLst/>
          </a:prstGeom>
          <a:noFill/>
          <a:ln/>
        </p:spPr>
        <p:txBody>
          <a:bodyPr wrap="square" lIns="0" tIns="0" rIns="0" bIns="0" rtlCol="0" anchor="t"/>
          <a:lstStyle/>
          <a:p>
            <a:pPr indent="0" marL="0">
              <a:buNone/>
            </a:pPr>
            <a:r>
              <a:rPr lang="en-US" sz="1800" b="1" dirty="0">
                <a:solidFill>
                  <a:schemeClr val="tx1"/>
                </a:solidFill>
              </a:rPr>
              <a:t>Favorites and tags</a:t>
            </a:r>
            <a:endParaRPr lang="en-US" sz="1800" dirty="0"/>
          </a:p>
        </p:txBody>
      </p:sp>
      <p:sp>
        <p:nvSpPr>
          <p:cNvPr id="11" name="Text 6"/>
          <p:cNvSpPr txBox="1"/>
          <p:nvPr/>
        </p:nvSpPr>
        <p:spPr>
          <a:xfrm>
            <a:off x="1280160" y="2496312"/>
            <a:ext cx="4206240" cy="274320"/>
          </a:xfrm>
          <a:prstGeom prst="rect">
            <a:avLst/>
          </a:prstGeom>
          <a:noFill/>
          <a:ln/>
        </p:spPr>
        <p:txBody>
          <a:bodyPr wrap="square" lIns="0" tIns="0" rIns="0" bIns="0" rtlCol="0" anchor="t"/>
          <a:lstStyle/>
          <a:p>
            <a:pPr indent="0" marL="0">
              <a:buNone/>
            </a:pPr>
            <a:r>
              <a:rPr lang="en-US" sz="1400" dirty="0">
                <a:solidFill>
                  <a:srgbClr val="5A5F7D"/>
                </a:solidFill>
              </a:rPr>
              <a:t>Star emails and add up to five tags</a:t>
            </a:r>
            <a:endParaRPr lang="en-US" sz="1400" dirty="0"/>
          </a:p>
        </p:txBody>
      </p:sp>
      <p:sp>
        <p:nvSpPr>
          <p:cNvPr id="12" name="Searchable history icon background"/>
          <p:cNvSpPr/>
          <p:nvPr/>
        </p:nvSpPr>
        <p:spPr>
          <a:xfrm>
            <a:off x="548640" y="3026664"/>
            <a:ext cx="548640" cy="548640"/>
          </a:xfrm>
          <a:prstGeom prst="ellipse">
            <a:avLst/>
          </a:prstGeom>
          <a:solidFill>
            <a:schemeClr val="accent6"/>
          </a:solidFill>
          <a:ln w="12700">
            <a:solidFill>
              <a:schemeClr val="accent6"/>
            </a:solidFill>
            <a:prstDash val="solid"/>
          </a:ln>
        </p:spPr>
      </p:sp>
      <p:pic>
        <p:nvPicPr>
          <p:cNvPr id="13" name="Searchable history icon" descr="Searchable history icon">    </p:cNvPr>
          <p:cNvPicPr>
            <a:picLocks noChangeAspect="1"/>
          </p:cNvPicPr>
          <p:nvPr/>
        </p:nvPicPr>
        <p:blipFill>
          <a:blip r:embed="rId3"/>
          <a:stretch>
            <a:fillRect/>
          </a:stretch>
        </p:blipFill>
        <p:spPr>
          <a:xfrm>
            <a:off x="685800" y="3163824"/>
            <a:ext cx="274320" cy="274320"/>
          </a:xfrm>
          <a:prstGeom prst="rect">
            <a:avLst/>
          </a:prstGeom>
        </p:spPr>
      </p:pic>
      <p:sp>
        <p:nvSpPr>
          <p:cNvPr id="14" name="Text 8"/>
          <p:cNvSpPr txBox="1"/>
          <p:nvPr/>
        </p:nvSpPr>
        <p:spPr>
          <a:xfrm>
            <a:off x="1280160" y="2999232"/>
            <a:ext cx="4206240" cy="310896"/>
          </a:xfrm>
          <a:prstGeom prst="rect">
            <a:avLst/>
          </a:prstGeom>
          <a:noFill/>
          <a:ln/>
        </p:spPr>
        <p:txBody>
          <a:bodyPr wrap="square" lIns="0" tIns="0" rIns="0" bIns="0" rtlCol="0" anchor="t"/>
          <a:lstStyle/>
          <a:p>
            <a:pPr indent="0" marL="0">
              <a:buNone/>
            </a:pPr>
            <a:r>
              <a:rPr lang="en-US" sz="1800" b="1" dirty="0">
                <a:solidFill>
                  <a:schemeClr val="tx1"/>
                </a:solidFill>
              </a:rPr>
              <a:t>Searchable history</a:t>
            </a:r>
            <a:endParaRPr lang="en-US" sz="1800" dirty="0"/>
          </a:p>
        </p:txBody>
      </p:sp>
      <p:sp>
        <p:nvSpPr>
          <p:cNvPr id="15" name="Text 9"/>
          <p:cNvSpPr txBox="1"/>
          <p:nvPr/>
        </p:nvSpPr>
        <p:spPr>
          <a:xfrm>
            <a:off x="1280160" y="3300984"/>
            <a:ext cx="4206240" cy="274320"/>
          </a:xfrm>
          <a:prstGeom prst="rect">
            <a:avLst/>
          </a:prstGeom>
          <a:noFill/>
          <a:ln/>
        </p:spPr>
        <p:txBody>
          <a:bodyPr wrap="square" lIns="0" tIns="0" rIns="0" bIns="0" rtlCol="0" anchor="t"/>
          <a:lstStyle/>
          <a:p>
            <a:pPr indent="0" marL="0">
              <a:buNone/>
            </a:pPr>
            <a:r>
              <a:rPr lang="en-US" sz="1400" dirty="0">
                <a:solidFill>
                  <a:srgbClr val="5A5F7D"/>
                </a:solidFill>
              </a:rPr>
              <a:t>Search and filter by tag or favorite</a:t>
            </a:r>
            <a:endParaRPr lang="en-US" sz="1400" dirty="0"/>
          </a:p>
        </p:txBody>
      </p:sp>
      <p:sp>
        <p:nvSpPr>
          <p:cNvPr id="16" name="Export icon background"/>
          <p:cNvSpPr/>
          <p:nvPr/>
        </p:nvSpPr>
        <p:spPr>
          <a:xfrm>
            <a:off x="548640" y="3831336"/>
            <a:ext cx="548640" cy="548640"/>
          </a:xfrm>
          <a:prstGeom prst="ellipse">
            <a:avLst/>
          </a:prstGeom>
          <a:solidFill>
            <a:schemeClr val="accent5"/>
          </a:solidFill>
          <a:ln w="12700">
            <a:solidFill>
              <a:schemeClr val="accent5"/>
            </a:solidFill>
            <a:prstDash val="solid"/>
          </a:ln>
        </p:spPr>
      </p:sp>
      <p:pic>
        <p:nvPicPr>
          <p:cNvPr id="17" name="Export icon" descr="Export icon">    </p:cNvPr>
          <p:cNvPicPr>
            <a:picLocks noChangeAspect="1"/>
          </p:cNvPicPr>
          <p:nvPr/>
        </p:nvPicPr>
        <p:blipFill>
          <a:blip r:embed="rId4"/>
          <a:stretch>
            <a:fillRect/>
          </a:stretch>
        </p:blipFill>
        <p:spPr>
          <a:xfrm>
            <a:off x="685800" y="3968496"/>
            <a:ext cx="274320" cy="274320"/>
          </a:xfrm>
          <a:prstGeom prst="rect">
            <a:avLst/>
          </a:prstGeom>
        </p:spPr>
      </p:pic>
      <p:sp>
        <p:nvSpPr>
          <p:cNvPr id="18" name="Text 11"/>
          <p:cNvSpPr txBox="1"/>
          <p:nvPr/>
        </p:nvSpPr>
        <p:spPr>
          <a:xfrm>
            <a:off x="1280160" y="3803904"/>
            <a:ext cx="4206240" cy="310896"/>
          </a:xfrm>
          <a:prstGeom prst="rect">
            <a:avLst/>
          </a:prstGeom>
          <a:noFill/>
          <a:ln/>
        </p:spPr>
        <p:txBody>
          <a:bodyPr wrap="square" lIns="0" tIns="0" rIns="0" bIns="0" rtlCol="0" anchor="t"/>
          <a:lstStyle/>
          <a:p>
            <a:pPr indent="0" marL="0">
              <a:buNone/>
            </a:pPr>
            <a:r>
              <a:rPr lang="en-US" sz="1800" b="1" dirty="0">
                <a:solidFill>
                  <a:schemeClr val="tx1"/>
                </a:solidFill>
              </a:rPr>
              <a:t>Export</a:t>
            </a:r>
            <a:endParaRPr lang="en-US" sz="1800" dirty="0"/>
          </a:p>
        </p:txBody>
      </p:sp>
      <p:sp>
        <p:nvSpPr>
          <p:cNvPr id="19" name="Text 12"/>
          <p:cNvSpPr txBox="1"/>
          <p:nvPr/>
        </p:nvSpPr>
        <p:spPr>
          <a:xfrm>
            <a:off x="1280160" y="4105656"/>
            <a:ext cx="4206240" cy="274320"/>
          </a:xfrm>
          <a:prstGeom prst="rect">
            <a:avLst/>
          </a:prstGeom>
          <a:noFill/>
          <a:ln/>
        </p:spPr>
        <p:txBody>
          <a:bodyPr wrap="square" lIns="0" tIns="0" rIns="0" bIns="0" rtlCol="0" anchor="t"/>
          <a:lstStyle/>
          <a:p>
            <a:pPr indent="0" marL="0">
              <a:buNone/>
            </a:pPr>
            <a:r>
              <a:rPr lang="en-US" sz="1400" dirty="0">
                <a:solidFill>
                  <a:srgbClr val="5A5F7D"/>
                </a:solidFill>
              </a:rPr>
              <a:t>Copy, text, Word, PDF or mail app</a:t>
            </a:r>
            <a:endParaRPr lang="en-US" sz="1400" dirty="0"/>
          </a:p>
        </p:txBody>
      </p:sp>
      <p:sp>
        <p:nvSpPr>
          <p:cNvPr id="20" name="Voice input icon background"/>
          <p:cNvSpPr/>
          <p:nvPr/>
        </p:nvSpPr>
        <p:spPr>
          <a:xfrm>
            <a:off x="548640" y="4636008"/>
            <a:ext cx="548640" cy="548640"/>
          </a:xfrm>
          <a:prstGeom prst="ellipse">
            <a:avLst/>
          </a:prstGeom>
          <a:solidFill>
            <a:schemeClr val="accent1"/>
          </a:solidFill>
          <a:ln w="12700">
            <a:solidFill>
              <a:schemeClr val="accent1"/>
            </a:solidFill>
            <a:prstDash val="solid"/>
          </a:ln>
        </p:spPr>
      </p:sp>
      <p:pic>
        <p:nvPicPr>
          <p:cNvPr id="21" name="Voice input icon" descr="Voice input icon">    </p:cNvPr>
          <p:cNvPicPr>
            <a:picLocks noChangeAspect="1"/>
          </p:cNvPicPr>
          <p:nvPr/>
        </p:nvPicPr>
        <p:blipFill>
          <a:blip r:embed="rId5"/>
          <a:stretch>
            <a:fillRect/>
          </a:stretch>
        </p:blipFill>
        <p:spPr>
          <a:xfrm>
            <a:off x="685800" y="4773168"/>
            <a:ext cx="274320" cy="274320"/>
          </a:xfrm>
          <a:prstGeom prst="rect">
            <a:avLst/>
          </a:prstGeom>
        </p:spPr>
      </p:pic>
      <p:sp>
        <p:nvSpPr>
          <p:cNvPr id="22" name="Text 14"/>
          <p:cNvSpPr txBox="1"/>
          <p:nvPr/>
        </p:nvSpPr>
        <p:spPr>
          <a:xfrm>
            <a:off x="1280160" y="4608576"/>
            <a:ext cx="4206240" cy="310896"/>
          </a:xfrm>
          <a:prstGeom prst="rect">
            <a:avLst/>
          </a:prstGeom>
          <a:noFill/>
          <a:ln/>
        </p:spPr>
        <p:txBody>
          <a:bodyPr wrap="square" lIns="0" tIns="0" rIns="0" bIns="0" rtlCol="0" anchor="t"/>
          <a:lstStyle/>
          <a:p>
            <a:pPr indent="0" marL="0">
              <a:buNone/>
            </a:pPr>
            <a:r>
              <a:rPr lang="en-US" sz="1800" b="1" dirty="0">
                <a:solidFill>
                  <a:schemeClr val="tx1"/>
                </a:solidFill>
              </a:rPr>
              <a:t>Voice input</a:t>
            </a:r>
            <a:endParaRPr lang="en-US" sz="1800" dirty="0"/>
          </a:p>
        </p:txBody>
      </p:sp>
      <p:sp>
        <p:nvSpPr>
          <p:cNvPr id="23" name="Text 15"/>
          <p:cNvSpPr txBox="1"/>
          <p:nvPr/>
        </p:nvSpPr>
        <p:spPr>
          <a:xfrm>
            <a:off x="1280160" y="4910328"/>
            <a:ext cx="4206240" cy="274320"/>
          </a:xfrm>
          <a:prstGeom prst="rect">
            <a:avLst/>
          </a:prstGeom>
          <a:noFill/>
          <a:ln/>
        </p:spPr>
        <p:txBody>
          <a:bodyPr wrap="square" lIns="0" tIns="0" rIns="0" bIns="0" rtlCol="0" anchor="t"/>
          <a:lstStyle/>
          <a:p>
            <a:pPr indent="0" marL="0">
              <a:buNone/>
            </a:pPr>
            <a:r>
              <a:rPr lang="en-US" sz="1400" dirty="0">
                <a:solidFill>
                  <a:srgbClr val="5A5F7D"/>
                </a:solidFill>
              </a:rPr>
              <a:t>Speak the purpose in English or Urdu</a:t>
            </a:r>
            <a:endParaRPr lang="en-US" sz="1400" dirty="0"/>
          </a:p>
        </p:txBody>
      </p:sp>
      <p:sp>
        <p:nvSpPr>
          <p:cNvPr id="24" name="Analytics icon background"/>
          <p:cNvSpPr/>
          <p:nvPr/>
        </p:nvSpPr>
        <p:spPr>
          <a:xfrm>
            <a:off x="548640" y="5440680"/>
            <a:ext cx="548640" cy="548640"/>
          </a:xfrm>
          <a:prstGeom prst="ellipse">
            <a:avLst/>
          </a:prstGeom>
          <a:solidFill>
            <a:schemeClr val="accent2"/>
          </a:solidFill>
          <a:ln w="12700">
            <a:solidFill>
              <a:schemeClr val="accent2"/>
            </a:solidFill>
            <a:prstDash val="solid"/>
          </a:ln>
        </p:spPr>
      </p:sp>
      <p:pic>
        <p:nvPicPr>
          <p:cNvPr id="25" name="Analytics icon" descr="Analytics icon">    </p:cNvPr>
          <p:cNvPicPr>
            <a:picLocks noChangeAspect="1"/>
          </p:cNvPicPr>
          <p:nvPr/>
        </p:nvPicPr>
        <p:blipFill>
          <a:blip r:embed="rId6"/>
          <a:stretch>
            <a:fillRect/>
          </a:stretch>
        </p:blipFill>
        <p:spPr>
          <a:xfrm>
            <a:off x="685800" y="5577840"/>
            <a:ext cx="274320" cy="274320"/>
          </a:xfrm>
          <a:prstGeom prst="rect">
            <a:avLst/>
          </a:prstGeom>
        </p:spPr>
      </p:pic>
      <p:sp>
        <p:nvSpPr>
          <p:cNvPr id="26" name="Text 17"/>
          <p:cNvSpPr txBox="1"/>
          <p:nvPr/>
        </p:nvSpPr>
        <p:spPr>
          <a:xfrm>
            <a:off x="1280160" y="5413248"/>
            <a:ext cx="4206240" cy="310896"/>
          </a:xfrm>
          <a:prstGeom prst="rect">
            <a:avLst/>
          </a:prstGeom>
          <a:noFill/>
          <a:ln/>
        </p:spPr>
        <p:txBody>
          <a:bodyPr wrap="square" lIns="0" tIns="0" rIns="0" bIns="0" rtlCol="0" anchor="t"/>
          <a:lstStyle/>
          <a:p>
            <a:pPr indent="0" marL="0">
              <a:buNone/>
            </a:pPr>
            <a:r>
              <a:rPr lang="en-US" sz="1800" b="1" dirty="0">
                <a:solidFill>
                  <a:schemeClr val="tx1"/>
                </a:solidFill>
              </a:rPr>
              <a:t>Analytics</a:t>
            </a:r>
            <a:endParaRPr lang="en-US" sz="1800" dirty="0"/>
          </a:p>
        </p:txBody>
      </p:sp>
      <p:sp>
        <p:nvSpPr>
          <p:cNvPr id="27" name="Text 18"/>
          <p:cNvSpPr txBox="1"/>
          <p:nvPr/>
        </p:nvSpPr>
        <p:spPr>
          <a:xfrm>
            <a:off x="1280160" y="5715000"/>
            <a:ext cx="4206240" cy="274320"/>
          </a:xfrm>
          <a:prstGeom prst="rect">
            <a:avLst/>
          </a:prstGeom>
          <a:noFill/>
          <a:ln/>
        </p:spPr>
        <p:txBody>
          <a:bodyPr wrap="square" lIns="0" tIns="0" rIns="0" bIns="0" rtlCol="0" anchor="t"/>
          <a:lstStyle/>
          <a:p>
            <a:pPr indent="0" marL="0">
              <a:buNone/>
            </a:pPr>
            <a:r>
              <a:rPr lang="en-US" sz="1400" dirty="0">
                <a:solidFill>
                  <a:srgbClr val="5A5F7D"/>
                </a:solidFill>
              </a:rPr>
              <a:t>Emails, quality, tone mix, weekly chart</a:t>
            </a:r>
            <a:endParaRPr lang="en-US" sz="1400" dirty="0"/>
          </a:p>
        </p:txBody>
      </p:sp>
      <p:pic>
        <p:nvPicPr>
          <p:cNvPr id="28" name="History view with search, filters and saved emails" descr="History view with search, filters and saved emails">    </p:cNvPr>
          <p:cNvPicPr>
            <a:picLocks noChangeAspect="1"/>
          </p:cNvPicPr>
          <p:nvPr/>
        </p:nvPicPr>
        <p:blipFill>
          <a:blip r:embed="rId7"/>
          <a:stretch>
            <a:fillRect/>
          </a:stretch>
        </p:blipFill>
        <p:spPr>
          <a:xfrm>
            <a:off x="6153912" y="1417320"/>
            <a:ext cx="5486400" cy="3427386"/>
          </a:xfrm>
          <a:prstGeom prst="rect">
            <a:avLst/>
          </a:prstGeom>
        </p:spPr>
      </p:pic>
      <p:sp>
        <p:nvSpPr>
          <p:cNvPr id="29" name="Text 19"/>
          <p:cNvSpPr txBox="1"/>
          <p:nvPr/>
        </p:nvSpPr>
        <p:spPr>
          <a:xfrm>
            <a:off x="6153912" y="4936146"/>
            <a:ext cx="5486400" cy="274320"/>
          </a:xfrm>
          <a:prstGeom prst="rect">
            <a:avLst/>
          </a:prstGeom>
          <a:noFill/>
          <a:ln/>
        </p:spPr>
        <p:txBody>
          <a:bodyPr wrap="square" lIns="0" tIns="0" rIns="0" bIns="0" rtlCol="0" anchor="t"/>
          <a:lstStyle/>
          <a:p>
            <a:pPr indent="0" marL="0">
              <a:buNone/>
            </a:pPr>
            <a:r>
              <a:rPr lang="en-US" sz="1200" i="1" dirty="0">
                <a:solidFill>
                  <a:srgbClr val="5A5F7D"/>
                </a:solidFill>
              </a:rPr>
              <a:t>History view with sample data</a:t>
            </a:r>
            <a:endParaRPr lang="en-US" sz="1200" dirty="0"/>
          </a:p>
        </p:txBody>
      </p:sp>
      <p:sp>
        <p:nvSpPr>
          <p:cNvPr id="30" name="Mini stat 1"/>
          <p:cNvSpPr/>
          <p:nvPr/>
        </p:nvSpPr>
        <p:spPr>
          <a:xfrm>
            <a:off x="6153912" y="5440680"/>
            <a:ext cx="1737360" cy="868680"/>
          </a:xfrm>
          <a:prstGeom prst="roundRect">
            <a:avLst>
              <a:gd name="adj" fmla="val 14737"/>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31" name="Text 21"/>
          <p:cNvSpPr txBox="1"/>
          <p:nvPr/>
        </p:nvSpPr>
        <p:spPr>
          <a:xfrm>
            <a:off x="6291072" y="5458968"/>
            <a:ext cx="731520" cy="82296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10</a:t>
            </a:r>
            <a:endParaRPr lang="en-US" sz="2800" dirty="0"/>
          </a:p>
        </p:txBody>
      </p:sp>
      <p:sp>
        <p:nvSpPr>
          <p:cNvPr id="32" name="Text 22"/>
          <p:cNvSpPr txBox="1"/>
          <p:nvPr/>
        </p:nvSpPr>
        <p:spPr>
          <a:xfrm>
            <a:off x="6931152" y="5458968"/>
            <a:ext cx="914400" cy="822960"/>
          </a:xfrm>
          <a:prstGeom prst="rect">
            <a:avLst/>
          </a:prstGeom>
          <a:noFill/>
          <a:ln/>
        </p:spPr>
        <p:txBody>
          <a:bodyPr wrap="square" lIns="0" tIns="0" rIns="0" bIns="0" rtlCol="0" anchor="ctr"/>
          <a:lstStyle/>
          <a:p>
            <a:pPr indent="0" marL="0">
              <a:buNone/>
            </a:pPr>
            <a:r>
              <a:rPr lang="en-US" sz="1400" dirty="0">
                <a:solidFill>
                  <a:schemeClr val="tx1"/>
                </a:solidFill>
              </a:rPr>
              <a:t>templates</a:t>
            </a:r>
            <a:endParaRPr lang="en-US" sz="1400" dirty="0"/>
          </a:p>
        </p:txBody>
      </p:sp>
      <p:sp>
        <p:nvSpPr>
          <p:cNvPr id="33" name="Mini stat 2"/>
          <p:cNvSpPr/>
          <p:nvPr/>
        </p:nvSpPr>
        <p:spPr>
          <a:xfrm>
            <a:off x="8028432" y="5440680"/>
            <a:ext cx="1737360" cy="868680"/>
          </a:xfrm>
          <a:prstGeom prst="roundRect">
            <a:avLst>
              <a:gd name="adj" fmla="val 14737"/>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34" name="Text 24"/>
          <p:cNvSpPr txBox="1"/>
          <p:nvPr/>
        </p:nvSpPr>
        <p:spPr>
          <a:xfrm>
            <a:off x="8165592" y="5458968"/>
            <a:ext cx="731520" cy="82296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5</a:t>
            </a:r>
            <a:endParaRPr lang="en-US" sz="2800" dirty="0"/>
          </a:p>
        </p:txBody>
      </p:sp>
      <p:sp>
        <p:nvSpPr>
          <p:cNvPr id="35" name="Text 25"/>
          <p:cNvSpPr txBox="1"/>
          <p:nvPr/>
        </p:nvSpPr>
        <p:spPr>
          <a:xfrm>
            <a:off x="8805672" y="5458968"/>
            <a:ext cx="914400" cy="822960"/>
          </a:xfrm>
          <a:prstGeom prst="rect">
            <a:avLst/>
          </a:prstGeom>
          <a:noFill/>
          <a:ln/>
        </p:spPr>
        <p:txBody>
          <a:bodyPr wrap="square" lIns="0" tIns="0" rIns="0" bIns="0" rtlCol="0" anchor="ctr"/>
          <a:lstStyle/>
          <a:p>
            <a:pPr indent="0" marL="0">
              <a:buNone/>
            </a:pPr>
            <a:r>
              <a:rPr lang="en-US" sz="1400" dirty="0">
                <a:solidFill>
                  <a:schemeClr val="tx1"/>
                </a:solidFill>
              </a:rPr>
              <a:t>export options</a:t>
            </a:r>
            <a:endParaRPr lang="en-US" sz="1400" dirty="0"/>
          </a:p>
        </p:txBody>
      </p:sp>
      <p:sp>
        <p:nvSpPr>
          <p:cNvPr id="36" name="Mini stat 3"/>
          <p:cNvSpPr/>
          <p:nvPr/>
        </p:nvSpPr>
        <p:spPr>
          <a:xfrm>
            <a:off x="9902952" y="5440680"/>
            <a:ext cx="1737360" cy="868680"/>
          </a:xfrm>
          <a:prstGeom prst="roundRect">
            <a:avLst>
              <a:gd name="adj" fmla="val 14737"/>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37" name="Text 27"/>
          <p:cNvSpPr txBox="1"/>
          <p:nvPr/>
        </p:nvSpPr>
        <p:spPr>
          <a:xfrm>
            <a:off x="10040112" y="5458968"/>
            <a:ext cx="731520" cy="82296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2</a:t>
            </a:r>
            <a:endParaRPr lang="en-US" sz="2800" dirty="0"/>
          </a:p>
        </p:txBody>
      </p:sp>
      <p:sp>
        <p:nvSpPr>
          <p:cNvPr id="38" name="Text 28"/>
          <p:cNvSpPr txBox="1"/>
          <p:nvPr/>
        </p:nvSpPr>
        <p:spPr>
          <a:xfrm>
            <a:off x="10680192" y="5458968"/>
            <a:ext cx="914400" cy="822960"/>
          </a:xfrm>
          <a:prstGeom prst="rect">
            <a:avLst/>
          </a:prstGeom>
          <a:noFill/>
          <a:ln/>
        </p:spPr>
        <p:txBody>
          <a:bodyPr wrap="square" lIns="0" tIns="0" rIns="0" bIns="0" rtlCol="0" anchor="ctr"/>
          <a:lstStyle/>
          <a:p>
            <a:pPr indent="0" marL="0">
              <a:buNone/>
            </a:pPr>
            <a:r>
              <a:rPr lang="en-US" sz="1400" dirty="0">
                <a:solidFill>
                  <a:schemeClr val="tx1"/>
                </a:solidFill>
              </a:rPr>
              <a:t>voice languages</a:t>
            </a:r>
            <a:endParaRPr lang="en-US" sz="1400" dirty="0"/>
          </a:p>
        </p:txBody>
      </p:sp>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1"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A design system with two themes</a:t>
            </a:r>
            <a:endParaRPr lang="en-US" sz="3400" dirty="0"/>
          </a:p>
        </p:txBody>
      </p:sp>
      <p:sp>
        <p:nvSpPr>
          <p:cNvPr id="4" name="Swatch Violet"/>
          <p:cNvSpPr/>
          <p:nvPr/>
        </p:nvSpPr>
        <p:spPr>
          <a:xfrm>
            <a:off x="548640" y="1463040"/>
            <a:ext cx="731520" cy="731520"/>
          </a:xfrm>
          <a:prstGeom prst="ellipse">
            <a:avLst/>
          </a:prstGeom>
          <a:solidFill>
            <a:srgbClr val="7C5CFF"/>
          </a:solidFill>
          <a:ln w="9525">
            <a:solidFill>
              <a:srgbClr val="D5D6EA"/>
            </a:solidFill>
            <a:prstDash val="solid"/>
          </a:ln>
        </p:spPr>
      </p:sp>
      <p:sp>
        <p:nvSpPr>
          <p:cNvPr id="5" name="Text 2"/>
          <p:cNvSpPr txBox="1"/>
          <p:nvPr/>
        </p:nvSpPr>
        <p:spPr>
          <a:xfrm>
            <a:off x="457200" y="2286000"/>
            <a:ext cx="914400" cy="274320"/>
          </a:xfrm>
          <a:prstGeom prst="rect">
            <a:avLst/>
          </a:prstGeom>
          <a:noFill/>
          <a:ln/>
        </p:spPr>
        <p:txBody>
          <a:bodyPr wrap="square" lIns="0" tIns="0" rIns="0" bIns="0" rtlCol="0" anchor="t"/>
          <a:lstStyle/>
          <a:p>
            <a:pPr algn="ctr" indent="0" marL="0">
              <a:buNone/>
            </a:pPr>
            <a:r>
              <a:rPr lang="en-US" sz="1400" b="1" dirty="0">
                <a:solidFill>
                  <a:schemeClr val="tx1"/>
                </a:solidFill>
              </a:rPr>
              <a:t>Violet</a:t>
            </a:r>
            <a:endParaRPr lang="en-US" sz="1400" dirty="0"/>
          </a:p>
        </p:txBody>
      </p:sp>
      <p:sp>
        <p:nvSpPr>
          <p:cNvPr id="6" name="Text 3"/>
          <p:cNvSpPr txBox="1"/>
          <p:nvPr/>
        </p:nvSpPr>
        <p:spPr>
          <a:xfrm>
            <a:off x="457200" y="2560320"/>
            <a:ext cx="914400" cy="256032"/>
          </a:xfrm>
          <a:prstGeom prst="rect">
            <a:avLst/>
          </a:prstGeom>
          <a:noFill/>
          <a:ln/>
        </p:spPr>
        <p:txBody>
          <a:bodyPr wrap="square" lIns="0" tIns="0" rIns="0" bIns="0" rtlCol="0" anchor="t"/>
          <a:lstStyle/>
          <a:p>
            <a:pPr algn="ctr" indent="0" marL="0">
              <a:buNone/>
            </a:pPr>
            <a:r>
              <a:rPr lang="en-US" sz="1100" dirty="0">
                <a:solidFill>
                  <a:srgbClr val="5A5F7D"/>
                </a:solidFill>
              </a:rPr>
              <a:t>#7C5CFF</a:t>
            </a:r>
            <a:endParaRPr lang="en-US" sz="1100" dirty="0"/>
          </a:p>
        </p:txBody>
      </p:sp>
      <p:sp>
        <p:nvSpPr>
          <p:cNvPr id="7" name="Swatch Pink"/>
          <p:cNvSpPr/>
          <p:nvPr/>
        </p:nvSpPr>
        <p:spPr>
          <a:xfrm>
            <a:off x="1417320" y="1463040"/>
            <a:ext cx="731520" cy="731520"/>
          </a:xfrm>
          <a:prstGeom prst="ellipse">
            <a:avLst/>
          </a:prstGeom>
          <a:solidFill>
            <a:srgbClr val="E255C7"/>
          </a:solidFill>
          <a:ln w="9525">
            <a:solidFill>
              <a:srgbClr val="D5D6EA"/>
            </a:solidFill>
            <a:prstDash val="solid"/>
          </a:ln>
        </p:spPr>
      </p:sp>
      <p:sp>
        <p:nvSpPr>
          <p:cNvPr id="8" name="Text 5"/>
          <p:cNvSpPr txBox="1"/>
          <p:nvPr/>
        </p:nvSpPr>
        <p:spPr>
          <a:xfrm>
            <a:off x="1325880" y="2286000"/>
            <a:ext cx="914400" cy="274320"/>
          </a:xfrm>
          <a:prstGeom prst="rect">
            <a:avLst/>
          </a:prstGeom>
          <a:noFill/>
          <a:ln/>
        </p:spPr>
        <p:txBody>
          <a:bodyPr wrap="square" lIns="0" tIns="0" rIns="0" bIns="0" rtlCol="0" anchor="t"/>
          <a:lstStyle/>
          <a:p>
            <a:pPr algn="ctr" indent="0" marL="0">
              <a:buNone/>
            </a:pPr>
            <a:r>
              <a:rPr lang="en-US" sz="1400" b="1" dirty="0">
                <a:solidFill>
                  <a:schemeClr val="tx1"/>
                </a:solidFill>
              </a:rPr>
              <a:t>Pink</a:t>
            </a:r>
            <a:endParaRPr lang="en-US" sz="1400" dirty="0"/>
          </a:p>
        </p:txBody>
      </p:sp>
      <p:sp>
        <p:nvSpPr>
          <p:cNvPr id="9" name="Text 6"/>
          <p:cNvSpPr txBox="1"/>
          <p:nvPr/>
        </p:nvSpPr>
        <p:spPr>
          <a:xfrm>
            <a:off x="1325880" y="2560320"/>
            <a:ext cx="914400" cy="256032"/>
          </a:xfrm>
          <a:prstGeom prst="rect">
            <a:avLst/>
          </a:prstGeom>
          <a:noFill/>
          <a:ln/>
        </p:spPr>
        <p:txBody>
          <a:bodyPr wrap="square" lIns="0" tIns="0" rIns="0" bIns="0" rtlCol="0" anchor="t"/>
          <a:lstStyle/>
          <a:p>
            <a:pPr algn="ctr" indent="0" marL="0">
              <a:buNone/>
            </a:pPr>
            <a:r>
              <a:rPr lang="en-US" sz="1100" dirty="0">
                <a:solidFill>
                  <a:srgbClr val="5A5F7D"/>
                </a:solidFill>
              </a:rPr>
              <a:t>#E255C7</a:t>
            </a:r>
            <a:endParaRPr lang="en-US" sz="1100" dirty="0"/>
          </a:p>
        </p:txBody>
      </p:sp>
      <p:sp>
        <p:nvSpPr>
          <p:cNvPr id="10" name="Swatch Teal"/>
          <p:cNvSpPr/>
          <p:nvPr/>
        </p:nvSpPr>
        <p:spPr>
          <a:xfrm>
            <a:off x="2286000" y="1463040"/>
            <a:ext cx="731520" cy="731520"/>
          </a:xfrm>
          <a:prstGeom prst="ellipse">
            <a:avLst/>
          </a:prstGeom>
          <a:solidFill>
            <a:srgbClr val="35E0C2"/>
          </a:solidFill>
          <a:ln w="9525">
            <a:solidFill>
              <a:srgbClr val="D5D6EA"/>
            </a:solidFill>
            <a:prstDash val="solid"/>
          </a:ln>
        </p:spPr>
      </p:sp>
      <p:sp>
        <p:nvSpPr>
          <p:cNvPr id="11" name="Text 8"/>
          <p:cNvSpPr txBox="1"/>
          <p:nvPr/>
        </p:nvSpPr>
        <p:spPr>
          <a:xfrm>
            <a:off x="2194560" y="2286000"/>
            <a:ext cx="914400" cy="274320"/>
          </a:xfrm>
          <a:prstGeom prst="rect">
            <a:avLst/>
          </a:prstGeom>
          <a:noFill/>
          <a:ln/>
        </p:spPr>
        <p:txBody>
          <a:bodyPr wrap="square" lIns="0" tIns="0" rIns="0" bIns="0" rtlCol="0" anchor="t"/>
          <a:lstStyle/>
          <a:p>
            <a:pPr algn="ctr" indent="0" marL="0">
              <a:buNone/>
            </a:pPr>
            <a:r>
              <a:rPr lang="en-US" sz="1400" b="1" dirty="0">
                <a:solidFill>
                  <a:schemeClr val="tx1"/>
                </a:solidFill>
              </a:rPr>
              <a:t>Teal</a:t>
            </a:r>
            <a:endParaRPr lang="en-US" sz="1400" dirty="0"/>
          </a:p>
        </p:txBody>
      </p:sp>
      <p:sp>
        <p:nvSpPr>
          <p:cNvPr id="12" name="Text 9"/>
          <p:cNvSpPr txBox="1"/>
          <p:nvPr/>
        </p:nvSpPr>
        <p:spPr>
          <a:xfrm>
            <a:off x="2194560" y="2560320"/>
            <a:ext cx="914400" cy="256032"/>
          </a:xfrm>
          <a:prstGeom prst="rect">
            <a:avLst/>
          </a:prstGeom>
          <a:noFill/>
          <a:ln/>
        </p:spPr>
        <p:txBody>
          <a:bodyPr wrap="square" lIns="0" tIns="0" rIns="0" bIns="0" rtlCol="0" anchor="t"/>
          <a:lstStyle/>
          <a:p>
            <a:pPr algn="ctr" indent="0" marL="0">
              <a:buNone/>
            </a:pPr>
            <a:r>
              <a:rPr lang="en-US" sz="1100" dirty="0">
                <a:solidFill>
                  <a:srgbClr val="5A5F7D"/>
                </a:solidFill>
              </a:rPr>
              <a:t>#35E0C2</a:t>
            </a:r>
            <a:endParaRPr lang="en-US" sz="1100" dirty="0"/>
          </a:p>
        </p:txBody>
      </p:sp>
      <p:sp>
        <p:nvSpPr>
          <p:cNvPr id="13" name="Swatch Ink"/>
          <p:cNvSpPr/>
          <p:nvPr/>
        </p:nvSpPr>
        <p:spPr>
          <a:xfrm>
            <a:off x="3154680" y="1463040"/>
            <a:ext cx="731520" cy="731520"/>
          </a:xfrm>
          <a:prstGeom prst="ellipse">
            <a:avLst/>
          </a:prstGeom>
          <a:solidFill>
            <a:srgbClr val="1B1B3A"/>
          </a:solidFill>
          <a:ln w="9525">
            <a:solidFill>
              <a:srgbClr val="D5D6EA"/>
            </a:solidFill>
            <a:prstDash val="solid"/>
          </a:ln>
        </p:spPr>
      </p:sp>
      <p:sp>
        <p:nvSpPr>
          <p:cNvPr id="14" name="Text 11"/>
          <p:cNvSpPr txBox="1"/>
          <p:nvPr/>
        </p:nvSpPr>
        <p:spPr>
          <a:xfrm>
            <a:off x="3063240" y="2286000"/>
            <a:ext cx="914400" cy="274320"/>
          </a:xfrm>
          <a:prstGeom prst="rect">
            <a:avLst/>
          </a:prstGeom>
          <a:noFill/>
          <a:ln/>
        </p:spPr>
        <p:txBody>
          <a:bodyPr wrap="square" lIns="0" tIns="0" rIns="0" bIns="0" rtlCol="0" anchor="t"/>
          <a:lstStyle/>
          <a:p>
            <a:pPr algn="ctr" indent="0" marL="0">
              <a:buNone/>
            </a:pPr>
            <a:r>
              <a:rPr lang="en-US" sz="1400" b="1" dirty="0">
                <a:solidFill>
                  <a:schemeClr val="tx1"/>
                </a:solidFill>
              </a:rPr>
              <a:t>Ink</a:t>
            </a:r>
            <a:endParaRPr lang="en-US" sz="1400" dirty="0"/>
          </a:p>
        </p:txBody>
      </p:sp>
      <p:sp>
        <p:nvSpPr>
          <p:cNvPr id="15" name="Text 12"/>
          <p:cNvSpPr txBox="1"/>
          <p:nvPr/>
        </p:nvSpPr>
        <p:spPr>
          <a:xfrm>
            <a:off x="3063240" y="2560320"/>
            <a:ext cx="914400" cy="256032"/>
          </a:xfrm>
          <a:prstGeom prst="rect">
            <a:avLst/>
          </a:prstGeom>
          <a:noFill/>
          <a:ln/>
        </p:spPr>
        <p:txBody>
          <a:bodyPr wrap="square" lIns="0" tIns="0" rIns="0" bIns="0" rtlCol="0" anchor="t"/>
          <a:lstStyle/>
          <a:p>
            <a:pPr algn="ctr" indent="0" marL="0">
              <a:buNone/>
            </a:pPr>
            <a:r>
              <a:rPr lang="en-US" sz="1100" dirty="0">
                <a:solidFill>
                  <a:srgbClr val="5A5F7D"/>
                </a:solidFill>
              </a:rPr>
              <a:t>#1B1B3A</a:t>
            </a:r>
            <a:endParaRPr lang="en-US" sz="1100" dirty="0"/>
          </a:p>
        </p:txBody>
      </p:sp>
      <p:sp>
        <p:nvSpPr>
          <p:cNvPr id="16" name="Swatch Night"/>
          <p:cNvSpPr/>
          <p:nvPr/>
        </p:nvSpPr>
        <p:spPr>
          <a:xfrm>
            <a:off x="4023360" y="1463040"/>
            <a:ext cx="731520" cy="731520"/>
          </a:xfrm>
          <a:prstGeom prst="ellipse">
            <a:avLst/>
          </a:prstGeom>
          <a:solidFill>
            <a:srgbClr val="0A0620"/>
          </a:solidFill>
          <a:ln w="9525">
            <a:solidFill>
              <a:srgbClr val="D5D6EA"/>
            </a:solidFill>
            <a:prstDash val="solid"/>
          </a:ln>
        </p:spPr>
      </p:sp>
      <p:sp>
        <p:nvSpPr>
          <p:cNvPr id="17" name="Text 14"/>
          <p:cNvSpPr txBox="1"/>
          <p:nvPr/>
        </p:nvSpPr>
        <p:spPr>
          <a:xfrm>
            <a:off x="3931920" y="2286000"/>
            <a:ext cx="914400" cy="274320"/>
          </a:xfrm>
          <a:prstGeom prst="rect">
            <a:avLst/>
          </a:prstGeom>
          <a:noFill/>
          <a:ln/>
        </p:spPr>
        <p:txBody>
          <a:bodyPr wrap="square" lIns="0" tIns="0" rIns="0" bIns="0" rtlCol="0" anchor="t"/>
          <a:lstStyle/>
          <a:p>
            <a:pPr algn="ctr" indent="0" marL="0">
              <a:buNone/>
            </a:pPr>
            <a:r>
              <a:rPr lang="en-US" sz="1400" b="1" dirty="0">
                <a:solidFill>
                  <a:schemeClr val="tx1"/>
                </a:solidFill>
              </a:rPr>
              <a:t>Night</a:t>
            </a:r>
            <a:endParaRPr lang="en-US" sz="1400" dirty="0"/>
          </a:p>
        </p:txBody>
      </p:sp>
      <p:sp>
        <p:nvSpPr>
          <p:cNvPr id="18" name="Text 15"/>
          <p:cNvSpPr txBox="1"/>
          <p:nvPr/>
        </p:nvSpPr>
        <p:spPr>
          <a:xfrm>
            <a:off x="3931920" y="2560320"/>
            <a:ext cx="914400" cy="256032"/>
          </a:xfrm>
          <a:prstGeom prst="rect">
            <a:avLst/>
          </a:prstGeom>
          <a:noFill/>
          <a:ln/>
        </p:spPr>
        <p:txBody>
          <a:bodyPr wrap="square" lIns="0" tIns="0" rIns="0" bIns="0" rtlCol="0" anchor="t"/>
          <a:lstStyle/>
          <a:p>
            <a:pPr algn="ctr" indent="0" marL="0">
              <a:buNone/>
            </a:pPr>
            <a:r>
              <a:rPr lang="en-US" sz="1100" dirty="0">
                <a:solidFill>
                  <a:srgbClr val="5A5F7D"/>
                </a:solidFill>
              </a:rPr>
              <a:t>#0A0620</a:t>
            </a:r>
            <a:endParaRPr lang="en-US" sz="1100" dirty="0"/>
          </a:p>
        </p:txBody>
      </p:sp>
      <p:sp>
        <p:nvSpPr>
          <p:cNvPr id="19" name="Swatch Mist"/>
          <p:cNvSpPr/>
          <p:nvPr/>
        </p:nvSpPr>
        <p:spPr>
          <a:xfrm>
            <a:off x="4892040" y="1463040"/>
            <a:ext cx="731520" cy="731520"/>
          </a:xfrm>
          <a:prstGeom prst="ellipse">
            <a:avLst/>
          </a:prstGeom>
          <a:solidFill>
            <a:srgbClr val="F3F4FB"/>
          </a:solidFill>
          <a:ln w="9525">
            <a:solidFill>
              <a:srgbClr val="D5D6EA"/>
            </a:solidFill>
            <a:prstDash val="solid"/>
          </a:ln>
        </p:spPr>
      </p:sp>
      <p:sp>
        <p:nvSpPr>
          <p:cNvPr id="20" name="Text 17"/>
          <p:cNvSpPr txBox="1"/>
          <p:nvPr/>
        </p:nvSpPr>
        <p:spPr>
          <a:xfrm>
            <a:off x="4800600" y="2286000"/>
            <a:ext cx="914400" cy="274320"/>
          </a:xfrm>
          <a:prstGeom prst="rect">
            <a:avLst/>
          </a:prstGeom>
          <a:noFill/>
          <a:ln/>
        </p:spPr>
        <p:txBody>
          <a:bodyPr wrap="square" lIns="0" tIns="0" rIns="0" bIns="0" rtlCol="0" anchor="t"/>
          <a:lstStyle/>
          <a:p>
            <a:pPr algn="ctr" indent="0" marL="0">
              <a:buNone/>
            </a:pPr>
            <a:r>
              <a:rPr lang="en-US" sz="1400" b="1" dirty="0">
                <a:solidFill>
                  <a:schemeClr val="tx1"/>
                </a:solidFill>
              </a:rPr>
              <a:t>Mist</a:t>
            </a:r>
            <a:endParaRPr lang="en-US" sz="1400" dirty="0"/>
          </a:p>
        </p:txBody>
      </p:sp>
      <p:sp>
        <p:nvSpPr>
          <p:cNvPr id="21" name="Text 18"/>
          <p:cNvSpPr txBox="1"/>
          <p:nvPr/>
        </p:nvSpPr>
        <p:spPr>
          <a:xfrm>
            <a:off x="4800600" y="2560320"/>
            <a:ext cx="914400" cy="256032"/>
          </a:xfrm>
          <a:prstGeom prst="rect">
            <a:avLst/>
          </a:prstGeom>
          <a:noFill/>
          <a:ln/>
        </p:spPr>
        <p:txBody>
          <a:bodyPr wrap="square" lIns="0" tIns="0" rIns="0" bIns="0" rtlCol="0" anchor="t"/>
          <a:lstStyle/>
          <a:p>
            <a:pPr algn="ctr" indent="0" marL="0">
              <a:buNone/>
            </a:pPr>
            <a:r>
              <a:rPr lang="en-US" sz="1100" dirty="0">
                <a:solidFill>
                  <a:srgbClr val="5A5F7D"/>
                </a:solidFill>
              </a:rPr>
              <a:t>#F3F4FB</a:t>
            </a:r>
            <a:endParaRPr lang="en-US" sz="1100" dirty="0"/>
          </a:p>
        </p:txBody>
      </p:sp>
      <p:sp>
        <p:nvSpPr>
          <p:cNvPr id="22" name="Typography card"/>
          <p:cNvSpPr/>
          <p:nvPr/>
        </p:nvSpPr>
        <p:spPr>
          <a:xfrm>
            <a:off x="548640" y="3108960"/>
            <a:ext cx="5212080" cy="1417320"/>
          </a:xfrm>
          <a:prstGeom prst="roundRect">
            <a:avLst>
              <a:gd name="adj" fmla="val 9032"/>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23" name="Text 20"/>
          <p:cNvSpPr txBox="1"/>
          <p:nvPr/>
        </p:nvSpPr>
        <p:spPr>
          <a:xfrm>
            <a:off x="822960" y="3246120"/>
            <a:ext cx="2743200" cy="274320"/>
          </a:xfrm>
          <a:prstGeom prst="rect">
            <a:avLst/>
          </a:prstGeom>
          <a:noFill/>
          <a:ln/>
        </p:spPr>
        <p:txBody>
          <a:bodyPr wrap="square" lIns="0" tIns="0" rIns="0" bIns="0" rtlCol="0" anchor="t"/>
          <a:lstStyle/>
          <a:p>
            <a:pPr indent="0" marL="0">
              <a:buNone/>
            </a:pPr>
            <a:r>
              <a:rPr lang="en-US" sz="1200" b="1" spc="200" kern="0" dirty="0">
                <a:solidFill>
                  <a:srgbClr val="5A5F7D"/>
                </a:solidFill>
              </a:rPr>
              <a:t>TYPOGRAPHY</a:t>
            </a:r>
            <a:endParaRPr lang="en-US" sz="1200" dirty="0"/>
          </a:p>
        </p:txBody>
      </p:sp>
      <p:sp>
        <p:nvSpPr>
          <p:cNvPr id="24" name="Text 21"/>
          <p:cNvSpPr txBox="1"/>
          <p:nvPr/>
        </p:nvSpPr>
        <p:spPr>
          <a:xfrm>
            <a:off x="822960" y="3611880"/>
            <a:ext cx="4754880" cy="82296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Headings: </a:t>
            </a:r>
            <a:pPr indent="0" marL="0">
              <a:spcAft>
                <a:spcPts val="400"/>
              </a:spcAft>
              <a:buNone/>
            </a:pPr>
            <a:r>
              <a:rPr lang="en-US" sz="1800" dirty="0">
                <a:solidFill>
                  <a:schemeClr val="tx1"/>
                </a:solidFill>
              </a:rPr>
              <a:t>Playfair Display (serif)</a:t>
            </a:r>
            <a:endParaRPr lang="en-US" sz="1800" dirty="0"/>
          </a:p>
          <a:p>
            <a:pPr indent="0" marL="0">
              <a:spcAft>
                <a:spcPts val="400"/>
              </a:spcAft>
              <a:buNone/>
            </a:pPr>
            <a:r>
              <a:rPr lang="en-US" sz="1800" b="1" dirty="0">
                <a:solidFill>
                  <a:schemeClr val="tx1"/>
                </a:solidFill>
              </a:rPr>
              <a:t>Body: </a:t>
            </a:r>
            <a:pPr indent="0" marL="0">
              <a:spcAft>
                <a:spcPts val="400"/>
              </a:spcAft>
              <a:buNone/>
            </a:pPr>
            <a:r>
              <a:rPr lang="en-US" sz="1800" dirty="0">
                <a:solidFill>
                  <a:schemeClr val="tx1"/>
                </a:solidFill>
              </a:rPr>
              <a:t>Inter (clean sans)</a:t>
            </a:r>
            <a:endParaRPr lang="en-US" sz="1800" dirty="0"/>
          </a:p>
        </p:txBody>
      </p:sp>
      <p:sp>
        <p:nvSpPr>
          <p:cNvPr id="25" name="Principles card"/>
          <p:cNvSpPr/>
          <p:nvPr/>
        </p:nvSpPr>
        <p:spPr>
          <a:xfrm>
            <a:off x="548640" y="4754880"/>
            <a:ext cx="5212080" cy="1463040"/>
          </a:xfrm>
          <a:prstGeom prst="roundRect">
            <a:avLst>
              <a:gd name="adj" fmla="val 8750"/>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26" name="Text 23"/>
          <p:cNvSpPr txBox="1"/>
          <p:nvPr/>
        </p:nvSpPr>
        <p:spPr>
          <a:xfrm>
            <a:off x="822960" y="4892040"/>
            <a:ext cx="2743200" cy="274320"/>
          </a:xfrm>
          <a:prstGeom prst="rect">
            <a:avLst/>
          </a:prstGeom>
          <a:noFill/>
          <a:ln/>
        </p:spPr>
        <p:txBody>
          <a:bodyPr wrap="square" lIns="0" tIns="0" rIns="0" bIns="0" rtlCol="0" anchor="t"/>
          <a:lstStyle/>
          <a:p>
            <a:pPr indent="0" marL="0">
              <a:buNone/>
            </a:pPr>
            <a:r>
              <a:rPr lang="en-US" sz="1200" b="1" spc="200" kern="0" dirty="0">
                <a:solidFill>
                  <a:srgbClr val="5A5F7D"/>
                </a:solidFill>
              </a:rPr>
              <a:t>PRINCIPLES</a:t>
            </a:r>
            <a:endParaRPr lang="en-US" sz="1200" dirty="0"/>
          </a:p>
        </p:txBody>
      </p:sp>
      <p:sp>
        <p:nvSpPr>
          <p:cNvPr id="27" name="Text 24"/>
          <p:cNvSpPr txBox="1"/>
          <p:nvPr/>
        </p:nvSpPr>
        <p:spPr>
          <a:xfrm>
            <a:off x="822960" y="5212080"/>
            <a:ext cx="4754880" cy="9144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Rounded cards and soft shadows</a:t>
            </a:r>
            <a:endParaRPr lang="en-US" sz="1400" dirty="0"/>
          </a:p>
          <a:p>
            <a:pPr marL="342900" indent="-342900">
              <a:spcAft>
                <a:spcPts val="300"/>
              </a:spcAft>
              <a:buSzPct val="100000"/>
              <a:buChar char="•"/>
            </a:pPr>
            <a:r>
              <a:rPr lang="en-US" sz="1400" dirty="0">
                <a:solidFill>
                  <a:schemeClr val="tx1"/>
                </a:solidFill>
              </a:rPr>
              <a:t>One gradient accent, used sparingly</a:t>
            </a:r>
            <a:endParaRPr lang="en-US" sz="1400" dirty="0"/>
          </a:p>
          <a:p>
            <a:pPr marL="342900" indent="-342900">
              <a:spcAft>
                <a:spcPts val="300"/>
              </a:spcAft>
              <a:buSzPct val="100000"/>
              <a:buChar char="•"/>
            </a:pPr>
            <a:r>
              <a:rPr lang="en-US" sz="1400" dirty="0">
                <a:solidFill>
                  <a:schemeClr val="tx1"/>
                </a:solidFill>
              </a:rPr>
              <a:t>Large touch targets and clear focus rings</a:t>
            </a:r>
            <a:endParaRPr lang="en-US" sz="1400" dirty="0"/>
          </a:p>
        </p:txBody>
      </p:sp>
      <p:pic>
        <p:nvPicPr>
          <p:cNvPr id="28" name="Dashboard in dark theme" descr="Dashboard in dark theme">    </p:cNvPr>
          <p:cNvPicPr>
            <a:picLocks noChangeAspect="1"/>
          </p:cNvPicPr>
          <p:nvPr/>
        </p:nvPicPr>
        <p:blipFill>
          <a:blip r:embed="rId1"/>
          <a:stretch>
            <a:fillRect/>
          </a:stretch>
        </p:blipFill>
        <p:spPr>
          <a:xfrm>
            <a:off x="6016752" y="1463040"/>
            <a:ext cx="5623560" cy="3513071"/>
          </a:xfrm>
          <a:prstGeom prst="rect">
            <a:avLst/>
          </a:prstGeom>
        </p:spPr>
      </p:pic>
      <p:sp>
        <p:nvSpPr>
          <p:cNvPr id="29" name="Text 25"/>
          <p:cNvSpPr txBox="1"/>
          <p:nvPr/>
        </p:nvSpPr>
        <p:spPr>
          <a:xfrm>
            <a:off x="6016752" y="5067551"/>
            <a:ext cx="5623560" cy="274320"/>
          </a:xfrm>
          <a:prstGeom prst="rect">
            <a:avLst/>
          </a:prstGeom>
          <a:noFill/>
          <a:ln/>
        </p:spPr>
        <p:txBody>
          <a:bodyPr wrap="square" lIns="0" tIns="0" rIns="0" bIns="0" rtlCol="0" anchor="t"/>
          <a:lstStyle/>
          <a:p>
            <a:pPr indent="0" marL="0">
              <a:buNone/>
            </a:pPr>
            <a:r>
              <a:rPr lang="en-US" sz="1200" i="1" dirty="0">
                <a:solidFill>
                  <a:srgbClr val="5A5F7D"/>
                </a:solidFill>
              </a:rPr>
              <a:t>The same dashboard in the dark theme (sample data)</a:t>
            </a:r>
            <a:endParaRPr lang="en-US" sz="1200" dirty="0"/>
          </a:p>
        </p:txBody>
      </p:sp>
      <p:sp>
        <p:nvSpPr>
          <p:cNvPr id="30" name="Accessibility note"/>
          <p:cNvSpPr/>
          <p:nvPr/>
        </p:nvSpPr>
        <p:spPr>
          <a:xfrm>
            <a:off x="6016752" y="5440680"/>
            <a:ext cx="5623560" cy="777240"/>
          </a:xfrm>
          <a:prstGeom prst="roundRect">
            <a:avLst>
              <a:gd name="adj" fmla="val 16471"/>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31" name="Text 27"/>
          <p:cNvSpPr txBox="1"/>
          <p:nvPr/>
        </p:nvSpPr>
        <p:spPr>
          <a:xfrm>
            <a:off x="6263640" y="5440680"/>
            <a:ext cx="5212080" cy="777240"/>
          </a:xfrm>
          <a:prstGeom prst="rect">
            <a:avLst/>
          </a:prstGeom>
          <a:noFill/>
          <a:ln/>
        </p:spPr>
        <p:txBody>
          <a:bodyPr wrap="square" lIns="0" tIns="0" rIns="0" bIns="0" rtlCol="0" anchor="ctr"/>
          <a:lstStyle/>
          <a:p>
            <a:pPr indent="0" marL="0">
              <a:buNone/>
            </a:pPr>
            <a:r>
              <a:rPr lang="en-US" sz="1400" dirty="0">
                <a:solidFill>
                  <a:schemeClr val="tx1"/>
                </a:solidFill>
              </a:rPr>
              <a:t>Keyboard focus, labelled controls and reduced-motion support are built in.</a:t>
            </a:r>
            <a:endParaRPr lang="en-US" sz="1400" dirty="0"/>
          </a:p>
        </p:txBody>
      </p:sp>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1"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Screens across the product</a:t>
            </a:r>
            <a:endParaRPr lang="en-US" sz="3400" dirty="0"/>
          </a:p>
        </p:txBody>
      </p:sp>
      <p:sp>
        <p:nvSpPr>
          <p:cNvPr id="4" name="Gallery frame Landing page"/>
          <p:cNvSpPr/>
          <p:nvPr/>
        </p:nvSpPr>
        <p:spPr>
          <a:xfrm>
            <a:off x="548640" y="1371600"/>
            <a:ext cx="3291840" cy="2057400"/>
          </a:xfrm>
          <a:prstGeom prst="roundRect">
            <a:avLst>
              <a:gd name="adj" fmla="val 6222"/>
            </a:avLst>
          </a:prstGeom>
          <a:solidFill>
            <a:schemeClr val="bg2"/>
          </a:solidFill>
          <a:ln w="9525">
            <a:solidFill>
              <a:srgbClr val="E3E4F2"/>
            </a:solidFill>
            <a:prstDash val="solid"/>
          </a:ln>
        </p:spPr>
      </p:sp>
      <p:pic>
        <p:nvPicPr>
          <p:cNvPr id="5" name="Landing page screenshot" descr="Landing page screenshot">    </p:cNvPr>
          <p:cNvPicPr>
            <a:picLocks noChangeAspect="1"/>
          </p:cNvPicPr>
          <p:nvPr/>
        </p:nvPicPr>
        <p:blipFill>
          <a:blip r:embed="rId1"/>
          <a:stretch>
            <a:fillRect/>
          </a:stretch>
        </p:blipFill>
        <p:spPr>
          <a:xfrm>
            <a:off x="594360" y="1688682"/>
            <a:ext cx="3200400" cy="1423237"/>
          </a:xfrm>
          <a:prstGeom prst="rect">
            <a:avLst/>
          </a:prstGeom>
        </p:spPr>
      </p:pic>
      <p:sp>
        <p:nvSpPr>
          <p:cNvPr id="6" name="Text 2"/>
          <p:cNvSpPr txBox="1"/>
          <p:nvPr/>
        </p:nvSpPr>
        <p:spPr>
          <a:xfrm>
            <a:off x="548640" y="3483864"/>
            <a:ext cx="3291840" cy="274320"/>
          </a:xfrm>
          <a:prstGeom prst="rect">
            <a:avLst/>
          </a:prstGeom>
          <a:noFill/>
          <a:ln/>
        </p:spPr>
        <p:txBody>
          <a:bodyPr wrap="square" lIns="0" tIns="0" rIns="0" bIns="0" rtlCol="0" anchor="t"/>
          <a:lstStyle/>
          <a:p>
            <a:pPr algn="ctr" indent="0" marL="0">
              <a:buNone/>
            </a:pPr>
            <a:r>
              <a:rPr lang="en-US" sz="1400" b="1" dirty="0">
                <a:solidFill>
                  <a:schemeClr val="tx1"/>
                </a:solidFill>
              </a:rPr>
              <a:t>Landing page</a:t>
            </a:r>
            <a:endParaRPr lang="en-US" sz="1400" dirty="0"/>
          </a:p>
        </p:txBody>
      </p:sp>
      <p:sp>
        <p:nvSpPr>
          <p:cNvPr id="7" name="Gallery frame Dashboard"/>
          <p:cNvSpPr/>
          <p:nvPr/>
        </p:nvSpPr>
        <p:spPr>
          <a:xfrm>
            <a:off x="4448556" y="1371600"/>
            <a:ext cx="3291840" cy="2057400"/>
          </a:xfrm>
          <a:prstGeom prst="roundRect">
            <a:avLst>
              <a:gd name="adj" fmla="val 6222"/>
            </a:avLst>
          </a:prstGeom>
          <a:solidFill>
            <a:schemeClr val="bg2"/>
          </a:solidFill>
          <a:ln w="9525">
            <a:solidFill>
              <a:srgbClr val="E3E4F2"/>
            </a:solidFill>
            <a:prstDash val="solid"/>
          </a:ln>
        </p:spPr>
      </p:sp>
      <p:pic>
        <p:nvPicPr>
          <p:cNvPr id="8" name="Dashboard screenshot" descr="Dashboard screenshot">    </p:cNvPr>
          <p:cNvPicPr>
            <a:picLocks noChangeAspect="1"/>
          </p:cNvPicPr>
          <p:nvPr/>
        </p:nvPicPr>
        <p:blipFill>
          <a:blip r:embed="rId2"/>
          <a:stretch>
            <a:fillRect/>
          </a:stretch>
        </p:blipFill>
        <p:spPr>
          <a:xfrm>
            <a:off x="4520968" y="1417320"/>
            <a:ext cx="3147017" cy="1965960"/>
          </a:xfrm>
          <a:prstGeom prst="rect">
            <a:avLst/>
          </a:prstGeom>
        </p:spPr>
      </p:pic>
      <p:sp>
        <p:nvSpPr>
          <p:cNvPr id="9" name="Text 4"/>
          <p:cNvSpPr txBox="1"/>
          <p:nvPr/>
        </p:nvSpPr>
        <p:spPr>
          <a:xfrm>
            <a:off x="4448556" y="3483864"/>
            <a:ext cx="3291840" cy="274320"/>
          </a:xfrm>
          <a:prstGeom prst="rect">
            <a:avLst/>
          </a:prstGeom>
          <a:noFill/>
          <a:ln/>
        </p:spPr>
        <p:txBody>
          <a:bodyPr wrap="square" lIns="0" tIns="0" rIns="0" bIns="0" rtlCol="0" anchor="t"/>
          <a:lstStyle/>
          <a:p>
            <a:pPr algn="ctr" indent="0" marL="0">
              <a:buNone/>
            </a:pPr>
            <a:r>
              <a:rPr lang="en-US" sz="1400" b="1" dirty="0">
                <a:solidFill>
                  <a:schemeClr val="tx1"/>
                </a:solidFill>
              </a:rPr>
              <a:t>Dashboard</a:t>
            </a:r>
            <a:endParaRPr lang="en-US" sz="1400" dirty="0"/>
          </a:p>
        </p:txBody>
      </p:sp>
      <p:sp>
        <p:nvSpPr>
          <p:cNvPr id="10" name="Gallery frame Templates"/>
          <p:cNvSpPr/>
          <p:nvPr/>
        </p:nvSpPr>
        <p:spPr>
          <a:xfrm>
            <a:off x="8348472" y="1371600"/>
            <a:ext cx="3291840" cy="2057400"/>
          </a:xfrm>
          <a:prstGeom prst="roundRect">
            <a:avLst>
              <a:gd name="adj" fmla="val 6222"/>
            </a:avLst>
          </a:prstGeom>
          <a:solidFill>
            <a:schemeClr val="bg2"/>
          </a:solidFill>
          <a:ln w="9525">
            <a:solidFill>
              <a:srgbClr val="E3E4F2"/>
            </a:solidFill>
            <a:prstDash val="solid"/>
          </a:ln>
        </p:spPr>
      </p:sp>
      <p:pic>
        <p:nvPicPr>
          <p:cNvPr id="11" name="Templates screenshot" descr="Templates screenshot">    </p:cNvPr>
          <p:cNvPicPr>
            <a:picLocks noChangeAspect="1"/>
          </p:cNvPicPr>
          <p:nvPr/>
        </p:nvPicPr>
        <p:blipFill>
          <a:blip r:embed="rId3"/>
          <a:stretch>
            <a:fillRect/>
          </a:stretch>
        </p:blipFill>
        <p:spPr>
          <a:xfrm>
            <a:off x="8420884" y="1417320"/>
            <a:ext cx="3147017" cy="1965960"/>
          </a:xfrm>
          <a:prstGeom prst="rect">
            <a:avLst/>
          </a:prstGeom>
        </p:spPr>
      </p:pic>
      <p:sp>
        <p:nvSpPr>
          <p:cNvPr id="12" name="Text 6"/>
          <p:cNvSpPr txBox="1"/>
          <p:nvPr/>
        </p:nvSpPr>
        <p:spPr>
          <a:xfrm>
            <a:off x="8348472" y="3483864"/>
            <a:ext cx="3291840" cy="274320"/>
          </a:xfrm>
          <a:prstGeom prst="rect">
            <a:avLst/>
          </a:prstGeom>
          <a:noFill/>
          <a:ln/>
        </p:spPr>
        <p:txBody>
          <a:bodyPr wrap="square" lIns="0" tIns="0" rIns="0" bIns="0" rtlCol="0" anchor="t"/>
          <a:lstStyle/>
          <a:p>
            <a:pPr algn="ctr" indent="0" marL="0">
              <a:buNone/>
            </a:pPr>
            <a:r>
              <a:rPr lang="en-US" sz="1400" b="1" dirty="0">
                <a:solidFill>
                  <a:schemeClr val="tx1"/>
                </a:solidFill>
              </a:rPr>
              <a:t>Templates</a:t>
            </a:r>
            <a:endParaRPr lang="en-US" sz="1400" dirty="0"/>
          </a:p>
        </p:txBody>
      </p:sp>
      <p:sp>
        <p:nvSpPr>
          <p:cNvPr id="13" name="Gallery frame History"/>
          <p:cNvSpPr/>
          <p:nvPr/>
        </p:nvSpPr>
        <p:spPr>
          <a:xfrm>
            <a:off x="548640" y="3931920"/>
            <a:ext cx="3291840" cy="2057400"/>
          </a:xfrm>
          <a:prstGeom prst="roundRect">
            <a:avLst>
              <a:gd name="adj" fmla="val 6222"/>
            </a:avLst>
          </a:prstGeom>
          <a:solidFill>
            <a:schemeClr val="bg2"/>
          </a:solidFill>
          <a:ln w="9525">
            <a:solidFill>
              <a:srgbClr val="E3E4F2"/>
            </a:solidFill>
            <a:prstDash val="solid"/>
          </a:ln>
        </p:spPr>
      </p:sp>
      <p:pic>
        <p:nvPicPr>
          <p:cNvPr id="14" name="History screenshot" descr="History screenshot">    </p:cNvPr>
          <p:cNvPicPr>
            <a:picLocks noChangeAspect="1"/>
          </p:cNvPicPr>
          <p:nvPr/>
        </p:nvPicPr>
        <p:blipFill>
          <a:blip r:embed="rId4"/>
          <a:stretch>
            <a:fillRect/>
          </a:stretch>
        </p:blipFill>
        <p:spPr>
          <a:xfrm>
            <a:off x="621052" y="3977640"/>
            <a:ext cx="3147017" cy="1965960"/>
          </a:xfrm>
          <a:prstGeom prst="rect">
            <a:avLst/>
          </a:prstGeom>
        </p:spPr>
      </p:pic>
      <p:sp>
        <p:nvSpPr>
          <p:cNvPr id="15" name="Text 8"/>
          <p:cNvSpPr txBox="1"/>
          <p:nvPr/>
        </p:nvSpPr>
        <p:spPr>
          <a:xfrm>
            <a:off x="548640" y="6044184"/>
            <a:ext cx="3291840" cy="274320"/>
          </a:xfrm>
          <a:prstGeom prst="rect">
            <a:avLst/>
          </a:prstGeom>
          <a:noFill/>
          <a:ln/>
        </p:spPr>
        <p:txBody>
          <a:bodyPr wrap="square" lIns="0" tIns="0" rIns="0" bIns="0" rtlCol="0" anchor="t"/>
          <a:lstStyle/>
          <a:p>
            <a:pPr algn="ctr" indent="0" marL="0">
              <a:buNone/>
            </a:pPr>
            <a:r>
              <a:rPr lang="en-US" sz="1400" b="1" dirty="0">
                <a:solidFill>
                  <a:schemeClr val="tx1"/>
                </a:solidFill>
              </a:rPr>
              <a:t>History</a:t>
            </a:r>
            <a:endParaRPr lang="en-US" sz="1400" dirty="0"/>
          </a:p>
        </p:txBody>
      </p:sp>
      <p:sp>
        <p:nvSpPr>
          <p:cNvPr id="16" name="Gallery frame Favorites"/>
          <p:cNvSpPr/>
          <p:nvPr/>
        </p:nvSpPr>
        <p:spPr>
          <a:xfrm>
            <a:off x="4448556" y="3931920"/>
            <a:ext cx="3291840" cy="2057400"/>
          </a:xfrm>
          <a:prstGeom prst="roundRect">
            <a:avLst>
              <a:gd name="adj" fmla="val 6222"/>
            </a:avLst>
          </a:prstGeom>
          <a:solidFill>
            <a:schemeClr val="bg2"/>
          </a:solidFill>
          <a:ln w="9525">
            <a:solidFill>
              <a:srgbClr val="E3E4F2"/>
            </a:solidFill>
            <a:prstDash val="solid"/>
          </a:ln>
        </p:spPr>
      </p:sp>
      <p:pic>
        <p:nvPicPr>
          <p:cNvPr id="17" name="Favorites screenshot" descr="Favorites screenshot">    </p:cNvPr>
          <p:cNvPicPr>
            <a:picLocks noChangeAspect="1"/>
          </p:cNvPicPr>
          <p:nvPr/>
        </p:nvPicPr>
        <p:blipFill>
          <a:blip r:embed="rId5"/>
          <a:stretch>
            <a:fillRect/>
          </a:stretch>
        </p:blipFill>
        <p:spPr>
          <a:xfrm>
            <a:off x="4520968" y="3977640"/>
            <a:ext cx="3147017" cy="1965960"/>
          </a:xfrm>
          <a:prstGeom prst="rect">
            <a:avLst/>
          </a:prstGeom>
        </p:spPr>
      </p:pic>
      <p:sp>
        <p:nvSpPr>
          <p:cNvPr id="18" name="Text 10"/>
          <p:cNvSpPr txBox="1"/>
          <p:nvPr/>
        </p:nvSpPr>
        <p:spPr>
          <a:xfrm>
            <a:off x="4448556" y="6044184"/>
            <a:ext cx="3291840" cy="274320"/>
          </a:xfrm>
          <a:prstGeom prst="rect">
            <a:avLst/>
          </a:prstGeom>
          <a:noFill/>
          <a:ln/>
        </p:spPr>
        <p:txBody>
          <a:bodyPr wrap="square" lIns="0" tIns="0" rIns="0" bIns="0" rtlCol="0" anchor="t"/>
          <a:lstStyle/>
          <a:p>
            <a:pPr algn="ctr" indent="0" marL="0">
              <a:buNone/>
            </a:pPr>
            <a:r>
              <a:rPr lang="en-US" sz="1400" b="1" dirty="0">
                <a:solidFill>
                  <a:schemeClr val="tx1"/>
                </a:solidFill>
              </a:rPr>
              <a:t>Favorites</a:t>
            </a:r>
            <a:endParaRPr lang="en-US" sz="1400" dirty="0"/>
          </a:p>
        </p:txBody>
      </p:sp>
      <p:sp>
        <p:nvSpPr>
          <p:cNvPr id="19" name="Gallery frame Settings"/>
          <p:cNvSpPr/>
          <p:nvPr/>
        </p:nvSpPr>
        <p:spPr>
          <a:xfrm>
            <a:off x="8348472" y="3931920"/>
            <a:ext cx="3291840" cy="2057400"/>
          </a:xfrm>
          <a:prstGeom prst="roundRect">
            <a:avLst>
              <a:gd name="adj" fmla="val 6222"/>
            </a:avLst>
          </a:prstGeom>
          <a:solidFill>
            <a:schemeClr val="bg2"/>
          </a:solidFill>
          <a:ln w="9525">
            <a:solidFill>
              <a:srgbClr val="E3E4F2"/>
            </a:solidFill>
            <a:prstDash val="solid"/>
          </a:ln>
        </p:spPr>
      </p:sp>
      <p:pic>
        <p:nvPicPr>
          <p:cNvPr id="20" name="Settings screenshot" descr="Settings screenshot">    </p:cNvPr>
          <p:cNvPicPr>
            <a:picLocks noChangeAspect="1"/>
          </p:cNvPicPr>
          <p:nvPr/>
        </p:nvPicPr>
        <p:blipFill>
          <a:blip r:embed="rId6"/>
          <a:stretch>
            <a:fillRect/>
          </a:stretch>
        </p:blipFill>
        <p:spPr>
          <a:xfrm>
            <a:off x="8420884" y="3977640"/>
            <a:ext cx="3147017" cy="1965960"/>
          </a:xfrm>
          <a:prstGeom prst="rect">
            <a:avLst/>
          </a:prstGeom>
        </p:spPr>
      </p:pic>
      <p:sp>
        <p:nvSpPr>
          <p:cNvPr id="21" name="Text 12"/>
          <p:cNvSpPr txBox="1"/>
          <p:nvPr/>
        </p:nvSpPr>
        <p:spPr>
          <a:xfrm>
            <a:off x="8348472" y="6044184"/>
            <a:ext cx="3291840" cy="274320"/>
          </a:xfrm>
          <a:prstGeom prst="rect">
            <a:avLst/>
          </a:prstGeom>
          <a:noFill/>
          <a:ln/>
        </p:spPr>
        <p:txBody>
          <a:bodyPr wrap="square" lIns="0" tIns="0" rIns="0" bIns="0" rtlCol="0" anchor="t"/>
          <a:lstStyle/>
          <a:p>
            <a:pPr algn="ctr" indent="0" marL="0">
              <a:buNone/>
            </a:pPr>
            <a:r>
              <a:rPr lang="en-US" sz="1400" b="1" dirty="0">
                <a:solidFill>
                  <a:schemeClr val="tx1"/>
                </a:solidFill>
              </a:rPr>
              <a:t>Settings</a:t>
            </a:r>
            <a:endParaRPr lang="en-US" sz="1400" dirty="0"/>
          </a:p>
        </p:txBody>
      </p:sp>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1"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Analytics and settings</a:t>
            </a:r>
            <a:endParaRPr lang="en-US" sz="3400" dirty="0"/>
          </a:p>
        </p:txBody>
      </p:sp>
      <p:pic>
        <p:nvPicPr>
          <p:cNvPr id="4" name="Analytics view with stat cards, tone mix and weekly chart" descr="Analytics view with stat cards, tone mix and weekly chart">    </p:cNvPr>
          <p:cNvPicPr>
            <a:picLocks noChangeAspect="1"/>
          </p:cNvPicPr>
          <p:nvPr/>
        </p:nvPicPr>
        <p:blipFill>
          <a:blip r:embed="rId1"/>
          <a:stretch>
            <a:fillRect/>
          </a:stretch>
        </p:blipFill>
        <p:spPr>
          <a:xfrm>
            <a:off x="548640" y="1463040"/>
            <a:ext cx="6675120" cy="4169987"/>
          </a:xfrm>
          <a:prstGeom prst="rect">
            <a:avLst/>
          </a:prstGeom>
        </p:spPr>
      </p:pic>
      <p:sp>
        <p:nvSpPr>
          <p:cNvPr id="5" name="Text 1"/>
          <p:cNvSpPr txBox="1"/>
          <p:nvPr/>
        </p:nvSpPr>
        <p:spPr>
          <a:xfrm>
            <a:off x="548640" y="5724467"/>
            <a:ext cx="6675120" cy="274320"/>
          </a:xfrm>
          <a:prstGeom prst="rect">
            <a:avLst/>
          </a:prstGeom>
          <a:noFill/>
          <a:ln/>
        </p:spPr>
        <p:txBody>
          <a:bodyPr wrap="square" lIns="0" tIns="0" rIns="0" bIns="0" rtlCol="0" anchor="t"/>
          <a:lstStyle/>
          <a:p>
            <a:pPr indent="0" marL="0">
              <a:buNone/>
            </a:pPr>
            <a:r>
              <a:rPr lang="en-US" sz="1200" i="1" dirty="0">
                <a:solidFill>
                  <a:srgbClr val="5A5F7D"/>
                </a:solidFill>
              </a:rPr>
              <a:t>Analytics view with sample data</a:t>
            </a:r>
            <a:endParaRPr lang="en-US" sz="1200" dirty="0"/>
          </a:p>
        </p:txBody>
      </p:sp>
      <p:sp>
        <p:nvSpPr>
          <p:cNvPr id="6" name="Analytics card"/>
          <p:cNvSpPr/>
          <p:nvPr/>
        </p:nvSpPr>
        <p:spPr>
          <a:xfrm>
            <a:off x="7498080" y="1463040"/>
            <a:ext cx="4142232" cy="2331720"/>
          </a:xfrm>
          <a:prstGeom prst="roundRect">
            <a:avLst>
              <a:gd name="adj" fmla="val 5490"/>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7" name="Text 3"/>
          <p:cNvSpPr txBox="1"/>
          <p:nvPr/>
        </p:nvSpPr>
        <p:spPr>
          <a:xfrm>
            <a:off x="7772400" y="1627632"/>
            <a:ext cx="3657600" cy="365760"/>
          </a:xfrm>
          <a:prstGeom prst="rect">
            <a:avLst/>
          </a:prstGeom>
          <a:noFill/>
          <a:ln/>
        </p:spPr>
        <p:txBody>
          <a:bodyPr wrap="square" lIns="0" tIns="0" rIns="0" bIns="0" rtlCol="0" anchor="t"/>
          <a:lstStyle/>
          <a:p>
            <a:pPr indent="0" marL="0">
              <a:buNone/>
            </a:pPr>
            <a:r>
              <a:rPr lang="en-US" sz="1800" b="1" dirty="0">
                <a:solidFill>
                  <a:schemeClr val="accent1"/>
                </a:solidFill>
              </a:rPr>
              <a:t>Analytics</a:t>
            </a:r>
            <a:endParaRPr lang="en-US" sz="1800" dirty="0"/>
          </a:p>
        </p:txBody>
      </p:sp>
      <p:sp>
        <p:nvSpPr>
          <p:cNvPr id="8" name="Text 4"/>
          <p:cNvSpPr txBox="1"/>
          <p:nvPr/>
        </p:nvSpPr>
        <p:spPr>
          <a:xfrm>
            <a:off x="7772400" y="2057400"/>
            <a:ext cx="3657600" cy="16459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Emails written and time saved</a:t>
            </a:r>
            <a:endParaRPr lang="en-US" sz="1400" dirty="0"/>
          </a:p>
          <a:p>
            <a:pPr marL="342900" indent="-342900">
              <a:spcAft>
                <a:spcPts val="400"/>
              </a:spcAft>
              <a:buSzPct val="100000"/>
              <a:buChar char="•"/>
            </a:pPr>
            <a:r>
              <a:rPr lang="en-US" sz="1400" dirty="0">
                <a:solidFill>
                  <a:schemeClr val="tx1"/>
                </a:solidFill>
              </a:rPr>
              <a:t>Average AI quality score</a:t>
            </a:r>
            <a:endParaRPr lang="en-US" sz="1400" dirty="0"/>
          </a:p>
          <a:p>
            <a:pPr marL="342900" indent="-342900">
              <a:spcAft>
                <a:spcPts val="400"/>
              </a:spcAft>
              <a:buSzPct val="100000"/>
              <a:buChar char="•"/>
            </a:pPr>
            <a:r>
              <a:rPr lang="en-US" sz="1400" dirty="0">
                <a:solidFill>
                  <a:schemeClr val="tx1"/>
                </a:solidFill>
              </a:rPr>
              <a:t>Tone mix and what you write most</a:t>
            </a:r>
            <a:endParaRPr lang="en-US" sz="1400" dirty="0"/>
          </a:p>
          <a:p>
            <a:pPr marL="342900" indent="-342900">
              <a:spcAft>
                <a:spcPts val="400"/>
              </a:spcAft>
              <a:buSzPct val="100000"/>
              <a:buChar char="•"/>
            </a:pPr>
            <a:r>
              <a:rPr lang="en-US" sz="1400" dirty="0">
                <a:solidFill>
                  <a:schemeClr val="tx1"/>
                </a:solidFill>
              </a:rPr>
              <a:t>Emails per day this week</a:t>
            </a:r>
            <a:endParaRPr lang="en-US" sz="1400" dirty="0"/>
          </a:p>
        </p:txBody>
      </p:sp>
      <p:sp>
        <p:nvSpPr>
          <p:cNvPr id="9" name="Settings card"/>
          <p:cNvSpPr/>
          <p:nvPr/>
        </p:nvSpPr>
        <p:spPr>
          <a:xfrm>
            <a:off x="7498080" y="4023360"/>
            <a:ext cx="4142232" cy="2194560"/>
          </a:xfrm>
          <a:prstGeom prst="roundRect">
            <a:avLst>
              <a:gd name="adj" fmla="val 5833"/>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10" name="Text 6"/>
          <p:cNvSpPr txBox="1"/>
          <p:nvPr/>
        </p:nvSpPr>
        <p:spPr>
          <a:xfrm>
            <a:off x="7772400" y="4187952"/>
            <a:ext cx="3657600" cy="365760"/>
          </a:xfrm>
          <a:prstGeom prst="rect">
            <a:avLst/>
          </a:prstGeom>
          <a:noFill/>
          <a:ln/>
        </p:spPr>
        <p:txBody>
          <a:bodyPr wrap="square" lIns="0" tIns="0" rIns="0" bIns="0" rtlCol="0" anchor="t"/>
          <a:lstStyle/>
          <a:p>
            <a:pPr indent="0" marL="0">
              <a:buNone/>
            </a:pPr>
            <a:r>
              <a:rPr lang="en-US" sz="1800" b="1" dirty="0">
                <a:solidFill>
                  <a:schemeClr val="accent2"/>
                </a:solidFill>
              </a:rPr>
              <a:t>Settings</a:t>
            </a:r>
            <a:endParaRPr lang="en-US" sz="1800" dirty="0"/>
          </a:p>
        </p:txBody>
      </p:sp>
      <p:sp>
        <p:nvSpPr>
          <p:cNvPr id="11" name="Text 7"/>
          <p:cNvSpPr txBox="1"/>
          <p:nvPr/>
        </p:nvSpPr>
        <p:spPr>
          <a:xfrm>
            <a:off x="7772400" y="4617720"/>
            <a:ext cx="3657600" cy="15087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Name used in sign-offs</a:t>
            </a:r>
            <a:endParaRPr lang="en-US" sz="1400" dirty="0"/>
          </a:p>
          <a:p>
            <a:pPr marL="342900" indent="-342900">
              <a:spcAft>
                <a:spcPts val="400"/>
              </a:spcAft>
              <a:buSzPct val="100000"/>
              <a:buChar char="•"/>
            </a:pPr>
            <a:r>
              <a:rPr lang="en-US" sz="1400" dirty="0">
                <a:solidFill>
                  <a:schemeClr val="tx1"/>
                </a:solidFill>
              </a:rPr>
              <a:t>Default tone and language</a:t>
            </a:r>
            <a:endParaRPr lang="en-US" sz="1400" dirty="0"/>
          </a:p>
          <a:p>
            <a:pPr marL="342900" indent="-342900">
              <a:spcAft>
                <a:spcPts val="400"/>
              </a:spcAft>
              <a:buSzPct val="100000"/>
              <a:buChar char="•"/>
            </a:pPr>
            <a:r>
              <a:rPr lang="en-US" sz="1400" dirty="0">
                <a:solidFill>
                  <a:schemeClr val="tx1"/>
                </a:solidFill>
              </a:rPr>
              <a:t>Typing animation on or off</a:t>
            </a:r>
            <a:endParaRPr lang="en-US" sz="1400" dirty="0"/>
          </a:p>
          <a:p>
            <a:pPr marL="342900" indent="-342900">
              <a:spcAft>
                <a:spcPts val="400"/>
              </a:spcAft>
              <a:buSzPct val="100000"/>
              <a:buChar char="•"/>
            </a:pPr>
            <a:r>
              <a:rPr lang="en-US" sz="1400" dirty="0">
                <a:solidFill>
                  <a:schemeClr val="tx1"/>
                </a:solidFill>
              </a:rPr>
              <a:t>Quality score on or off</a:t>
            </a:r>
            <a:endParaRPr lang="en-US" sz="1400" dirty="0"/>
          </a:p>
        </p:txBody>
      </p:sp>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1"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Data, privacy and security</a:t>
            </a:r>
            <a:endParaRPr lang="en-US" sz="3400" dirty="0"/>
          </a:p>
        </p:txBody>
      </p:sp>
      <p:sp>
        <p:nvSpPr>
          <p:cNvPr id="4" name="Node users"/>
          <p:cNvSpPr/>
          <p:nvPr/>
        </p:nvSpPr>
        <p:spPr>
          <a:xfrm>
            <a:off x="1417320" y="1463040"/>
            <a:ext cx="2926080" cy="777240"/>
          </a:xfrm>
          <a:prstGeom prst="roundRect">
            <a:avLst>
              <a:gd name="adj" fmla="val 14118"/>
            </a:avLst>
          </a:prstGeom>
          <a:solidFill>
            <a:schemeClr val="tx2"/>
          </a:solidFill>
          <a:ln w="12700">
            <a:solidFill>
              <a:schemeClr val="tx2"/>
            </a:solidFill>
            <a:prstDash val="solid"/>
          </a:ln>
          <a:effectLst>
            <a:outerShdw sx="100000" sy="100000" kx="0" ky="0" algn="bl" rotWithShape="0" blurRad="127000" dist="25400" dir="5400000">
              <a:srgbClr val="3C2E8C">
                <a:alpha val="14000"/>
              </a:srgbClr>
            </a:outerShdw>
          </a:effectLst>
        </p:spPr>
      </p:sp>
      <p:sp>
        <p:nvSpPr>
          <p:cNvPr id="5" name="Text 2"/>
          <p:cNvSpPr txBox="1"/>
          <p:nvPr/>
        </p:nvSpPr>
        <p:spPr>
          <a:xfrm>
            <a:off x="1508760" y="1463040"/>
            <a:ext cx="2743200" cy="777240"/>
          </a:xfrm>
          <a:prstGeom prst="rect">
            <a:avLst/>
          </a:prstGeom>
          <a:noFill/>
          <a:ln/>
        </p:spPr>
        <p:txBody>
          <a:bodyPr wrap="square" lIns="0" tIns="0" rIns="0" bIns="0" rtlCol="0" anchor="ctr"/>
          <a:lstStyle/>
          <a:p>
            <a:pPr algn="ctr" indent="0" marL="0">
              <a:buNone/>
            </a:pPr>
            <a:r>
              <a:rPr lang="en-US" sz="1600" b="1" dirty="0">
                <a:solidFill>
                  <a:schemeClr val="bg1"/>
                </a:solidFill>
              </a:rPr>
              <a:t>users</a:t>
            </a:r>
            <a:endParaRPr lang="en-US" sz="1600" dirty="0"/>
          </a:p>
          <a:p>
            <a:pPr algn="ctr" indent="0" marL="0">
              <a:buNone/>
            </a:pPr>
            <a:r>
              <a:rPr lang="en-US" sz="1200" dirty="0">
                <a:solidFill>
                  <a:schemeClr val="bg1"/>
                </a:solidFill>
              </a:rPr>
              <a:t>one document per visitor</a:t>
            </a:r>
            <a:endParaRPr lang="en-US" sz="1600" dirty="0"/>
          </a:p>
        </p:txBody>
      </p:sp>
      <p:sp>
        <p:nvSpPr>
          <p:cNvPr id="6" name="Node visitor"/>
          <p:cNvSpPr/>
          <p:nvPr/>
        </p:nvSpPr>
        <p:spPr>
          <a:xfrm>
            <a:off x="1417320" y="2697480"/>
            <a:ext cx="2926080" cy="777240"/>
          </a:xfrm>
          <a:prstGeom prst="roundRect">
            <a:avLst>
              <a:gd name="adj" fmla="val 14118"/>
            </a:avLst>
          </a:prstGeom>
          <a:solidFill>
            <a:schemeClr val="accent1"/>
          </a:solidFill>
          <a:ln w="12700">
            <a:solidFill>
              <a:schemeClr val="accent1"/>
            </a:solidFill>
            <a:prstDash val="solid"/>
          </a:ln>
          <a:effectLst>
            <a:outerShdw sx="100000" sy="100000" kx="0" ky="0" algn="bl" rotWithShape="0" blurRad="127000" dist="25400" dir="5400000">
              <a:srgbClr val="3C2E8C">
                <a:alpha val="14000"/>
              </a:srgbClr>
            </a:outerShdw>
          </a:effectLst>
        </p:spPr>
      </p:sp>
      <p:sp>
        <p:nvSpPr>
          <p:cNvPr id="7" name="Text 4"/>
          <p:cNvSpPr txBox="1"/>
          <p:nvPr/>
        </p:nvSpPr>
        <p:spPr>
          <a:xfrm>
            <a:off x="1508760" y="2697480"/>
            <a:ext cx="2743200" cy="777240"/>
          </a:xfrm>
          <a:prstGeom prst="rect">
            <a:avLst/>
          </a:prstGeom>
          <a:noFill/>
          <a:ln/>
        </p:spPr>
        <p:txBody>
          <a:bodyPr wrap="square" lIns="0" tIns="0" rIns="0" bIns="0" rtlCol="0" anchor="ctr"/>
          <a:lstStyle/>
          <a:p>
            <a:pPr algn="ctr" indent="0" marL="0">
              <a:buNone/>
            </a:pPr>
            <a:r>
              <a:rPr lang="en-US" sz="1600" b="1" dirty="0">
                <a:solidFill>
                  <a:schemeClr val="bg1"/>
                </a:solidFill>
              </a:rPr>
              <a:t>visitor id</a:t>
            </a:r>
            <a:endParaRPr lang="en-US" sz="1600" dirty="0"/>
          </a:p>
          <a:p>
            <a:pPr algn="ctr" indent="0" marL="0">
              <a:buNone/>
            </a:pPr>
            <a:r>
              <a:rPr lang="en-US" sz="1200" dirty="0">
                <a:solidFill>
                  <a:schemeClr val="bg1"/>
                </a:solidFill>
              </a:rPr>
              <a:t>random cookie value</a:t>
            </a:r>
            <a:endParaRPr lang="en-US" sz="1600" dirty="0"/>
          </a:p>
        </p:txBody>
      </p:sp>
      <p:sp>
        <p:nvSpPr>
          <p:cNvPr id="8" name="Link users to visitor"/>
          <p:cNvSpPr/>
          <p:nvPr/>
        </p:nvSpPr>
        <p:spPr>
          <a:xfrm>
            <a:off x="2880360" y="2240280"/>
            <a:ext cx="0" cy="457200"/>
          </a:xfrm>
          <a:prstGeom prst="line">
            <a:avLst/>
          </a:prstGeom>
          <a:noFill/>
          <a:ln w="25400">
            <a:solidFill>
              <a:srgbClr val="9B82FF"/>
            </a:solidFill>
            <a:prstDash val="solid"/>
          </a:ln>
        </p:spPr>
      </p:sp>
      <p:sp>
        <p:nvSpPr>
          <p:cNvPr id="9" name="Node emails"/>
          <p:cNvSpPr/>
          <p:nvPr/>
        </p:nvSpPr>
        <p:spPr>
          <a:xfrm>
            <a:off x="548640" y="4297680"/>
            <a:ext cx="1691640" cy="777240"/>
          </a:xfrm>
          <a:prstGeom prst="roundRect">
            <a:avLst>
              <a:gd name="adj" fmla="val 14118"/>
            </a:avLst>
          </a:prstGeom>
          <a:solidFill>
            <a:schemeClr val="accent2"/>
          </a:solidFill>
          <a:ln w="12700">
            <a:solidFill>
              <a:schemeClr val="accent2"/>
            </a:solidFill>
            <a:prstDash val="solid"/>
          </a:ln>
          <a:effectLst>
            <a:outerShdw sx="100000" sy="100000" kx="0" ky="0" algn="bl" rotWithShape="0" blurRad="127000" dist="25400" dir="5400000">
              <a:srgbClr val="3C2E8C">
                <a:alpha val="14000"/>
              </a:srgbClr>
            </a:outerShdw>
          </a:effectLst>
        </p:spPr>
      </p:sp>
      <p:sp>
        <p:nvSpPr>
          <p:cNvPr id="10" name="Text 7"/>
          <p:cNvSpPr txBox="1"/>
          <p:nvPr/>
        </p:nvSpPr>
        <p:spPr>
          <a:xfrm>
            <a:off x="640080" y="4297680"/>
            <a:ext cx="1508760" cy="777240"/>
          </a:xfrm>
          <a:prstGeom prst="rect">
            <a:avLst/>
          </a:prstGeom>
          <a:noFill/>
          <a:ln/>
        </p:spPr>
        <p:txBody>
          <a:bodyPr wrap="square" lIns="0" tIns="0" rIns="0" bIns="0" rtlCol="0" anchor="ctr"/>
          <a:lstStyle/>
          <a:p>
            <a:pPr algn="ctr" indent="0" marL="0">
              <a:buNone/>
            </a:pPr>
            <a:r>
              <a:rPr lang="en-US" sz="1600" b="1" dirty="0">
                <a:solidFill>
                  <a:schemeClr val="bg1"/>
                </a:solidFill>
              </a:rPr>
              <a:t>emails</a:t>
            </a:r>
            <a:endParaRPr lang="en-US" sz="1600" dirty="0"/>
          </a:p>
          <a:p>
            <a:pPr algn="ctr" indent="0" marL="0">
              <a:buNone/>
            </a:pPr>
            <a:r>
              <a:rPr lang="en-US" sz="1200" dirty="0">
                <a:solidFill>
                  <a:schemeClr val="bg1"/>
                </a:solidFill>
              </a:rPr>
              <a:t>drafts and meta</a:t>
            </a:r>
            <a:endParaRPr lang="en-US" sz="1600" dirty="0"/>
          </a:p>
        </p:txBody>
      </p:sp>
      <p:sp>
        <p:nvSpPr>
          <p:cNvPr id="11" name="Node templates"/>
          <p:cNvSpPr/>
          <p:nvPr/>
        </p:nvSpPr>
        <p:spPr>
          <a:xfrm>
            <a:off x="2423160" y="4297680"/>
            <a:ext cx="1691640" cy="777240"/>
          </a:xfrm>
          <a:prstGeom prst="roundRect">
            <a:avLst>
              <a:gd name="adj" fmla="val 14118"/>
            </a:avLst>
          </a:prstGeom>
          <a:solidFill>
            <a:schemeClr val="accent6"/>
          </a:solidFill>
          <a:ln w="12700">
            <a:solidFill>
              <a:schemeClr val="accent6"/>
            </a:solidFill>
            <a:prstDash val="solid"/>
          </a:ln>
          <a:effectLst>
            <a:outerShdw sx="100000" sy="100000" kx="0" ky="0" algn="bl" rotWithShape="0" blurRad="127000" dist="25400" dir="5400000">
              <a:srgbClr val="3C2E8C">
                <a:alpha val="14000"/>
              </a:srgbClr>
            </a:outerShdw>
          </a:effectLst>
        </p:spPr>
      </p:sp>
      <p:sp>
        <p:nvSpPr>
          <p:cNvPr id="12" name="Text 9"/>
          <p:cNvSpPr txBox="1"/>
          <p:nvPr/>
        </p:nvSpPr>
        <p:spPr>
          <a:xfrm>
            <a:off x="2514600" y="4297680"/>
            <a:ext cx="1508760" cy="777240"/>
          </a:xfrm>
          <a:prstGeom prst="rect">
            <a:avLst/>
          </a:prstGeom>
          <a:noFill/>
          <a:ln/>
        </p:spPr>
        <p:txBody>
          <a:bodyPr wrap="square" lIns="0" tIns="0" rIns="0" bIns="0" rtlCol="0" anchor="ctr"/>
          <a:lstStyle/>
          <a:p>
            <a:pPr algn="ctr" indent="0" marL="0">
              <a:buNone/>
            </a:pPr>
            <a:r>
              <a:rPr lang="en-US" sz="1600" b="1" dirty="0">
                <a:solidFill>
                  <a:schemeClr val="bg1"/>
                </a:solidFill>
              </a:rPr>
              <a:t>templates</a:t>
            </a:r>
            <a:endParaRPr lang="en-US" sz="1600" dirty="0"/>
          </a:p>
          <a:p>
            <a:pPr algn="ctr" indent="0" marL="0">
              <a:buNone/>
            </a:pPr>
            <a:r>
              <a:rPr lang="en-US" sz="1200" dirty="0">
                <a:solidFill>
                  <a:schemeClr val="bg1"/>
                </a:solidFill>
              </a:rPr>
              <a:t>saved by you</a:t>
            </a:r>
            <a:endParaRPr lang="en-US" sz="1600" dirty="0"/>
          </a:p>
        </p:txBody>
      </p:sp>
      <p:sp>
        <p:nvSpPr>
          <p:cNvPr id="13" name="Node settings"/>
          <p:cNvSpPr/>
          <p:nvPr/>
        </p:nvSpPr>
        <p:spPr>
          <a:xfrm>
            <a:off x="4297680" y="4297680"/>
            <a:ext cx="1463040" cy="777240"/>
          </a:xfrm>
          <a:prstGeom prst="roundRect">
            <a:avLst>
              <a:gd name="adj" fmla="val 14118"/>
            </a:avLst>
          </a:prstGeom>
          <a:solidFill>
            <a:schemeClr val="accent5"/>
          </a:solidFill>
          <a:ln w="12700">
            <a:solidFill>
              <a:schemeClr val="accent5"/>
            </a:solidFill>
            <a:prstDash val="solid"/>
          </a:ln>
          <a:effectLst>
            <a:outerShdw sx="100000" sy="100000" kx="0" ky="0" algn="bl" rotWithShape="0" blurRad="127000" dist="25400" dir="5400000">
              <a:srgbClr val="3C2E8C">
                <a:alpha val="14000"/>
              </a:srgbClr>
            </a:outerShdw>
          </a:effectLst>
        </p:spPr>
      </p:sp>
      <p:sp>
        <p:nvSpPr>
          <p:cNvPr id="14" name="Text 11"/>
          <p:cNvSpPr txBox="1"/>
          <p:nvPr/>
        </p:nvSpPr>
        <p:spPr>
          <a:xfrm>
            <a:off x="4389120" y="4297680"/>
            <a:ext cx="1280160" cy="777240"/>
          </a:xfrm>
          <a:prstGeom prst="rect">
            <a:avLst/>
          </a:prstGeom>
          <a:noFill/>
          <a:ln/>
        </p:spPr>
        <p:txBody>
          <a:bodyPr wrap="square" lIns="0" tIns="0" rIns="0" bIns="0" rtlCol="0" anchor="ctr"/>
          <a:lstStyle/>
          <a:p>
            <a:pPr algn="ctr" indent="0" marL="0">
              <a:buNone/>
            </a:pPr>
            <a:r>
              <a:rPr lang="en-US" sz="1600" b="1" dirty="0">
                <a:solidFill>
                  <a:schemeClr val="bg1"/>
                </a:solidFill>
              </a:rPr>
              <a:t>settings</a:t>
            </a:r>
            <a:endParaRPr lang="en-US" sz="1600" dirty="0"/>
          </a:p>
          <a:p>
            <a:pPr algn="ctr" indent="0" marL="0">
              <a:buNone/>
            </a:pPr>
            <a:r>
              <a:rPr lang="en-US" sz="1200" dirty="0">
                <a:solidFill>
                  <a:schemeClr val="bg1"/>
                </a:solidFill>
              </a:rPr>
              <a:t>preferences</a:t>
            </a:r>
            <a:endParaRPr lang="en-US" sz="1600" dirty="0"/>
          </a:p>
        </p:txBody>
      </p:sp>
      <p:sp>
        <p:nvSpPr>
          <p:cNvPr id="15" name="Link visitor down"/>
          <p:cNvSpPr/>
          <p:nvPr/>
        </p:nvSpPr>
        <p:spPr>
          <a:xfrm>
            <a:off x="2880360" y="3474720"/>
            <a:ext cx="0" cy="411480"/>
          </a:xfrm>
          <a:prstGeom prst="line">
            <a:avLst/>
          </a:prstGeom>
          <a:noFill/>
          <a:ln w="25400">
            <a:solidFill>
              <a:srgbClr val="9B82FF"/>
            </a:solidFill>
            <a:prstDash val="solid"/>
          </a:ln>
        </p:spPr>
      </p:sp>
      <p:sp>
        <p:nvSpPr>
          <p:cNvPr id="16" name="Link bar"/>
          <p:cNvSpPr/>
          <p:nvPr/>
        </p:nvSpPr>
        <p:spPr>
          <a:xfrm>
            <a:off x="1389888" y="3886200"/>
            <a:ext cx="3639312" cy="0"/>
          </a:xfrm>
          <a:prstGeom prst="line">
            <a:avLst/>
          </a:prstGeom>
          <a:noFill/>
          <a:ln w="25400">
            <a:solidFill>
              <a:srgbClr val="9B82FF"/>
            </a:solidFill>
            <a:prstDash val="solid"/>
          </a:ln>
        </p:spPr>
      </p:sp>
      <p:sp>
        <p:nvSpPr>
          <p:cNvPr id="17" name="Link leaf 1"/>
          <p:cNvSpPr/>
          <p:nvPr/>
        </p:nvSpPr>
        <p:spPr>
          <a:xfrm>
            <a:off x="1389888" y="3886200"/>
            <a:ext cx="0" cy="411480"/>
          </a:xfrm>
          <a:prstGeom prst="line">
            <a:avLst/>
          </a:prstGeom>
          <a:noFill/>
          <a:ln w="25400">
            <a:solidFill>
              <a:srgbClr val="9B82FF"/>
            </a:solidFill>
            <a:prstDash val="solid"/>
          </a:ln>
        </p:spPr>
      </p:sp>
      <p:sp>
        <p:nvSpPr>
          <p:cNvPr id="18" name="Link leaf 2"/>
          <p:cNvSpPr/>
          <p:nvPr/>
        </p:nvSpPr>
        <p:spPr>
          <a:xfrm>
            <a:off x="3264408" y="3886200"/>
            <a:ext cx="0" cy="411480"/>
          </a:xfrm>
          <a:prstGeom prst="line">
            <a:avLst/>
          </a:prstGeom>
          <a:noFill/>
          <a:ln w="25400">
            <a:solidFill>
              <a:srgbClr val="9B82FF"/>
            </a:solidFill>
            <a:prstDash val="solid"/>
          </a:ln>
        </p:spPr>
      </p:sp>
      <p:sp>
        <p:nvSpPr>
          <p:cNvPr id="19" name="Link leaf 3"/>
          <p:cNvSpPr/>
          <p:nvPr/>
        </p:nvSpPr>
        <p:spPr>
          <a:xfrm>
            <a:off x="5029200" y="3886200"/>
            <a:ext cx="0" cy="411480"/>
          </a:xfrm>
          <a:prstGeom prst="line">
            <a:avLst/>
          </a:prstGeom>
          <a:noFill/>
          <a:ln w="25400">
            <a:solidFill>
              <a:srgbClr val="9B82FF"/>
            </a:solidFill>
            <a:prstDash val="solid"/>
          </a:ln>
        </p:spPr>
      </p:sp>
      <p:sp>
        <p:nvSpPr>
          <p:cNvPr id="20" name="Text 17"/>
          <p:cNvSpPr txBox="1"/>
          <p:nvPr/>
        </p:nvSpPr>
        <p:spPr>
          <a:xfrm>
            <a:off x="548640" y="5349240"/>
            <a:ext cx="5303520" cy="548640"/>
          </a:xfrm>
          <a:prstGeom prst="rect">
            <a:avLst/>
          </a:prstGeom>
          <a:noFill/>
          <a:ln/>
        </p:spPr>
        <p:txBody>
          <a:bodyPr wrap="square" lIns="0" tIns="0" rIns="0" bIns="0" rtlCol="0" anchor="t"/>
          <a:lstStyle/>
          <a:p>
            <a:pPr indent="0" marL="0">
              <a:buNone/>
            </a:pPr>
            <a:r>
              <a:rPr lang="en-US" sz="1200" i="1" dirty="0">
                <a:solidFill>
                  <a:srgbClr val="5A5F7D"/>
                </a:solidFill>
              </a:rPr>
              <a:t>Firestore layout. Locally, SQLite keeps the same data in tables.</a:t>
            </a:r>
            <a:endParaRPr lang="en-US" sz="1200" dirty="0"/>
          </a:p>
        </p:txBody>
      </p:sp>
      <p:sp>
        <p:nvSpPr>
          <p:cNvPr id="21" name="Secrets stay out of code icon background"/>
          <p:cNvSpPr/>
          <p:nvPr/>
        </p:nvSpPr>
        <p:spPr>
          <a:xfrm>
            <a:off x="6400800" y="1463040"/>
            <a:ext cx="566928" cy="566928"/>
          </a:xfrm>
          <a:prstGeom prst="ellipse">
            <a:avLst/>
          </a:prstGeom>
          <a:solidFill>
            <a:schemeClr val="accent1"/>
          </a:solidFill>
          <a:ln w="12700">
            <a:solidFill>
              <a:schemeClr val="accent1"/>
            </a:solidFill>
            <a:prstDash val="solid"/>
          </a:ln>
        </p:spPr>
      </p:sp>
      <p:pic>
        <p:nvPicPr>
          <p:cNvPr id="22" name="Secrets stay out of code icon" descr="Secrets stay out of code icon">    </p:cNvPr>
          <p:cNvPicPr>
            <a:picLocks noChangeAspect="1"/>
          </p:cNvPicPr>
          <p:nvPr/>
        </p:nvPicPr>
        <p:blipFill>
          <a:blip r:embed="rId1"/>
          <a:stretch>
            <a:fillRect/>
          </a:stretch>
        </p:blipFill>
        <p:spPr>
          <a:xfrm>
            <a:off x="6542532" y="1604772"/>
            <a:ext cx="283464" cy="283464"/>
          </a:xfrm>
          <a:prstGeom prst="rect">
            <a:avLst/>
          </a:prstGeom>
        </p:spPr>
      </p:pic>
      <p:sp>
        <p:nvSpPr>
          <p:cNvPr id="23" name="Text 19"/>
          <p:cNvSpPr txBox="1"/>
          <p:nvPr/>
        </p:nvSpPr>
        <p:spPr>
          <a:xfrm>
            <a:off x="7178040" y="1435608"/>
            <a:ext cx="4480560" cy="329184"/>
          </a:xfrm>
          <a:prstGeom prst="rect">
            <a:avLst/>
          </a:prstGeom>
          <a:noFill/>
          <a:ln/>
        </p:spPr>
        <p:txBody>
          <a:bodyPr wrap="square" lIns="0" tIns="0" rIns="0" bIns="0" rtlCol="0" anchor="t"/>
          <a:lstStyle/>
          <a:p>
            <a:pPr indent="0" marL="0">
              <a:buNone/>
            </a:pPr>
            <a:r>
              <a:rPr lang="en-US" sz="1800" b="1" dirty="0">
                <a:solidFill>
                  <a:schemeClr val="tx1"/>
                </a:solidFill>
              </a:rPr>
              <a:t>Secrets stay out of code</a:t>
            </a:r>
            <a:endParaRPr lang="en-US" sz="1800" dirty="0"/>
          </a:p>
        </p:txBody>
      </p:sp>
      <p:sp>
        <p:nvSpPr>
          <p:cNvPr id="24" name="Text 20"/>
          <p:cNvSpPr txBox="1"/>
          <p:nvPr/>
        </p:nvSpPr>
        <p:spPr>
          <a:xfrm>
            <a:off x="7178040" y="1773936"/>
            <a:ext cx="4480560" cy="329184"/>
          </a:xfrm>
          <a:prstGeom prst="rect">
            <a:avLst/>
          </a:prstGeom>
          <a:noFill/>
          <a:ln/>
        </p:spPr>
        <p:txBody>
          <a:bodyPr wrap="square" lIns="0" tIns="0" rIns="0" bIns="0" rtlCol="0" anchor="t"/>
          <a:lstStyle/>
          <a:p>
            <a:pPr indent="0" marL="0">
              <a:buNone/>
            </a:pPr>
            <a:r>
              <a:rPr lang="en-US" sz="1400" dirty="0">
                <a:solidFill>
                  <a:srgbClr val="5A5F7D"/>
                </a:solidFill>
              </a:rPr>
              <a:t>Keys live in environment variables</a:t>
            </a:r>
            <a:endParaRPr lang="en-US" sz="1400" dirty="0"/>
          </a:p>
        </p:txBody>
      </p:sp>
      <p:sp>
        <p:nvSpPr>
          <p:cNvPr id="25" name="Keys never reach GitHub icon background"/>
          <p:cNvSpPr/>
          <p:nvPr/>
        </p:nvSpPr>
        <p:spPr>
          <a:xfrm>
            <a:off x="6400800" y="2404872"/>
            <a:ext cx="566928" cy="566928"/>
          </a:xfrm>
          <a:prstGeom prst="ellipse">
            <a:avLst/>
          </a:prstGeom>
          <a:solidFill>
            <a:schemeClr val="accent2"/>
          </a:solidFill>
          <a:ln w="12700">
            <a:solidFill>
              <a:schemeClr val="accent2"/>
            </a:solidFill>
            <a:prstDash val="solid"/>
          </a:ln>
        </p:spPr>
      </p:sp>
      <p:pic>
        <p:nvPicPr>
          <p:cNvPr id="26" name="Keys never reach GitHub icon" descr="Keys never reach GitHub icon">    </p:cNvPr>
          <p:cNvPicPr>
            <a:picLocks noChangeAspect="1"/>
          </p:cNvPicPr>
          <p:nvPr/>
        </p:nvPicPr>
        <p:blipFill>
          <a:blip r:embed="rId2"/>
          <a:stretch>
            <a:fillRect/>
          </a:stretch>
        </p:blipFill>
        <p:spPr>
          <a:xfrm>
            <a:off x="6542532" y="2546604"/>
            <a:ext cx="283464" cy="283464"/>
          </a:xfrm>
          <a:prstGeom prst="rect">
            <a:avLst/>
          </a:prstGeom>
        </p:spPr>
      </p:pic>
      <p:sp>
        <p:nvSpPr>
          <p:cNvPr id="27" name="Text 22"/>
          <p:cNvSpPr txBox="1"/>
          <p:nvPr/>
        </p:nvSpPr>
        <p:spPr>
          <a:xfrm>
            <a:off x="7178040" y="2377440"/>
            <a:ext cx="4480560" cy="329184"/>
          </a:xfrm>
          <a:prstGeom prst="rect">
            <a:avLst/>
          </a:prstGeom>
          <a:noFill/>
          <a:ln/>
        </p:spPr>
        <p:txBody>
          <a:bodyPr wrap="square" lIns="0" tIns="0" rIns="0" bIns="0" rtlCol="0" anchor="t"/>
          <a:lstStyle/>
          <a:p>
            <a:pPr indent="0" marL="0">
              <a:buNone/>
            </a:pPr>
            <a:r>
              <a:rPr lang="en-US" sz="1800" b="1" dirty="0">
                <a:solidFill>
                  <a:schemeClr val="tx1"/>
                </a:solidFill>
              </a:rPr>
              <a:t>Keys never reach GitHub</a:t>
            </a:r>
            <a:endParaRPr lang="en-US" sz="1800" dirty="0"/>
          </a:p>
        </p:txBody>
      </p:sp>
      <p:sp>
        <p:nvSpPr>
          <p:cNvPr id="28" name="Text 23"/>
          <p:cNvSpPr txBox="1"/>
          <p:nvPr/>
        </p:nvSpPr>
        <p:spPr>
          <a:xfrm>
            <a:off x="7178040" y="2715768"/>
            <a:ext cx="4480560" cy="329184"/>
          </a:xfrm>
          <a:prstGeom prst="rect">
            <a:avLst/>
          </a:prstGeom>
          <a:noFill/>
          <a:ln/>
        </p:spPr>
        <p:txBody>
          <a:bodyPr wrap="square" lIns="0" tIns="0" rIns="0" bIns="0" rtlCol="0" anchor="t"/>
          <a:lstStyle/>
          <a:p>
            <a:pPr indent="0" marL="0">
              <a:buNone/>
            </a:pPr>
            <a:r>
              <a:rPr lang="en-US" sz="1400" dirty="0">
                <a:solidFill>
                  <a:srgbClr val="5A5F7D"/>
                </a:solidFill>
              </a:rPr>
              <a:t>.gitignore blocks .env and key files</a:t>
            </a:r>
            <a:endParaRPr lang="en-US" sz="1400" dirty="0"/>
          </a:p>
        </p:txBody>
      </p:sp>
      <p:sp>
        <p:nvSpPr>
          <p:cNvPr id="29" name="Private space per visitor icon background"/>
          <p:cNvSpPr/>
          <p:nvPr/>
        </p:nvSpPr>
        <p:spPr>
          <a:xfrm>
            <a:off x="6400800" y="3346704"/>
            <a:ext cx="566928" cy="566928"/>
          </a:xfrm>
          <a:prstGeom prst="ellipse">
            <a:avLst/>
          </a:prstGeom>
          <a:solidFill>
            <a:schemeClr val="accent6"/>
          </a:solidFill>
          <a:ln w="12700">
            <a:solidFill>
              <a:schemeClr val="accent6"/>
            </a:solidFill>
            <a:prstDash val="solid"/>
          </a:ln>
        </p:spPr>
      </p:sp>
      <p:pic>
        <p:nvPicPr>
          <p:cNvPr id="30" name="Private space per visitor icon" descr="Private space per visitor icon">    </p:cNvPr>
          <p:cNvPicPr>
            <a:picLocks noChangeAspect="1"/>
          </p:cNvPicPr>
          <p:nvPr/>
        </p:nvPicPr>
        <p:blipFill>
          <a:blip r:embed="rId3"/>
          <a:stretch>
            <a:fillRect/>
          </a:stretch>
        </p:blipFill>
        <p:spPr>
          <a:xfrm>
            <a:off x="6542532" y="3488436"/>
            <a:ext cx="283464" cy="283464"/>
          </a:xfrm>
          <a:prstGeom prst="rect">
            <a:avLst/>
          </a:prstGeom>
        </p:spPr>
      </p:pic>
      <p:sp>
        <p:nvSpPr>
          <p:cNvPr id="31" name="Text 25"/>
          <p:cNvSpPr txBox="1"/>
          <p:nvPr/>
        </p:nvSpPr>
        <p:spPr>
          <a:xfrm>
            <a:off x="7178040" y="3319272"/>
            <a:ext cx="4480560" cy="329184"/>
          </a:xfrm>
          <a:prstGeom prst="rect">
            <a:avLst/>
          </a:prstGeom>
          <a:noFill/>
          <a:ln/>
        </p:spPr>
        <p:txBody>
          <a:bodyPr wrap="square" lIns="0" tIns="0" rIns="0" bIns="0" rtlCol="0" anchor="t"/>
          <a:lstStyle/>
          <a:p>
            <a:pPr indent="0" marL="0">
              <a:buNone/>
            </a:pPr>
            <a:r>
              <a:rPr lang="en-US" sz="1800" b="1" dirty="0">
                <a:solidFill>
                  <a:schemeClr val="tx1"/>
                </a:solidFill>
              </a:rPr>
              <a:t>Private space per visitor</a:t>
            </a:r>
            <a:endParaRPr lang="en-US" sz="1800" dirty="0"/>
          </a:p>
        </p:txBody>
      </p:sp>
      <p:sp>
        <p:nvSpPr>
          <p:cNvPr id="32" name="Text 26"/>
          <p:cNvSpPr txBox="1"/>
          <p:nvPr/>
        </p:nvSpPr>
        <p:spPr>
          <a:xfrm>
            <a:off x="7178040" y="3657600"/>
            <a:ext cx="4480560" cy="329184"/>
          </a:xfrm>
          <a:prstGeom prst="rect">
            <a:avLst/>
          </a:prstGeom>
          <a:noFill/>
          <a:ln/>
        </p:spPr>
        <p:txBody>
          <a:bodyPr wrap="square" lIns="0" tIns="0" rIns="0" bIns="0" rtlCol="0" anchor="t"/>
          <a:lstStyle/>
          <a:p>
            <a:pPr indent="0" marL="0">
              <a:buNone/>
            </a:pPr>
            <a:r>
              <a:rPr lang="en-US" sz="1400" dirty="0">
                <a:solidFill>
                  <a:srgbClr val="5A5F7D"/>
                </a:solidFill>
              </a:rPr>
              <a:t>Cookie is HttpOnly, Secure, SameSite=Lax</a:t>
            </a:r>
            <a:endParaRPr lang="en-US" sz="1400" dirty="0"/>
          </a:p>
        </p:txBody>
      </p:sp>
      <p:sp>
        <p:nvSpPr>
          <p:cNvPr id="33" name="Server-only database access icon background"/>
          <p:cNvSpPr/>
          <p:nvPr/>
        </p:nvSpPr>
        <p:spPr>
          <a:xfrm>
            <a:off x="6400800" y="4288536"/>
            <a:ext cx="566928" cy="566928"/>
          </a:xfrm>
          <a:prstGeom prst="ellipse">
            <a:avLst/>
          </a:prstGeom>
          <a:solidFill>
            <a:schemeClr val="accent5"/>
          </a:solidFill>
          <a:ln w="12700">
            <a:solidFill>
              <a:schemeClr val="accent5"/>
            </a:solidFill>
            <a:prstDash val="solid"/>
          </a:ln>
        </p:spPr>
      </p:sp>
      <p:pic>
        <p:nvPicPr>
          <p:cNvPr id="34" name="Server-only database access icon" descr="Server-only database access icon">    </p:cNvPr>
          <p:cNvPicPr>
            <a:picLocks noChangeAspect="1"/>
          </p:cNvPicPr>
          <p:nvPr/>
        </p:nvPicPr>
        <p:blipFill>
          <a:blip r:embed="rId4"/>
          <a:stretch>
            <a:fillRect/>
          </a:stretch>
        </p:blipFill>
        <p:spPr>
          <a:xfrm>
            <a:off x="6542532" y="4430268"/>
            <a:ext cx="283464" cy="283464"/>
          </a:xfrm>
          <a:prstGeom prst="rect">
            <a:avLst/>
          </a:prstGeom>
        </p:spPr>
      </p:pic>
      <p:sp>
        <p:nvSpPr>
          <p:cNvPr id="35" name="Text 28"/>
          <p:cNvSpPr txBox="1"/>
          <p:nvPr/>
        </p:nvSpPr>
        <p:spPr>
          <a:xfrm>
            <a:off x="7178040" y="4261104"/>
            <a:ext cx="4480560" cy="329184"/>
          </a:xfrm>
          <a:prstGeom prst="rect">
            <a:avLst/>
          </a:prstGeom>
          <a:noFill/>
          <a:ln/>
        </p:spPr>
        <p:txBody>
          <a:bodyPr wrap="square" lIns="0" tIns="0" rIns="0" bIns="0" rtlCol="0" anchor="t"/>
          <a:lstStyle/>
          <a:p>
            <a:pPr indent="0" marL="0">
              <a:buNone/>
            </a:pPr>
            <a:r>
              <a:rPr lang="en-US" sz="1800" b="1" dirty="0">
                <a:solidFill>
                  <a:schemeClr val="tx1"/>
                </a:solidFill>
              </a:rPr>
              <a:t>Server-only database access</a:t>
            </a:r>
            <a:endParaRPr lang="en-US" sz="1800" dirty="0"/>
          </a:p>
        </p:txBody>
      </p:sp>
      <p:sp>
        <p:nvSpPr>
          <p:cNvPr id="36" name="Text 29"/>
          <p:cNvSpPr txBox="1"/>
          <p:nvPr/>
        </p:nvSpPr>
        <p:spPr>
          <a:xfrm>
            <a:off x="7178040" y="4599432"/>
            <a:ext cx="4480560" cy="329184"/>
          </a:xfrm>
          <a:prstGeom prst="rect">
            <a:avLst/>
          </a:prstGeom>
          <a:noFill/>
          <a:ln/>
        </p:spPr>
        <p:txBody>
          <a:bodyPr wrap="square" lIns="0" tIns="0" rIns="0" bIns="0" rtlCol="0" anchor="t"/>
          <a:lstStyle/>
          <a:p>
            <a:pPr indent="0" marL="0">
              <a:buNone/>
            </a:pPr>
            <a:r>
              <a:rPr lang="en-US" sz="1400" dirty="0">
                <a:solidFill>
                  <a:srgbClr val="5A5F7D"/>
                </a:solidFill>
              </a:rPr>
              <a:t>Firestore rules stay locked</a:t>
            </a:r>
            <a:endParaRPr lang="en-US" sz="1400" dirty="0"/>
          </a:p>
        </p:txBody>
      </p:sp>
      <p:sp>
        <p:nvSpPr>
          <p:cNvPr id="37" name="Input limits everywhere icon background"/>
          <p:cNvSpPr/>
          <p:nvPr/>
        </p:nvSpPr>
        <p:spPr>
          <a:xfrm>
            <a:off x="6400800" y="5230368"/>
            <a:ext cx="566928" cy="566928"/>
          </a:xfrm>
          <a:prstGeom prst="ellipse">
            <a:avLst/>
          </a:prstGeom>
          <a:solidFill>
            <a:schemeClr val="accent1"/>
          </a:solidFill>
          <a:ln w="12700">
            <a:solidFill>
              <a:schemeClr val="accent1"/>
            </a:solidFill>
            <a:prstDash val="solid"/>
          </a:ln>
        </p:spPr>
      </p:sp>
      <p:pic>
        <p:nvPicPr>
          <p:cNvPr id="38" name="Input limits everywhere icon" descr="Input limits everywhere icon">    </p:cNvPr>
          <p:cNvPicPr>
            <a:picLocks noChangeAspect="1"/>
          </p:cNvPicPr>
          <p:nvPr/>
        </p:nvPicPr>
        <p:blipFill>
          <a:blip r:embed="rId5"/>
          <a:stretch>
            <a:fillRect/>
          </a:stretch>
        </p:blipFill>
        <p:spPr>
          <a:xfrm>
            <a:off x="6542532" y="5372100"/>
            <a:ext cx="283464" cy="283464"/>
          </a:xfrm>
          <a:prstGeom prst="rect">
            <a:avLst/>
          </a:prstGeom>
        </p:spPr>
      </p:pic>
      <p:sp>
        <p:nvSpPr>
          <p:cNvPr id="39" name="Text 31"/>
          <p:cNvSpPr txBox="1"/>
          <p:nvPr/>
        </p:nvSpPr>
        <p:spPr>
          <a:xfrm>
            <a:off x="7178040" y="5202936"/>
            <a:ext cx="4480560" cy="329184"/>
          </a:xfrm>
          <a:prstGeom prst="rect">
            <a:avLst/>
          </a:prstGeom>
          <a:noFill/>
          <a:ln/>
        </p:spPr>
        <p:txBody>
          <a:bodyPr wrap="square" lIns="0" tIns="0" rIns="0" bIns="0" rtlCol="0" anchor="t"/>
          <a:lstStyle/>
          <a:p>
            <a:pPr indent="0" marL="0">
              <a:buNone/>
            </a:pPr>
            <a:r>
              <a:rPr lang="en-US" sz="1800" b="1" dirty="0">
                <a:solidFill>
                  <a:schemeClr val="tx1"/>
                </a:solidFill>
              </a:rPr>
              <a:t>Input limits everywhere</a:t>
            </a:r>
            <a:endParaRPr lang="en-US" sz="1800" dirty="0"/>
          </a:p>
        </p:txBody>
      </p:sp>
      <p:sp>
        <p:nvSpPr>
          <p:cNvPr id="40" name="Text 32"/>
          <p:cNvSpPr txBox="1"/>
          <p:nvPr/>
        </p:nvSpPr>
        <p:spPr>
          <a:xfrm>
            <a:off x="7178040" y="5541264"/>
            <a:ext cx="4480560" cy="329184"/>
          </a:xfrm>
          <a:prstGeom prst="rect">
            <a:avLst/>
          </a:prstGeom>
          <a:noFill/>
          <a:ln/>
        </p:spPr>
        <p:txBody>
          <a:bodyPr wrap="square" lIns="0" tIns="0" rIns="0" bIns="0" rtlCol="0" anchor="t"/>
          <a:lstStyle/>
          <a:p>
            <a:pPr indent="0" marL="0">
              <a:buNone/>
            </a:pPr>
            <a:r>
              <a:rPr lang="en-US" sz="1400" dirty="0">
                <a:solidFill>
                  <a:srgbClr val="5A5F7D"/>
                </a:solidFill>
              </a:rPr>
              <a:t>Pydantic checks every request</a:t>
            </a:r>
            <a:endParaRPr lang="en-US" sz="1400" dirty="0"/>
          </a:p>
        </p:txBody>
      </p:sp>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1"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Testing and quality</a:t>
            </a:r>
            <a:endParaRPr lang="en-US" sz="3400" dirty="0"/>
          </a:p>
        </p:txBody>
      </p:sp>
      <p:sp>
        <p:nvSpPr>
          <p:cNvPr id="4" name="Chart card"/>
          <p:cNvSpPr/>
          <p:nvPr/>
        </p:nvSpPr>
        <p:spPr>
          <a:xfrm>
            <a:off x="548640" y="1463040"/>
            <a:ext cx="6309360" cy="4754880"/>
          </a:xfrm>
          <a:prstGeom prst="roundRect">
            <a:avLst>
              <a:gd name="adj" fmla="val 2692"/>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graphicFrame>
        <p:nvGraphicFramePr>
          <p:cNvPr id="5" name="Chart 0" descr=""/>
          <p:cNvGraphicFramePr/>
          <p:nvPr/>
        </p:nvGraphicFramePr>
        <p:xfrm>
          <a:off x="731520" y="1600200"/>
          <a:ext cx="5943600" cy="4480560"/>
        </p:xfrm>
        <a:graphic xmlns:a="http://schemas.openxmlformats.org/drawingml/2006/main">
          <a:graphicData uri="http://schemas.openxmlformats.org/drawingml/2006/chart">
            <c:chart xmlns:c="http://schemas.openxmlformats.org/drawingml/2006/chart" r:id="rId1"/>
          </a:graphicData>
        </a:graphic>
      </p:graphicFrame>
      <p:sp>
        <p:nvSpPr>
          <p:cNvPr id="6" name="Total card"/>
          <p:cNvSpPr/>
          <p:nvPr/>
        </p:nvSpPr>
        <p:spPr>
          <a:xfrm>
            <a:off x="7132320" y="1463040"/>
            <a:ext cx="4507992" cy="1828800"/>
          </a:xfrm>
          <a:prstGeom prst="roundRect">
            <a:avLst>
              <a:gd name="adj" fmla="val 7000"/>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7" name="Text 3"/>
          <p:cNvSpPr txBox="1"/>
          <p:nvPr/>
        </p:nvSpPr>
        <p:spPr>
          <a:xfrm>
            <a:off x="7406640" y="1600200"/>
            <a:ext cx="1737360" cy="1554480"/>
          </a:xfrm>
          <a:prstGeom prst="rect">
            <a:avLst/>
          </a:prstGeom>
          <a:noFill/>
          <a:ln/>
        </p:spPr>
        <p:txBody>
          <a:bodyPr wrap="square" lIns="0" tIns="0" rIns="0" bIns="0" rtlCol="0" anchor="ctr"/>
          <a:lstStyle/>
          <a:p>
            <a:pPr indent="0" marL="0">
              <a:buNone/>
            </a:pPr>
            <a:r>
              <a:rPr lang="en-US" sz="6000" b="1" dirty="0">
                <a:solidFill>
                  <a:schemeClr val="accent1"/>
                </a:solidFill>
                <a:latin typeface="+mj-lt" pitchFamily="34" charset="0"/>
                <a:ea typeface="+mj-lt" pitchFamily="34" charset="-122"/>
                <a:cs typeface="+mj-lt" pitchFamily="34" charset="-120"/>
              </a:rPr>
              <a:t>110</a:t>
            </a:r>
            <a:endParaRPr lang="en-US" sz="6000" dirty="0"/>
          </a:p>
        </p:txBody>
      </p:sp>
      <p:sp>
        <p:nvSpPr>
          <p:cNvPr id="8" name="Text 4"/>
          <p:cNvSpPr txBox="1"/>
          <p:nvPr/>
        </p:nvSpPr>
        <p:spPr>
          <a:xfrm>
            <a:off x="9144000" y="1600200"/>
            <a:ext cx="2377440" cy="1554480"/>
          </a:xfrm>
          <a:prstGeom prst="rect">
            <a:avLst/>
          </a:prstGeom>
          <a:noFill/>
          <a:ln/>
        </p:spPr>
        <p:txBody>
          <a:bodyPr wrap="square" lIns="0" tIns="0" rIns="0" bIns="0" rtlCol="0" anchor="ctr"/>
          <a:lstStyle/>
          <a:p>
            <a:pPr indent="0" marL="0">
              <a:buNone/>
            </a:pPr>
            <a:r>
              <a:rPr lang="en-US" sz="1600" b="1" dirty="0">
                <a:solidFill>
                  <a:schemeClr val="tx1"/>
                </a:solidFill>
              </a:rPr>
              <a:t>checks, all passing</a:t>
            </a:r>
            <a:endParaRPr lang="en-US" sz="1600" dirty="0"/>
          </a:p>
          <a:p>
            <a:pPr indent="0" marL="0">
              <a:buNone/>
            </a:pPr>
            <a:r>
              <a:rPr lang="en-US" sz="1600" dirty="0">
                <a:solidFill>
                  <a:schemeClr val="tx1"/>
                </a:solidFill>
              </a:rPr>
              <a:t>across three test runs</a:t>
            </a:r>
            <a:endParaRPr lang="en-US" sz="1600" dirty="0"/>
          </a:p>
        </p:txBody>
      </p:sp>
      <p:sp>
        <p:nvSpPr>
          <p:cNvPr id="9" name="Coverage card"/>
          <p:cNvSpPr/>
          <p:nvPr/>
        </p:nvSpPr>
        <p:spPr>
          <a:xfrm>
            <a:off x="7132320" y="3520440"/>
            <a:ext cx="4507992" cy="2697480"/>
          </a:xfrm>
          <a:prstGeom prst="roundRect">
            <a:avLst>
              <a:gd name="adj" fmla="val 4746"/>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10" name="Text 6"/>
          <p:cNvSpPr txBox="1"/>
          <p:nvPr/>
        </p:nvSpPr>
        <p:spPr>
          <a:xfrm>
            <a:off x="7406640" y="3657600"/>
            <a:ext cx="4023360" cy="365760"/>
          </a:xfrm>
          <a:prstGeom prst="rect">
            <a:avLst/>
          </a:prstGeom>
          <a:noFill/>
          <a:ln/>
        </p:spPr>
        <p:txBody>
          <a:bodyPr wrap="square" lIns="0" tIns="0" rIns="0" bIns="0" rtlCol="0" anchor="t"/>
          <a:lstStyle/>
          <a:p>
            <a:pPr indent="0" marL="0">
              <a:buNone/>
            </a:pPr>
            <a:r>
              <a:rPr lang="en-US" sz="1800" b="1" dirty="0">
                <a:solidFill>
                  <a:schemeClr val="tx1"/>
                </a:solidFill>
              </a:rPr>
              <a:t>What is covered</a:t>
            </a:r>
            <a:endParaRPr lang="en-US" sz="1800" dirty="0"/>
          </a:p>
        </p:txBody>
      </p:sp>
      <p:sp>
        <p:nvSpPr>
          <p:cNvPr id="11" name="Text 7"/>
          <p:cNvSpPr txBox="1"/>
          <p:nvPr/>
        </p:nvSpPr>
        <p:spPr>
          <a:xfrm>
            <a:off x="7406640" y="4114800"/>
            <a:ext cx="4023360" cy="19202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Every dashboard view and AI tool</a:t>
            </a:r>
            <a:endParaRPr lang="en-US" sz="1400" dirty="0"/>
          </a:p>
          <a:p>
            <a:pPr marL="342900" indent="-342900">
              <a:spcAft>
                <a:spcPts val="500"/>
              </a:spcAft>
              <a:buSzPct val="100000"/>
              <a:buChar char="•"/>
            </a:pPr>
            <a:r>
              <a:rPr lang="en-US" sz="1400" dirty="0">
                <a:solidFill>
                  <a:schemeClr val="tx1"/>
                </a:solidFill>
              </a:rPr>
              <a:t>Reply mode, templates, export hooks</a:t>
            </a:r>
            <a:endParaRPr lang="en-US" sz="1400" dirty="0"/>
          </a:p>
          <a:p>
            <a:pPr marL="342900" indent="-342900">
              <a:spcAft>
                <a:spcPts val="500"/>
              </a:spcAft>
              <a:buSzPct val="100000"/>
              <a:buChar char="•"/>
            </a:pPr>
            <a:r>
              <a:rPr lang="en-US" sz="1400" dirty="0">
                <a:solidFill>
                  <a:schemeClr val="tx1"/>
                </a:solidFill>
              </a:rPr>
              <a:t>Private visitor spaces and clearing data</a:t>
            </a:r>
            <a:endParaRPr lang="en-US" sz="1400" dirty="0"/>
          </a:p>
          <a:p>
            <a:pPr marL="342900" indent="-342900">
              <a:spcAft>
                <a:spcPts val="500"/>
              </a:spcAft>
              <a:buSzPct val="100000"/>
              <a:buChar char="•"/>
            </a:pPr>
            <a:r>
              <a:rPr lang="en-US" sz="1400" dirty="0">
                <a:solidFill>
                  <a:schemeClr val="tx1"/>
                </a:solidFill>
              </a:rPr>
              <a:t>Phone layout without sideways scroll</a:t>
            </a:r>
            <a:endParaRPr lang="en-US" sz="1400" dirty="0"/>
          </a:p>
        </p:txBody>
      </p:sp>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1"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Deploying on Vercel with Firebase</a:t>
            </a:r>
            <a:endParaRPr lang="en-US" sz="3400" dirty="0"/>
          </a:p>
        </p:txBody>
      </p:sp>
      <p:pic>
        <p:nvPicPr>
          <p:cNvPr id="4" name="Deployment diagram: GitHub to Vercel to CDN and function, using Groq and Firestore" descr="Deployment diagram: GitHub to Vercel to CDN and function, using Groq and Firestore">    </p:cNvPr>
          <p:cNvPicPr>
            <a:picLocks noChangeAspect="1"/>
          </p:cNvPicPr>
          <p:nvPr/>
        </p:nvPicPr>
        <p:blipFill>
          <a:blip r:embed="rId1"/>
          <a:stretch>
            <a:fillRect/>
          </a:stretch>
        </p:blipFill>
        <p:spPr>
          <a:xfrm>
            <a:off x="883768" y="1371600"/>
            <a:ext cx="10424160" cy="3178426"/>
          </a:xfrm>
          <a:prstGeom prst="rect">
            <a:avLst/>
          </a:prstGeom>
        </p:spPr>
      </p:pic>
      <p:sp>
        <p:nvSpPr>
          <p:cNvPr id="5" name="Deploy step 1"/>
          <p:cNvSpPr/>
          <p:nvPr/>
        </p:nvSpPr>
        <p:spPr>
          <a:xfrm>
            <a:off x="548640" y="4778626"/>
            <a:ext cx="3566160" cy="1143000"/>
          </a:xfrm>
          <a:prstGeom prst="roundRect">
            <a:avLst>
              <a:gd name="adj" fmla="val 11200"/>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6" name="Text 2"/>
          <p:cNvSpPr txBox="1"/>
          <p:nvPr/>
        </p:nvSpPr>
        <p:spPr>
          <a:xfrm>
            <a:off x="777240" y="4915786"/>
            <a:ext cx="3154680" cy="365760"/>
          </a:xfrm>
          <a:prstGeom prst="rect">
            <a:avLst/>
          </a:prstGeom>
          <a:noFill/>
          <a:ln/>
        </p:spPr>
        <p:txBody>
          <a:bodyPr wrap="square" lIns="0" tIns="0" rIns="0" bIns="0" rtlCol="0" anchor="t"/>
          <a:lstStyle/>
          <a:p>
            <a:pPr indent="0" marL="0">
              <a:buNone/>
            </a:pPr>
            <a:r>
              <a:rPr lang="en-US" sz="1600" b="1" dirty="0">
                <a:solidFill>
                  <a:schemeClr val="accent1"/>
                </a:solidFill>
              </a:rPr>
              <a:t>Add GROQ_API_KEY</a:t>
            </a:r>
            <a:endParaRPr lang="en-US" sz="1600" dirty="0"/>
          </a:p>
        </p:txBody>
      </p:sp>
      <p:sp>
        <p:nvSpPr>
          <p:cNvPr id="7" name="Text 3"/>
          <p:cNvSpPr txBox="1"/>
          <p:nvPr/>
        </p:nvSpPr>
        <p:spPr>
          <a:xfrm>
            <a:off x="777240" y="5299834"/>
            <a:ext cx="3154680" cy="502920"/>
          </a:xfrm>
          <a:prstGeom prst="rect">
            <a:avLst/>
          </a:prstGeom>
          <a:noFill/>
          <a:ln/>
        </p:spPr>
        <p:txBody>
          <a:bodyPr wrap="square" lIns="0" tIns="0" rIns="0" bIns="0" rtlCol="0" anchor="t"/>
          <a:lstStyle/>
          <a:p>
            <a:pPr indent="0" marL="0">
              <a:buNone/>
            </a:pPr>
            <a:r>
              <a:rPr lang="en-US" sz="1400" dirty="0">
                <a:solidFill>
                  <a:srgbClr val="5A5F7D"/>
                </a:solidFill>
              </a:rPr>
              <a:t>Your Groq key, kept in the Vercel settings</a:t>
            </a:r>
            <a:endParaRPr lang="en-US" sz="1400" dirty="0"/>
          </a:p>
        </p:txBody>
      </p:sp>
      <p:sp>
        <p:nvSpPr>
          <p:cNvPr id="8" name="Deploy step 2"/>
          <p:cNvSpPr/>
          <p:nvPr/>
        </p:nvSpPr>
        <p:spPr>
          <a:xfrm>
            <a:off x="4311396" y="4778626"/>
            <a:ext cx="3566160" cy="1143000"/>
          </a:xfrm>
          <a:prstGeom prst="roundRect">
            <a:avLst>
              <a:gd name="adj" fmla="val 11200"/>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9" name="Text 5"/>
          <p:cNvSpPr txBox="1"/>
          <p:nvPr/>
        </p:nvSpPr>
        <p:spPr>
          <a:xfrm>
            <a:off x="4539996" y="4915786"/>
            <a:ext cx="3154680" cy="365760"/>
          </a:xfrm>
          <a:prstGeom prst="rect">
            <a:avLst/>
          </a:prstGeom>
          <a:noFill/>
          <a:ln/>
        </p:spPr>
        <p:txBody>
          <a:bodyPr wrap="square" lIns="0" tIns="0" rIns="0" bIns="0" rtlCol="0" anchor="t"/>
          <a:lstStyle/>
          <a:p>
            <a:pPr indent="0" marL="0">
              <a:buNone/>
            </a:pPr>
            <a:r>
              <a:rPr lang="en-US" sz="1600" b="1" dirty="0">
                <a:solidFill>
                  <a:schemeClr val="accent1"/>
                </a:solidFill>
              </a:rPr>
              <a:t>Add the Firebase key</a:t>
            </a:r>
            <a:endParaRPr lang="en-US" sz="1600" dirty="0"/>
          </a:p>
        </p:txBody>
      </p:sp>
      <p:sp>
        <p:nvSpPr>
          <p:cNvPr id="10" name="Text 6"/>
          <p:cNvSpPr txBox="1"/>
          <p:nvPr/>
        </p:nvSpPr>
        <p:spPr>
          <a:xfrm>
            <a:off x="4539996" y="5299834"/>
            <a:ext cx="3154680" cy="502920"/>
          </a:xfrm>
          <a:prstGeom prst="rect">
            <a:avLst/>
          </a:prstGeom>
          <a:noFill/>
          <a:ln/>
        </p:spPr>
        <p:txBody>
          <a:bodyPr wrap="square" lIns="0" tIns="0" rIns="0" bIns="0" rtlCol="0" anchor="t"/>
          <a:lstStyle/>
          <a:p>
            <a:pPr indent="0" marL="0">
              <a:buNone/>
            </a:pPr>
            <a:r>
              <a:rPr lang="en-US" sz="1400" dirty="0">
                <a:solidFill>
                  <a:srgbClr val="5A5F7D"/>
                </a:solidFill>
              </a:rPr>
              <a:t>FIREBASE_SERVICE_ACCOUNT_B64, made with the encoder tool</a:t>
            </a:r>
            <a:endParaRPr lang="en-US" sz="1400" dirty="0"/>
          </a:p>
        </p:txBody>
      </p:sp>
      <p:sp>
        <p:nvSpPr>
          <p:cNvPr id="11" name="Deploy step 3"/>
          <p:cNvSpPr/>
          <p:nvPr/>
        </p:nvSpPr>
        <p:spPr>
          <a:xfrm>
            <a:off x="8074152" y="4778626"/>
            <a:ext cx="3566160" cy="1143000"/>
          </a:xfrm>
          <a:prstGeom prst="roundRect">
            <a:avLst>
              <a:gd name="adj" fmla="val 11200"/>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12" name="Text 8"/>
          <p:cNvSpPr txBox="1"/>
          <p:nvPr/>
        </p:nvSpPr>
        <p:spPr>
          <a:xfrm>
            <a:off x="8302752" y="4915786"/>
            <a:ext cx="3154680" cy="365760"/>
          </a:xfrm>
          <a:prstGeom prst="rect">
            <a:avLst/>
          </a:prstGeom>
          <a:noFill/>
          <a:ln/>
        </p:spPr>
        <p:txBody>
          <a:bodyPr wrap="square" lIns="0" tIns="0" rIns="0" bIns="0" rtlCol="0" anchor="t"/>
          <a:lstStyle/>
          <a:p>
            <a:pPr indent="0" marL="0">
              <a:buNone/>
            </a:pPr>
            <a:r>
              <a:rPr lang="en-US" sz="1600" b="1" dirty="0">
                <a:solidFill>
                  <a:schemeClr val="accent1"/>
                </a:solidFill>
              </a:rPr>
              <a:t>Check /api/health</a:t>
            </a:r>
            <a:endParaRPr lang="en-US" sz="1600" dirty="0"/>
          </a:p>
        </p:txBody>
      </p:sp>
      <p:sp>
        <p:nvSpPr>
          <p:cNvPr id="13" name="Text 9"/>
          <p:cNvSpPr txBox="1"/>
          <p:nvPr/>
        </p:nvSpPr>
        <p:spPr>
          <a:xfrm>
            <a:off x="8302752" y="5299834"/>
            <a:ext cx="3154680" cy="502920"/>
          </a:xfrm>
          <a:prstGeom prst="rect">
            <a:avLst/>
          </a:prstGeom>
          <a:noFill/>
          <a:ln/>
        </p:spPr>
        <p:txBody>
          <a:bodyPr wrap="square" lIns="0" tIns="0" rIns="0" bIns="0" rtlCol="0" anchor="t"/>
          <a:lstStyle/>
          <a:p>
            <a:pPr indent="0" marL="0">
              <a:buNone/>
            </a:pPr>
            <a:r>
              <a:rPr lang="en-US" sz="1400" dirty="0">
                <a:solidFill>
                  <a:srgbClr val="5A5F7D"/>
                </a:solidFill>
              </a:rPr>
              <a:t>It should report storage: firestore</a:t>
            </a:r>
            <a:endParaRPr lang="en-US" sz="1400" dirty="0"/>
          </a:p>
        </p:txBody>
      </p:sp>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1"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Challenges and how we solved them</a:t>
            </a:r>
            <a:endParaRPr lang="en-US" sz="3400" dirty="0"/>
          </a:p>
        </p:txBody>
      </p:sp>
      <p:graphicFrame>
        <p:nvGraphicFramePr>
          <p:cNvPr id="20" name="Challenges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4206240"/>
                <a:gridCol w="6885432"/>
              </a:tblGrid>
              <a:tr h="502920">
                <a:tc>
                  <a:txBody>
                    <a:bodyPr/>
                    <a:lstStyle/>
                    <a:p>
                      <a:pPr indent="0" marL="0">
                        <a:buNone/>
                      </a:pPr>
                      <a:r>
                        <a:rPr lang="en-US" sz="1600" b="1" dirty="0">
                          <a:solidFill>
                            <a:schemeClr val="bg1"/>
                          </a:solidFill>
                        </a:rPr>
                        <a:t>Challenge</a:t>
                      </a:r>
                      <a:endParaRPr lang="en-US" sz="1600" dirty="0"/>
                    </a:p>
                  </a:txBody>
                  <a:tcPr marL="164592" marR="164592"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Solution</a:t>
                      </a:r>
                      <a:endParaRPr lang="en-US" sz="1600" dirty="0"/>
                    </a:p>
                  </a:txBody>
                  <a:tcPr marL="164592" marR="164592"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accent1"/>
                    </a:solidFill>
                  </a:tcPr>
                </a:tc>
              </a:tr>
              <a:tr h="713232">
                <a:tc>
                  <a:txBody>
                    <a:bodyPr/>
                    <a:lstStyle/>
                    <a:p>
                      <a:pPr indent="0" marL="0">
                        <a:buNone/>
                      </a:pPr>
                      <a:r>
                        <a:rPr lang="en-US" sz="1600" b="1" dirty="0">
                          <a:solidFill>
                            <a:schemeClr val="tx1"/>
                          </a:solidFill>
                        </a:rPr>
                        <a:t>Vercel's disk is read-only</a:t>
                      </a:r>
                      <a:endParaRPr lang="en-US" sz="1600" dirty="0"/>
                    </a:p>
                  </a:txBody>
                  <a:tcPr marL="164592" marR="164592"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 storage layer picks Firestore in production and keeps SQLite for local work</a:t>
                      </a:r>
                      <a:endParaRPr lang="en-US" sz="1600" dirty="0"/>
                    </a:p>
                  </a:txBody>
                  <a:tcPr marL="164592" marR="164592"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1"/>
                    </a:solidFill>
                  </a:tcPr>
                </a:tc>
              </a:tr>
              <a:tr h="713232">
                <a:tc>
                  <a:txBody>
                    <a:bodyPr/>
                    <a:lstStyle/>
                    <a:p>
                      <a:pPr indent="0" marL="0">
                        <a:buNone/>
                      </a:pPr>
                      <a:r>
                        <a:rPr lang="en-US" sz="1600" b="1" dirty="0">
                          <a:solidFill>
                            <a:schemeClr val="tx1"/>
                          </a:solidFill>
                        </a:rPr>
                        <a:t>The AI does not always return clean JSON</a:t>
                      </a:r>
                      <a:endParaRPr lang="en-US" sz="1600" dirty="0"/>
                    </a:p>
                  </a:txBody>
                  <a:tcPr marL="164592" marR="164592"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JSON mode, a tolerant parser and a clear error message</a:t>
                      </a:r>
                      <a:endParaRPr lang="en-US" sz="1600" dirty="0"/>
                    </a:p>
                  </a:txBody>
                  <a:tcPr marL="164592" marR="164592"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2"/>
                    </a:solidFill>
                  </a:tcPr>
                </a:tc>
              </a:tr>
              <a:tr h="713232">
                <a:tc>
                  <a:txBody>
                    <a:bodyPr/>
                    <a:lstStyle/>
                    <a:p>
                      <a:pPr indent="0" marL="0">
                        <a:buNone/>
                      </a:pPr>
                      <a:r>
                        <a:rPr lang="en-US" sz="1600" b="1" dirty="0">
                          <a:solidFill>
                            <a:schemeClr val="tx1"/>
                          </a:solidFill>
                        </a:rPr>
                        <a:t>Pasted emails could contain instructions</a:t>
                      </a:r>
                      <a:endParaRPr lang="en-US" sz="1600" dirty="0"/>
                    </a:p>
                  </a:txBody>
                  <a:tcPr marL="164592" marR="164592"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Prompts mark them as content to answer, not commands</a:t>
                      </a:r>
                      <a:endParaRPr lang="en-US" sz="1600" dirty="0"/>
                    </a:p>
                  </a:txBody>
                  <a:tcPr marL="164592" marR="164592"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1"/>
                    </a:solidFill>
                  </a:tcPr>
                </a:tc>
              </a:tr>
              <a:tr h="713232">
                <a:tc>
                  <a:txBody>
                    <a:bodyPr/>
                    <a:lstStyle/>
                    <a:p>
                      <a:pPr indent="0" marL="0">
                        <a:buNone/>
                      </a:pPr>
                      <a:r>
                        <a:rPr lang="en-US" sz="1600" b="1" dirty="0">
                          <a:solidFill>
                            <a:schemeClr val="tx1"/>
                          </a:solidFill>
                        </a:rPr>
                        <a:t>A public link would share one database</a:t>
                      </a:r>
                      <a:endParaRPr lang="en-US" sz="1600" dirty="0"/>
                    </a:p>
                  </a:txBody>
                  <a:tcPr marL="164592" marR="164592"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 cookie gives every browser a private space</a:t>
                      </a:r>
                      <a:endParaRPr lang="en-US" sz="1600" dirty="0"/>
                    </a:p>
                  </a:txBody>
                  <a:tcPr marL="164592" marR="164592"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2"/>
                    </a:solidFill>
                  </a:tcPr>
                </a:tc>
              </a:tr>
              <a:tr h="713232">
                <a:tc>
                  <a:txBody>
                    <a:bodyPr/>
                    <a:lstStyle/>
                    <a:p>
                      <a:pPr indent="0" marL="0">
                        <a:buNone/>
                      </a:pPr>
                      <a:r>
                        <a:rPr lang="en-US" sz="1600" b="1" dirty="0">
                          <a:solidFill>
                            <a:schemeClr val="tx1"/>
                          </a:solidFill>
                        </a:rPr>
                        <a:t>Urdu in Word and PDF</a:t>
                      </a:r>
                      <a:endParaRPr lang="en-US" sz="1600" dirty="0"/>
                    </a:p>
                  </a:txBody>
                  <a:tcPr marL="164592" marR="164592"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Right-to-left support in the page, in Word, and a print-only sheet for PDF</a:t>
                      </a:r>
                      <a:endParaRPr lang="en-US" sz="1600" dirty="0"/>
                    </a:p>
                  </a:txBody>
                  <a:tcPr marL="164592" marR="164592"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1"/>
                    </a:solidFill>
                  </a:tcPr>
                </a:tc>
              </a:tr>
              <a:tr h="713232">
                <a:tc>
                  <a:txBody>
                    <a:bodyPr/>
                    <a:lstStyle/>
                    <a:p>
                      <a:pPr indent="0" marL="0">
                        <a:buNone/>
                      </a:pPr>
                      <a:r>
                        <a:rPr lang="en-US" sz="1600" b="1" dirty="0">
                          <a:solidFill>
                            <a:schemeClr val="tx1"/>
                          </a:solidFill>
                        </a:rPr>
                        <a:t>The page must feel alive while the AI works</a:t>
                      </a:r>
                      <a:endParaRPr lang="en-US" sz="1600" dirty="0"/>
                    </a:p>
                  </a:txBody>
                  <a:tcPr marL="164592" marR="164592"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Locked controls, progress labels and a typing effect</a:t>
                      </a:r>
                      <a:endParaRPr lang="en-US" sz="1600" dirty="0"/>
                    </a:p>
                  </a:txBody>
                  <a:tcPr marL="164592" marR="164592" marT="0" marB="0" anchor="ctr">
                    <a:lnL w="9525" cap="flat" cmpd="sng" algn="ctr">
                      <a:solidFill>
                        <a:srgbClr val="E3E4F2"/>
                      </a:solidFill>
                      <a:prstDash val="solid"/>
                      <a:round/>
                      <a:headEnd type="none" w="med" len="med"/>
                      <a:tailEnd type="none" w="med" len="med"/>
                    </a:lnL>
                    <a:lnR w="9525" cap="flat" cmpd="sng" algn="ctr">
                      <a:solidFill>
                        <a:srgbClr val="E3E4F2"/>
                      </a:solidFill>
                      <a:prstDash val="solid"/>
                      <a:round/>
                      <a:headEnd type="none" w="med" len="med"/>
                      <a:tailEnd type="none" w="med" len="med"/>
                    </a:lnR>
                    <a:lnT w="9525" cap="flat" cmpd="sng" algn="ctr">
                      <a:solidFill>
                        <a:srgbClr val="E3E4F2"/>
                      </a:solidFill>
                      <a:prstDash val="solid"/>
                      <a:round/>
                      <a:headEnd type="none" w="med" len="med"/>
                      <a:tailEnd type="none" w="med" len="med"/>
                    </a:lnT>
                    <a:lnB w="9525" cap="flat" cmpd="sng" algn="ctr">
                      <a:solidFill>
                        <a:srgbClr val="E3E4F2"/>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1" type="title" hasCustomPrompt="1"/>
          </p:nvPr>
        </p:nvSpPr>
        <p:spPr>
          <a:xfrm>
            <a:off x="548640" y="347472"/>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Where LetterLy can go next</a:t>
            </a:r>
            <a:endParaRPr lang="en-US" sz="3400" dirty="0"/>
          </a:p>
        </p:txBody>
      </p:sp>
      <p:sp>
        <p:nvSpPr>
          <p:cNvPr id="4" name="Future column Next"/>
          <p:cNvSpPr/>
          <p:nvPr/>
        </p:nvSpPr>
        <p:spPr>
          <a:xfrm>
            <a:off x="548640" y="1463040"/>
            <a:ext cx="3566160" cy="4754880"/>
          </a:xfrm>
          <a:prstGeom prst="roundRect">
            <a:avLst>
              <a:gd name="adj" fmla="val 3590"/>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5" name="Next icon background"/>
          <p:cNvSpPr/>
          <p:nvPr/>
        </p:nvSpPr>
        <p:spPr>
          <a:xfrm>
            <a:off x="822960" y="1691640"/>
            <a:ext cx="640080" cy="640080"/>
          </a:xfrm>
          <a:prstGeom prst="ellipse">
            <a:avLst/>
          </a:prstGeom>
          <a:solidFill>
            <a:schemeClr val="accent1"/>
          </a:solidFill>
          <a:ln w="12700">
            <a:solidFill>
              <a:schemeClr val="accent1"/>
            </a:solidFill>
            <a:prstDash val="solid"/>
          </a:ln>
        </p:spPr>
      </p:sp>
      <p:pic>
        <p:nvPicPr>
          <p:cNvPr id="6" name="Next icon" descr="Next icon">    </p:cNvPr>
          <p:cNvPicPr>
            <a:picLocks noChangeAspect="1"/>
          </p:cNvPicPr>
          <p:nvPr/>
        </p:nvPicPr>
        <p:blipFill>
          <a:blip r:embed="rId1"/>
          <a:stretch>
            <a:fillRect/>
          </a:stretch>
        </p:blipFill>
        <p:spPr>
          <a:xfrm>
            <a:off x="982980" y="1851660"/>
            <a:ext cx="320040" cy="320040"/>
          </a:xfrm>
          <a:prstGeom prst="rect">
            <a:avLst/>
          </a:prstGeom>
        </p:spPr>
      </p:pic>
      <p:sp>
        <p:nvSpPr>
          <p:cNvPr id="7" name="Text 3"/>
          <p:cNvSpPr txBox="1"/>
          <p:nvPr/>
        </p:nvSpPr>
        <p:spPr>
          <a:xfrm>
            <a:off x="1600200" y="1691640"/>
            <a:ext cx="2286000" cy="6400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Next</a:t>
            </a:r>
            <a:endParaRPr lang="en-US" sz="2400" dirty="0"/>
          </a:p>
        </p:txBody>
      </p:sp>
      <p:sp>
        <p:nvSpPr>
          <p:cNvPr id="8" name="Text 4"/>
          <p:cNvSpPr txBox="1"/>
          <p:nvPr/>
        </p:nvSpPr>
        <p:spPr>
          <a:xfrm>
            <a:off x="822960" y="2743200"/>
            <a:ext cx="3108960" cy="365760"/>
          </a:xfrm>
          <a:prstGeom prst="rect">
            <a:avLst/>
          </a:prstGeom>
          <a:noFill/>
          <a:ln/>
        </p:spPr>
        <p:txBody>
          <a:bodyPr wrap="square" lIns="0" tIns="0" rIns="0" bIns="0" rtlCol="0" anchor="t"/>
          <a:lstStyle/>
          <a:p>
            <a:pPr indent="0" marL="0">
              <a:buNone/>
            </a:pPr>
            <a:r>
              <a:rPr lang="en-US" sz="1800" b="1" dirty="0">
                <a:solidFill>
                  <a:schemeClr val="accent1"/>
                </a:solidFill>
              </a:rPr>
              <a:t>Sign-in</a:t>
            </a:r>
            <a:endParaRPr lang="en-US" sz="1800" dirty="0"/>
          </a:p>
        </p:txBody>
      </p:sp>
      <p:sp>
        <p:nvSpPr>
          <p:cNvPr id="9" name="Text 5"/>
          <p:cNvSpPr txBox="1"/>
          <p:nvPr/>
        </p:nvSpPr>
        <p:spPr>
          <a:xfrm>
            <a:off x="822960" y="3127248"/>
            <a:ext cx="3108960" cy="548640"/>
          </a:xfrm>
          <a:prstGeom prst="rect">
            <a:avLst/>
          </a:prstGeom>
          <a:noFill/>
          <a:ln/>
        </p:spPr>
        <p:txBody>
          <a:bodyPr wrap="square" lIns="0" tIns="0" rIns="0" bIns="0" rtlCol="0" anchor="t"/>
          <a:lstStyle/>
          <a:p>
            <a:pPr indent="0" marL="0">
              <a:buNone/>
            </a:pPr>
            <a:r>
              <a:rPr lang="en-US" sz="1400" dirty="0">
                <a:solidFill>
                  <a:srgbClr val="5A5F7D"/>
                </a:solidFill>
              </a:rPr>
              <a:t>Accounts instead of cookie spaces</a:t>
            </a:r>
            <a:endParaRPr lang="en-US" sz="1400" dirty="0"/>
          </a:p>
        </p:txBody>
      </p:sp>
      <p:sp>
        <p:nvSpPr>
          <p:cNvPr id="10" name="Text 6"/>
          <p:cNvSpPr txBox="1"/>
          <p:nvPr/>
        </p:nvSpPr>
        <p:spPr>
          <a:xfrm>
            <a:off x="822960" y="3931920"/>
            <a:ext cx="3108960" cy="365760"/>
          </a:xfrm>
          <a:prstGeom prst="rect">
            <a:avLst/>
          </a:prstGeom>
          <a:noFill/>
          <a:ln/>
        </p:spPr>
        <p:txBody>
          <a:bodyPr wrap="square" lIns="0" tIns="0" rIns="0" bIns="0" rtlCol="0" anchor="t"/>
          <a:lstStyle/>
          <a:p>
            <a:pPr indent="0" marL="0">
              <a:buNone/>
            </a:pPr>
            <a:r>
              <a:rPr lang="en-US" sz="1800" b="1" dirty="0">
                <a:solidFill>
                  <a:schemeClr val="accent1"/>
                </a:solidFill>
              </a:rPr>
              <a:t>Rate limits</a:t>
            </a:r>
            <a:endParaRPr lang="en-US" sz="1800" dirty="0"/>
          </a:p>
        </p:txBody>
      </p:sp>
      <p:sp>
        <p:nvSpPr>
          <p:cNvPr id="11" name="Text 7"/>
          <p:cNvSpPr txBox="1"/>
          <p:nvPr/>
        </p:nvSpPr>
        <p:spPr>
          <a:xfrm>
            <a:off x="822960" y="4315968"/>
            <a:ext cx="3108960" cy="548640"/>
          </a:xfrm>
          <a:prstGeom prst="rect">
            <a:avLst/>
          </a:prstGeom>
          <a:noFill/>
          <a:ln/>
        </p:spPr>
        <p:txBody>
          <a:bodyPr wrap="square" lIns="0" tIns="0" rIns="0" bIns="0" rtlCol="0" anchor="t"/>
          <a:lstStyle/>
          <a:p>
            <a:pPr indent="0" marL="0">
              <a:buNone/>
            </a:pPr>
            <a:r>
              <a:rPr lang="en-US" sz="1400" dirty="0">
                <a:solidFill>
                  <a:srgbClr val="5A5F7D"/>
                </a:solidFill>
              </a:rPr>
              <a:t>Protect the shared AI key</a:t>
            </a:r>
            <a:endParaRPr lang="en-US" sz="1400" dirty="0"/>
          </a:p>
        </p:txBody>
      </p:sp>
      <p:sp>
        <p:nvSpPr>
          <p:cNvPr id="12" name="Text 8"/>
          <p:cNvSpPr txBox="1"/>
          <p:nvPr/>
        </p:nvSpPr>
        <p:spPr>
          <a:xfrm>
            <a:off x="822960" y="5120640"/>
            <a:ext cx="3108960" cy="365760"/>
          </a:xfrm>
          <a:prstGeom prst="rect">
            <a:avLst/>
          </a:prstGeom>
          <a:noFill/>
          <a:ln/>
        </p:spPr>
        <p:txBody>
          <a:bodyPr wrap="square" lIns="0" tIns="0" rIns="0" bIns="0" rtlCol="0" anchor="t"/>
          <a:lstStyle/>
          <a:p>
            <a:pPr indent="0" marL="0">
              <a:buNone/>
            </a:pPr>
            <a:r>
              <a:rPr lang="en-US" sz="1800" b="1" dirty="0">
                <a:solidFill>
                  <a:schemeClr val="accent1"/>
                </a:solidFill>
              </a:rPr>
              <a:t>Streaming</a:t>
            </a:r>
            <a:endParaRPr lang="en-US" sz="1800" dirty="0"/>
          </a:p>
        </p:txBody>
      </p:sp>
      <p:sp>
        <p:nvSpPr>
          <p:cNvPr id="13" name="Text 9"/>
          <p:cNvSpPr txBox="1"/>
          <p:nvPr/>
        </p:nvSpPr>
        <p:spPr>
          <a:xfrm>
            <a:off x="822960" y="5504688"/>
            <a:ext cx="3108960" cy="548640"/>
          </a:xfrm>
          <a:prstGeom prst="rect">
            <a:avLst/>
          </a:prstGeom>
          <a:noFill/>
          <a:ln/>
        </p:spPr>
        <p:txBody>
          <a:bodyPr wrap="square" lIns="0" tIns="0" rIns="0" bIns="0" rtlCol="0" anchor="t"/>
          <a:lstStyle/>
          <a:p>
            <a:pPr indent="0" marL="0">
              <a:buNone/>
            </a:pPr>
            <a:r>
              <a:rPr lang="en-US" sz="1400" dirty="0">
                <a:solidFill>
                  <a:srgbClr val="5A5F7D"/>
                </a:solidFill>
              </a:rPr>
              <a:t>Show the email as it is written</a:t>
            </a:r>
            <a:endParaRPr lang="en-US" sz="1400" dirty="0"/>
          </a:p>
        </p:txBody>
      </p:sp>
      <p:sp>
        <p:nvSpPr>
          <p:cNvPr id="14" name="Future column Later"/>
          <p:cNvSpPr/>
          <p:nvPr/>
        </p:nvSpPr>
        <p:spPr>
          <a:xfrm>
            <a:off x="4311396" y="1463040"/>
            <a:ext cx="3566160" cy="4754880"/>
          </a:xfrm>
          <a:prstGeom prst="roundRect">
            <a:avLst>
              <a:gd name="adj" fmla="val 3590"/>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15" name="Later icon background"/>
          <p:cNvSpPr/>
          <p:nvPr/>
        </p:nvSpPr>
        <p:spPr>
          <a:xfrm>
            <a:off x="4585716" y="1691640"/>
            <a:ext cx="640080" cy="640080"/>
          </a:xfrm>
          <a:prstGeom prst="ellipse">
            <a:avLst/>
          </a:prstGeom>
          <a:solidFill>
            <a:schemeClr val="accent2"/>
          </a:solidFill>
          <a:ln w="12700">
            <a:solidFill>
              <a:schemeClr val="accent2"/>
            </a:solidFill>
            <a:prstDash val="solid"/>
          </a:ln>
        </p:spPr>
      </p:sp>
      <p:pic>
        <p:nvPicPr>
          <p:cNvPr id="16" name="Later icon" descr="Later icon">    </p:cNvPr>
          <p:cNvPicPr>
            <a:picLocks noChangeAspect="1"/>
          </p:cNvPicPr>
          <p:nvPr/>
        </p:nvPicPr>
        <p:blipFill>
          <a:blip r:embed="rId2"/>
          <a:stretch>
            <a:fillRect/>
          </a:stretch>
        </p:blipFill>
        <p:spPr>
          <a:xfrm>
            <a:off x="4745736" y="1851660"/>
            <a:ext cx="320040" cy="320040"/>
          </a:xfrm>
          <a:prstGeom prst="rect">
            <a:avLst/>
          </a:prstGeom>
        </p:spPr>
      </p:pic>
      <p:sp>
        <p:nvSpPr>
          <p:cNvPr id="17" name="Text 12"/>
          <p:cNvSpPr txBox="1"/>
          <p:nvPr/>
        </p:nvSpPr>
        <p:spPr>
          <a:xfrm>
            <a:off x="5362956" y="1691640"/>
            <a:ext cx="2286000" cy="6400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Later</a:t>
            </a:r>
            <a:endParaRPr lang="en-US" sz="2400" dirty="0"/>
          </a:p>
        </p:txBody>
      </p:sp>
      <p:sp>
        <p:nvSpPr>
          <p:cNvPr id="18" name="Text 13"/>
          <p:cNvSpPr txBox="1"/>
          <p:nvPr/>
        </p:nvSpPr>
        <p:spPr>
          <a:xfrm>
            <a:off x="4585716" y="2743200"/>
            <a:ext cx="3108960" cy="365760"/>
          </a:xfrm>
          <a:prstGeom prst="rect">
            <a:avLst/>
          </a:prstGeom>
          <a:noFill/>
          <a:ln/>
        </p:spPr>
        <p:txBody>
          <a:bodyPr wrap="square" lIns="0" tIns="0" rIns="0" bIns="0" rtlCol="0" anchor="t"/>
          <a:lstStyle/>
          <a:p>
            <a:pPr indent="0" marL="0">
              <a:buNone/>
            </a:pPr>
            <a:r>
              <a:rPr lang="en-US" sz="1800" b="1" dirty="0">
                <a:solidFill>
                  <a:schemeClr val="accent2"/>
                </a:solidFill>
              </a:rPr>
              <a:t>More languages</a:t>
            </a:r>
            <a:endParaRPr lang="en-US" sz="1800" dirty="0"/>
          </a:p>
        </p:txBody>
      </p:sp>
      <p:sp>
        <p:nvSpPr>
          <p:cNvPr id="19" name="Text 14"/>
          <p:cNvSpPr txBox="1"/>
          <p:nvPr/>
        </p:nvSpPr>
        <p:spPr>
          <a:xfrm>
            <a:off x="4585716" y="3127248"/>
            <a:ext cx="3108960" cy="548640"/>
          </a:xfrm>
          <a:prstGeom prst="rect">
            <a:avLst/>
          </a:prstGeom>
          <a:noFill/>
          <a:ln/>
        </p:spPr>
        <p:txBody>
          <a:bodyPr wrap="square" lIns="0" tIns="0" rIns="0" bIns="0" rtlCol="0" anchor="t"/>
          <a:lstStyle/>
          <a:p>
            <a:pPr indent="0" marL="0">
              <a:buNone/>
            </a:pPr>
            <a:r>
              <a:rPr lang="en-US" sz="1400" dirty="0">
                <a:solidFill>
                  <a:srgbClr val="5A5F7D"/>
                </a:solidFill>
              </a:rPr>
              <a:t>Arabic, Hindi and more</a:t>
            </a:r>
            <a:endParaRPr lang="en-US" sz="1400" dirty="0"/>
          </a:p>
        </p:txBody>
      </p:sp>
      <p:sp>
        <p:nvSpPr>
          <p:cNvPr id="20" name="Text 15"/>
          <p:cNvSpPr txBox="1"/>
          <p:nvPr/>
        </p:nvSpPr>
        <p:spPr>
          <a:xfrm>
            <a:off x="4585716" y="3931920"/>
            <a:ext cx="3108960" cy="365760"/>
          </a:xfrm>
          <a:prstGeom prst="rect">
            <a:avLst/>
          </a:prstGeom>
          <a:noFill/>
          <a:ln/>
        </p:spPr>
        <p:txBody>
          <a:bodyPr wrap="square" lIns="0" tIns="0" rIns="0" bIns="0" rtlCol="0" anchor="t"/>
          <a:lstStyle/>
          <a:p>
            <a:pPr indent="0" marL="0">
              <a:buNone/>
            </a:pPr>
            <a:r>
              <a:rPr lang="en-US" sz="1800" b="1" dirty="0">
                <a:solidFill>
                  <a:schemeClr val="accent2"/>
                </a:solidFill>
              </a:rPr>
              <a:t>Send from Gmail</a:t>
            </a:r>
            <a:endParaRPr lang="en-US" sz="1800" dirty="0"/>
          </a:p>
        </p:txBody>
      </p:sp>
      <p:sp>
        <p:nvSpPr>
          <p:cNvPr id="21" name="Text 16"/>
          <p:cNvSpPr txBox="1"/>
          <p:nvPr/>
        </p:nvSpPr>
        <p:spPr>
          <a:xfrm>
            <a:off x="4585716" y="4315968"/>
            <a:ext cx="3108960" cy="548640"/>
          </a:xfrm>
          <a:prstGeom prst="rect">
            <a:avLst/>
          </a:prstGeom>
          <a:noFill/>
          <a:ln/>
        </p:spPr>
        <p:txBody>
          <a:bodyPr wrap="square" lIns="0" tIns="0" rIns="0" bIns="0" rtlCol="0" anchor="t"/>
          <a:lstStyle/>
          <a:p>
            <a:pPr indent="0" marL="0">
              <a:buNone/>
            </a:pPr>
            <a:r>
              <a:rPr lang="en-US" sz="1400" dirty="0">
                <a:solidFill>
                  <a:srgbClr val="5A5F7D"/>
                </a:solidFill>
              </a:rPr>
              <a:t>Mail provider integration</a:t>
            </a:r>
            <a:endParaRPr lang="en-US" sz="1400" dirty="0"/>
          </a:p>
        </p:txBody>
      </p:sp>
      <p:sp>
        <p:nvSpPr>
          <p:cNvPr id="22" name="Text 17"/>
          <p:cNvSpPr txBox="1"/>
          <p:nvPr/>
        </p:nvSpPr>
        <p:spPr>
          <a:xfrm>
            <a:off x="4585716" y="5120640"/>
            <a:ext cx="3108960" cy="365760"/>
          </a:xfrm>
          <a:prstGeom prst="rect">
            <a:avLst/>
          </a:prstGeom>
          <a:noFill/>
          <a:ln/>
        </p:spPr>
        <p:txBody>
          <a:bodyPr wrap="square" lIns="0" tIns="0" rIns="0" bIns="0" rtlCol="0" anchor="t"/>
          <a:lstStyle/>
          <a:p>
            <a:pPr indent="0" marL="0">
              <a:buNone/>
            </a:pPr>
            <a:r>
              <a:rPr lang="en-US" sz="1800" b="1" dirty="0">
                <a:solidFill>
                  <a:schemeClr val="accent2"/>
                </a:solidFill>
              </a:rPr>
              <a:t>Team templates</a:t>
            </a:r>
            <a:endParaRPr lang="en-US" sz="1800" dirty="0"/>
          </a:p>
        </p:txBody>
      </p:sp>
      <p:sp>
        <p:nvSpPr>
          <p:cNvPr id="23" name="Text 18"/>
          <p:cNvSpPr txBox="1"/>
          <p:nvPr/>
        </p:nvSpPr>
        <p:spPr>
          <a:xfrm>
            <a:off x="4585716" y="5504688"/>
            <a:ext cx="3108960" cy="548640"/>
          </a:xfrm>
          <a:prstGeom prst="rect">
            <a:avLst/>
          </a:prstGeom>
          <a:noFill/>
          <a:ln/>
        </p:spPr>
        <p:txBody>
          <a:bodyPr wrap="square" lIns="0" tIns="0" rIns="0" bIns="0" rtlCol="0" anchor="t"/>
          <a:lstStyle/>
          <a:p>
            <a:pPr indent="0" marL="0">
              <a:buNone/>
            </a:pPr>
            <a:r>
              <a:rPr lang="en-US" sz="1400" dirty="0">
                <a:solidFill>
                  <a:srgbClr val="5A5F7D"/>
                </a:solidFill>
              </a:rPr>
              <a:t>Share templates with a group</a:t>
            </a:r>
            <a:endParaRPr lang="en-US" sz="1400" dirty="0"/>
          </a:p>
        </p:txBody>
      </p:sp>
      <p:sp>
        <p:nvSpPr>
          <p:cNvPr id="24" name="Future column Ideas"/>
          <p:cNvSpPr/>
          <p:nvPr/>
        </p:nvSpPr>
        <p:spPr>
          <a:xfrm>
            <a:off x="8074152" y="1463040"/>
            <a:ext cx="3566160" cy="4754880"/>
          </a:xfrm>
          <a:prstGeom prst="roundRect">
            <a:avLst>
              <a:gd name="adj" fmla="val 3590"/>
            </a:avLst>
          </a:prstGeom>
          <a:solidFill>
            <a:schemeClr val="bg1"/>
          </a:solidFill>
          <a:ln w="9525">
            <a:solidFill>
              <a:srgbClr val="E3E4F2"/>
            </a:solidFill>
            <a:prstDash val="solid"/>
          </a:ln>
          <a:effectLst>
            <a:outerShdw sx="100000" sy="100000" kx="0" ky="0" algn="bl" rotWithShape="0" blurRad="127000" dist="25400" dir="5400000">
              <a:srgbClr val="3C2E8C">
                <a:alpha val="14000"/>
              </a:srgbClr>
            </a:outerShdw>
          </a:effectLst>
        </p:spPr>
      </p:sp>
      <p:sp>
        <p:nvSpPr>
          <p:cNvPr id="25" name="Ideas icon background"/>
          <p:cNvSpPr/>
          <p:nvPr/>
        </p:nvSpPr>
        <p:spPr>
          <a:xfrm>
            <a:off x="8348472" y="1691640"/>
            <a:ext cx="640080" cy="640080"/>
          </a:xfrm>
          <a:prstGeom prst="ellipse">
            <a:avLst/>
          </a:prstGeom>
          <a:solidFill>
            <a:schemeClr val="accent6"/>
          </a:solidFill>
          <a:ln w="12700">
            <a:solidFill>
              <a:schemeClr val="accent6"/>
            </a:solidFill>
            <a:prstDash val="solid"/>
          </a:ln>
        </p:spPr>
      </p:sp>
      <p:pic>
        <p:nvPicPr>
          <p:cNvPr id="26" name="Ideas icon" descr="Ideas icon">    </p:cNvPr>
          <p:cNvPicPr>
            <a:picLocks noChangeAspect="1"/>
          </p:cNvPicPr>
          <p:nvPr/>
        </p:nvPicPr>
        <p:blipFill>
          <a:blip r:embed="rId3"/>
          <a:stretch>
            <a:fillRect/>
          </a:stretch>
        </p:blipFill>
        <p:spPr>
          <a:xfrm>
            <a:off x="8508492" y="1851660"/>
            <a:ext cx="320040" cy="320040"/>
          </a:xfrm>
          <a:prstGeom prst="rect">
            <a:avLst/>
          </a:prstGeom>
        </p:spPr>
      </p:pic>
      <p:sp>
        <p:nvSpPr>
          <p:cNvPr id="27" name="Text 21"/>
          <p:cNvSpPr txBox="1"/>
          <p:nvPr/>
        </p:nvSpPr>
        <p:spPr>
          <a:xfrm>
            <a:off x="9125712" y="1691640"/>
            <a:ext cx="2286000" cy="6400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Ideas</a:t>
            </a:r>
            <a:endParaRPr lang="en-US" sz="2400" dirty="0"/>
          </a:p>
        </p:txBody>
      </p:sp>
      <p:sp>
        <p:nvSpPr>
          <p:cNvPr id="28" name="Text 22"/>
          <p:cNvSpPr txBox="1"/>
          <p:nvPr/>
        </p:nvSpPr>
        <p:spPr>
          <a:xfrm>
            <a:off x="8348472" y="2743200"/>
            <a:ext cx="3108960" cy="365760"/>
          </a:xfrm>
          <a:prstGeom prst="rect">
            <a:avLst/>
          </a:prstGeom>
          <a:noFill/>
          <a:ln/>
        </p:spPr>
        <p:txBody>
          <a:bodyPr wrap="square" lIns="0" tIns="0" rIns="0" bIns="0" rtlCol="0" anchor="t"/>
          <a:lstStyle/>
          <a:p>
            <a:pPr indent="0" marL="0">
              <a:buNone/>
            </a:pPr>
            <a:r>
              <a:rPr lang="en-US" sz="1800" b="1" dirty="0">
                <a:solidFill>
                  <a:schemeClr val="accent6"/>
                </a:solidFill>
              </a:rPr>
              <a:t>Subject A/B tests</a:t>
            </a:r>
            <a:endParaRPr lang="en-US" sz="1800" dirty="0"/>
          </a:p>
        </p:txBody>
      </p:sp>
      <p:sp>
        <p:nvSpPr>
          <p:cNvPr id="29" name="Text 23"/>
          <p:cNvSpPr txBox="1"/>
          <p:nvPr/>
        </p:nvSpPr>
        <p:spPr>
          <a:xfrm>
            <a:off x="8348472" y="3127248"/>
            <a:ext cx="3108960" cy="548640"/>
          </a:xfrm>
          <a:prstGeom prst="rect">
            <a:avLst/>
          </a:prstGeom>
          <a:noFill/>
          <a:ln/>
        </p:spPr>
        <p:txBody>
          <a:bodyPr wrap="square" lIns="0" tIns="0" rIns="0" bIns="0" rtlCol="0" anchor="t"/>
          <a:lstStyle/>
          <a:p>
            <a:pPr indent="0" marL="0">
              <a:buNone/>
            </a:pPr>
            <a:r>
              <a:rPr lang="en-US" sz="1400" dirty="0">
                <a:solidFill>
                  <a:srgbClr val="5A5F7D"/>
                </a:solidFill>
              </a:rPr>
              <a:t>Compare open rates</a:t>
            </a:r>
            <a:endParaRPr lang="en-US" sz="1400" dirty="0"/>
          </a:p>
        </p:txBody>
      </p:sp>
      <p:sp>
        <p:nvSpPr>
          <p:cNvPr id="30" name="Text 24"/>
          <p:cNvSpPr txBox="1"/>
          <p:nvPr/>
        </p:nvSpPr>
        <p:spPr>
          <a:xfrm>
            <a:off x="8348472" y="3931920"/>
            <a:ext cx="3108960" cy="365760"/>
          </a:xfrm>
          <a:prstGeom prst="rect">
            <a:avLst/>
          </a:prstGeom>
          <a:noFill/>
          <a:ln/>
        </p:spPr>
        <p:txBody>
          <a:bodyPr wrap="square" lIns="0" tIns="0" rIns="0" bIns="0" rtlCol="0" anchor="t"/>
          <a:lstStyle/>
          <a:p>
            <a:pPr indent="0" marL="0">
              <a:buNone/>
            </a:pPr>
            <a:r>
              <a:rPr lang="en-US" sz="1800" b="1" dirty="0">
                <a:solidFill>
                  <a:schemeClr val="accent6"/>
                </a:solidFill>
              </a:rPr>
              <a:t>Calendar-aware replies</a:t>
            </a:r>
            <a:endParaRPr lang="en-US" sz="1800" dirty="0"/>
          </a:p>
        </p:txBody>
      </p:sp>
      <p:sp>
        <p:nvSpPr>
          <p:cNvPr id="31" name="Text 25"/>
          <p:cNvSpPr txBox="1"/>
          <p:nvPr/>
        </p:nvSpPr>
        <p:spPr>
          <a:xfrm>
            <a:off x="8348472" y="4315968"/>
            <a:ext cx="3108960" cy="548640"/>
          </a:xfrm>
          <a:prstGeom prst="rect">
            <a:avLst/>
          </a:prstGeom>
          <a:noFill/>
          <a:ln/>
        </p:spPr>
        <p:txBody>
          <a:bodyPr wrap="square" lIns="0" tIns="0" rIns="0" bIns="0" rtlCol="0" anchor="t"/>
          <a:lstStyle/>
          <a:p>
            <a:pPr indent="0" marL="0">
              <a:buNone/>
            </a:pPr>
            <a:r>
              <a:rPr lang="en-US" sz="1400" dirty="0">
                <a:solidFill>
                  <a:srgbClr val="5A5F7D"/>
                </a:solidFill>
              </a:rPr>
              <a:t>Suggest meeting times</a:t>
            </a:r>
            <a:endParaRPr lang="en-US" sz="1400" dirty="0"/>
          </a:p>
        </p:txBody>
      </p:sp>
      <p:sp>
        <p:nvSpPr>
          <p:cNvPr id="32" name="Text 26"/>
          <p:cNvSpPr txBox="1"/>
          <p:nvPr/>
        </p:nvSpPr>
        <p:spPr>
          <a:xfrm>
            <a:off x="8348472" y="5120640"/>
            <a:ext cx="3108960" cy="365760"/>
          </a:xfrm>
          <a:prstGeom prst="rect">
            <a:avLst/>
          </a:prstGeom>
          <a:noFill/>
          <a:ln/>
        </p:spPr>
        <p:txBody>
          <a:bodyPr wrap="square" lIns="0" tIns="0" rIns="0" bIns="0" rtlCol="0" anchor="t"/>
          <a:lstStyle/>
          <a:p>
            <a:pPr indent="0" marL="0">
              <a:buNone/>
            </a:pPr>
            <a:r>
              <a:rPr lang="en-US" sz="1800" b="1" dirty="0">
                <a:solidFill>
                  <a:schemeClr val="accent6"/>
                </a:solidFill>
              </a:rPr>
              <a:t>Installable app</a:t>
            </a:r>
            <a:endParaRPr lang="en-US" sz="1800" dirty="0"/>
          </a:p>
        </p:txBody>
      </p:sp>
      <p:sp>
        <p:nvSpPr>
          <p:cNvPr id="33" name="Text 27"/>
          <p:cNvSpPr txBox="1"/>
          <p:nvPr/>
        </p:nvSpPr>
        <p:spPr>
          <a:xfrm>
            <a:off x="8348472" y="5504688"/>
            <a:ext cx="3108960" cy="548640"/>
          </a:xfrm>
          <a:prstGeom prst="rect">
            <a:avLst/>
          </a:prstGeom>
          <a:noFill/>
          <a:ln/>
        </p:spPr>
        <p:txBody>
          <a:bodyPr wrap="square" lIns="0" tIns="0" rIns="0" bIns="0" rtlCol="0" anchor="t"/>
          <a:lstStyle/>
          <a:p>
            <a:pPr indent="0" marL="0">
              <a:buNone/>
            </a:pPr>
            <a:r>
              <a:rPr lang="en-US" sz="1400" dirty="0">
                <a:solidFill>
                  <a:srgbClr val="5A5F7D"/>
                </a:solidFill>
              </a:rPr>
              <a:t>A phone-friendly web app</a:t>
            </a:r>
            <a:endParaRPr lang="en-US" sz="1400" dirty="0"/>
          </a:p>
        </p:txBody>
      </p:sp>
      <p:sp>
        <p:nvSpPr>
          <p:cNvPr id="25" name="Slide Number Placeholder 0"/>
          <p:cNvSpPr>
            <a:spLocks noGrp="1"/>
          </p:cNvSpPr>
          <p:nvPr>
            <p:ph type="sldNum" sz="quarter" idx="4294967295"/>
          </p:nvPr>
        </p:nvSpPr>
        <p:spPr>
          <a:xfrm>
            <a:off x="11091672" y="645566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D"/>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731520" y="822960"/>
            <a:ext cx="6583680" cy="1188720"/>
          </a:xfrm>
          <a:prstGeom prst="rect">
            <a:avLst/>
          </a:prstGeom>
          <a:noFill/>
          <a:ln/>
        </p:spPr>
        <p:txBody>
          <a:bodyPr wrap="square" lIns="0" tIns="0" rIns="0" bIns="0" rtlCol="0" anchor="ctr"/>
          <a:lstStyle/>
          <a:p>
            <a:pPr indent="0" marL="0">
              <a:buNone/>
            </a:pPr>
            <a:r>
              <a:rPr lang="en-US" sz="6400" b="1" dirty="0">
                <a:solidFill>
                  <a:schemeClr val="bg1"/>
                </a:solidFill>
                <a:latin typeface="+mj-lt" pitchFamily="34" charset="0"/>
                <a:ea typeface="+mj-lt" pitchFamily="34" charset="-122"/>
                <a:cs typeface="+mj-lt" pitchFamily="34" charset="-120"/>
              </a:rPr>
              <a:t>Thank you</a:t>
            </a:r>
            <a:endParaRPr lang="en-US" sz="6400" dirty="0"/>
          </a:p>
        </p:txBody>
      </p:sp>
      <p:sp>
        <p:nvSpPr>
          <p:cNvPr id="4" name="Subtitle"/>
          <p:cNvSpPr txBox="1"/>
          <p:nvPr/>
        </p:nvSpPr>
        <p:spPr>
          <a:xfrm>
            <a:off x="731520" y="2011680"/>
            <a:ext cx="6583680" cy="640080"/>
          </a:xfrm>
          <a:prstGeom prst="rect">
            <a:avLst/>
          </a:prstGeom>
          <a:noFill/>
          <a:ln/>
        </p:spPr>
        <p:txBody>
          <a:bodyPr wrap="square" lIns="0" tIns="0" rIns="0" bIns="0" rtlCol="0" anchor="t"/>
          <a:lstStyle/>
          <a:p>
            <a:pPr indent="0" marL="0">
              <a:buNone/>
            </a:pPr>
            <a:r>
              <a:rPr lang="en-US" sz="2800" i="1" dirty="0">
                <a:solidFill>
                  <a:srgbClr val="C9C2F0"/>
                </a:solidFill>
                <a:latin typeface="+mj-lt" pitchFamily="34" charset="0"/>
                <a:ea typeface="+mj-lt" pitchFamily="34" charset="-122"/>
                <a:cs typeface="+mj-lt" pitchFamily="34" charset="-120"/>
              </a:rPr>
              <a:t>Questions?</a:t>
            </a:r>
            <a:endParaRPr lang="en-US" sz="2800" dirty="0"/>
          </a:p>
        </p:txBody>
      </p:sp>
      <p:sp>
        <p:nvSpPr>
          <p:cNvPr id="5" name="Takeaway 1 background"/>
          <p:cNvSpPr/>
          <p:nvPr/>
        </p:nvSpPr>
        <p:spPr>
          <a:xfrm>
            <a:off x="731520" y="3108960"/>
            <a:ext cx="502920" cy="502920"/>
          </a:xfrm>
          <a:prstGeom prst="ellipse">
            <a:avLst/>
          </a:prstGeom>
          <a:solidFill>
            <a:schemeClr val="accent2"/>
          </a:solidFill>
          <a:ln w="12700">
            <a:solidFill>
              <a:schemeClr val="accent2"/>
            </a:solidFill>
            <a:prstDash val="solid"/>
          </a:ln>
        </p:spPr>
      </p:sp>
      <p:pic>
        <p:nvPicPr>
          <p:cNvPr id="6" name="Takeaway 1 icon" descr="check">    </p:cNvPr>
          <p:cNvPicPr>
            <a:picLocks noChangeAspect="1"/>
          </p:cNvPicPr>
          <p:nvPr/>
        </p:nvPicPr>
        <p:blipFill>
          <a:blip r:embed="rId1"/>
          <a:stretch>
            <a:fillRect/>
          </a:stretch>
        </p:blipFill>
        <p:spPr>
          <a:xfrm>
            <a:off x="850392" y="3227832"/>
            <a:ext cx="265176" cy="265176"/>
          </a:xfrm>
          <a:prstGeom prst="rect">
            <a:avLst/>
          </a:prstGeom>
        </p:spPr>
      </p:pic>
      <p:sp>
        <p:nvSpPr>
          <p:cNvPr id="7" name="Text 3"/>
          <p:cNvSpPr txBox="1"/>
          <p:nvPr/>
        </p:nvSpPr>
        <p:spPr>
          <a:xfrm>
            <a:off x="1463040" y="3063240"/>
            <a:ext cx="5852160" cy="594360"/>
          </a:xfrm>
          <a:prstGeom prst="rect">
            <a:avLst/>
          </a:prstGeom>
          <a:noFill/>
          <a:ln/>
        </p:spPr>
        <p:txBody>
          <a:bodyPr wrap="square" lIns="0" tIns="0" rIns="0" bIns="0" rtlCol="0" anchor="ctr"/>
          <a:lstStyle/>
          <a:p>
            <a:pPr indent="0" marL="0">
              <a:buNone/>
            </a:pPr>
            <a:r>
              <a:rPr lang="en-US" sz="1800" dirty="0">
                <a:solidFill>
                  <a:schemeClr val="bg1"/>
                </a:solidFill>
              </a:rPr>
              <a:t>A complete product, not just a form: 22 endpoints and 7 screens</a:t>
            </a:r>
            <a:endParaRPr lang="en-US" sz="1800" dirty="0"/>
          </a:p>
        </p:txBody>
      </p:sp>
      <p:sp>
        <p:nvSpPr>
          <p:cNvPr id="8" name="Takeaway 2 background"/>
          <p:cNvSpPr/>
          <p:nvPr/>
        </p:nvSpPr>
        <p:spPr>
          <a:xfrm>
            <a:off x="731520" y="3977640"/>
            <a:ext cx="502920" cy="502920"/>
          </a:xfrm>
          <a:prstGeom prst="ellipse">
            <a:avLst/>
          </a:prstGeom>
          <a:solidFill>
            <a:schemeClr val="accent2"/>
          </a:solidFill>
          <a:ln w="12700">
            <a:solidFill>
              <a:schemeClr val="accent2"/>
            </a:solidFill>
            <a:prstDash val="solid"/>
          </a:ln>
        </p:spPr>
      </p:sp>
      <p:pic>
        <p:nvPicPr>
          <p:cNvPr id="9" name="Takeaway 2 icon" descr="check">    </p:cNvPr>
          <p:cNvPicPr>
            <a:picLocks noChangeAspect="1"/>
          </p:cNvPicPr>
          <p:nvPr/>
        </p:nvPicPr>
        <p:blipFill>
          <a:blip r:embed="rId2"/>
          <a:stretch>
            <a:fillRect/>
          </a:stretch>
        </p:blipFill>
        <p:spPr>
          <a:xfrm>
            <a:off x="850392" y="4096512"/>
            <a:ext cx="265176" cy="265176"/>
          </a:xfrm>
          <a:prstGeom prst="rect">
            <a:avLst/>
          </a:prstGeom>
        </p:spPr>
      </p:pic>
      <p:sp>
        <p:nvSpPr>
          <p:cNvPr id="10" name="Text 5"/>
          <p:cNvSpPr txBox="1"/>
          <p:nvPr/>
        </p:nvSpPr>
        <p:spPr>
          <a:xfrm>
            <a:off x="1463040" y="3931920"/>
            <a:ext cx="5852160" cy="594360"/>
          </a:xfrm>
          <a:prstGeom prst="rect">
            <a:avLst/>
          </a:prstGeom>
          <a:noFill/>
          <a:ln/>
        </p:spPr>
        <p:txBody>
          <a:bodyPr wrap="square" lIns="0" tIns="0" rIns="0" bIns="0" rtlCol="0" anchor="ctr"/>
          <a:lstStyle/>
          <a:p>
            <a:pPr indent="0" marL="0">
              <a:buNone/>
            </a:pPr>
            <a:r>
              <a:rPr lang="en-US" sz="1800" dirty="0">
                <a:solidFill>
                  <a:schemeClr val="bg1"/>
                </a:solidFill>
              </a:rPr>
              <a:t>AI used with care: structured prompts, validation and safe handling</a:t>
            </a:r>
            <a:endParaRPr lang="en-US" sz="1800" dirty="0"/>
          </a:p>
        </p:txBody>
      </p:sp>
      <p:sp>
        <p:nvSpPr>
          <p:cNvPr id="11" name="Takeaway 3 background"/>
          <p:cNvSpPr/>
          <p:nvPr/>
        </p:nvSpPr>
        <p:spPr>
          <a:xfrm>
            <a:off x="731520" y="4846320"/>
            <a:ext cx="502920" cy="502920"/>
          </a:xfrm>
          <a:prstGeom prst="ellipse">
            <a:avLst/>
          </a:prstGeom>
          <a:solidFill>
            <a:schemeClr val="accent2"/>
          </a:solidFill>
          <a:ln w="12700">
            <a:solidFill>
              <a:schemeClr val="accent2"/>
            </a:solidFill>
            <a:prstDash val="solid"/>
          </a:ln>
        </p:spPr>
      </p:sp>
      <p:pic>
        <p:nvPicPr>
          <p:cNvPr id="12" name="Takeaway 3 icon" descr="check">    </p:cNvPr>
          <p:cNvPicPr>
            <a:picLocks noChangeAspect="1"/>
          </p:cNvPicPr>
          <p:nvPr/>
        </p:nvPicPr>
        <p:blipFill>
          <a:blip r:embed="rId3"/>
          <a:stretch>
            <a:fillRect/>
          </a:stretch>
        </p:blipFill>
        <p:spPr>
          <a:xfrm>
            <a:off x="850392" y="4965192"/>
            <a:ext cx="265176" cy="265176"/>
          </a:xfrm>
          <a:prstGeom prst="rect">
            <a:avLst/>
          </a:prstGeom>
        </p:spPr>
      </p:pic>
      <p:sp>
        <p:nvSpPr>
          <p:cNvPr id="13" name="Text 7"/>
          <p:cNvSpPr txBox="1"/>
          <p:nvPr/>
        </p:nvSpPr>
        <p:spPr>
          <a:xfrm>
            <a:off x="1463040" y="4800600"/>
            <a:ext cx="5852160" cy="594360"/>
          </a:xfrm>
          <a:prstGeom prst="rect">
            <a:avLst/>
          </a:prstGeom>
          <a:noFill/>
          <a:ln/>
        </p:spPr>
        <p:txBody>
          <a:bodyPr wrap="square" lIns="0" tIns="0" rIns="0" bIns="0" rtlCol="0" anchor="ctr"/>
          <a:lstStyle/>
          <a:p>
            <a:pPr indent="0" marL="0">
              <a:buNone/>
            </a:pPr>
            <a:r>
              <a:rPr lang="en-US" sz="1800" dirty="0">
                <a:solidFill>
                  <a:schemeClr val="bg1"/>
                </a:solidFill>
              </a:rPr>
              <a:t>Ready to ship: tested, documented and set up for Vercel and Firebase</a:t>
            </a:r>
            <a:endParaRPr lang="en-US" sz="1800" dirty="0"/>
          </a:p>
        </p:txBody>
      </p:sp>
      <p:sp>
        <p:nvSpPr>
          <p:cNvPr id="14" name="Author"/>
          <p:cNvSpPr txBox="1"/>
          <p:nvPr/>
        </p:nvSpPr>
        <p:spPr>
          <a:xfrm>
            <a:off x="731520" y="5943600"/>
            <a:ext cx="6583680" cy="640080"/>
          </a:xfrm>
          <a:prstGeom prst="rect">
            <a:avLst/>
          </a:prstGeom>
          <a:noFill/>
          <a:ln/>
        </p:spPr>
        <p:txBody>
          <a:bodyPr wrap="square" lIns="0" tIns="0" rIns="0" bIns="0" rtlCol="0" anchor="t"/>
          <a:lstStyle/>
          <a:p>
            <a:pPr indent="0" marL="0">
              <a:buNone/>
            </a:pPr>
            <a:r>
              <a:rPr lang="en-US" sz="1400" b="1" dirty="0">
                <a:solidFill>
                  <a:srgbClr val="E6E2FA"/>
                </a:solidFill>
              </a:rPr>
              <a:t>Anushay Ayat</a:t>
            </a:r>
            <a:endParaRPr lang="en-US" sz="1400" dirty="0"/>
          </a:p>
          <a:p>
            <a:pPr indent="0" marL="0">
              <a:buNone/>
            </a:pPr>
            <a:r>
              <a:rPr lang="en-US" sz="1400" dirty="0">
                <a:solidFill>
                  <a:srgbClr val="E6E2FA"/>
                </a:solidFill>
              </a:rPr>
              <a:t>SMIT (Saylani Mass IT Training)  |  AI and Data Science</a:t>
            </a:r>
            <a:endParaRPr lang="en-US" sz="1400" dirty="0"/>
          </a:p>
        </p:txBody>
      </p:sp>
      <p:pic>
        <p:nvPicPr>
          <p:cNvPr id="15" name="LetterLy robot mascot" descr="LetterLy robot mascot">    </p:cNvPr>
          <p:cNvPicPr>
            <a:picLocks noChangeAspect="1"/>
          </p:cNvPicPr>
          <p:nvPr/>
        </p:nvPicPr>
        <p:blipFill>
          <a:blip r:embed="rId4"/>
          <a:stretch>
            <a:fillRect/>
          </a:stretch>
        </p:blipFill>
        <p:spPr>
          <a:xfrm>
            <a:off x="7589520" y="1280160"/>
            <a:ext cx="4297680" cy="3646516"/>
          </a:xfrm>
          <a:prstGeom prst="rect">
            <a:avLst/>
          </a:prstGeom>
        </p:spPr>
      </p:pic>
    </p:spTree>
  </p:cSld>
  <p:clrMapOvr>
    <a:masterClrMapping/>
  </p:clrMapOvr>
</p:sld>
</file>

<file path=ppt/theme/theme1.xml><?xml version="1.0" encoding="utf-8"?>
<a:theme xmlns:a="http://schemas.openxmlformats.org/drawingml/2006/main" name="LetterLy">
  <a:themeElements>
    <a:clrScheme name="LetterLy">
      <a:dk1>
        <a:srgbClr val="1B1B3A"/>
      </a:dk1>
      <a:lt1>
        <a:srgbClr val="FFFFFF"/>
      </a:lt1>
      <a:dk2>
        <a:srgbClr val="0A0620"/>
      </a:dk2>
      <a:lt2>
        <a:srgbClr val="F3F4FB"/>
      </a:lt2>
      <a:accent1>
        <a:srgbClr val="7C5CFF"/>
      </a:accent1>
      <a:accent2>
        <a:srgbClr val="E255C7"/>
      </a:accent2>
      <a:accent3>
        <a:srgbClr val="35E0C2"/>
      </a:accent3>
      <a:accent4>
        <a:srgbClr val="F5B942"/>
      </a:accent4>
      <a:accent5>
        <a:srgbClr val="2F8CF0"/>
      </a:accent5>
      <a:accent6>
        <a:srgbClr val="16A8A0"/>
      </a:accent6>
      <a:hlink>
        <a:srgbClr val="7C5CFF"/>
      </a:hlink>
      <a:folHlink>
        <a:srgbClr val="9B82FF"/>
      </a:folHlink>
    </a:clrScheme>
    <a:fontScheme name="LetterL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LetterLy: AI Email Generator</dc:title>
  <dc:subject>Project presentation</dc:subject>
  <dc:creator>Anushay Ayat</dc:creator>
  <cp:lastModifiedBy>Anushay Ayat</cp:lastModifiedBy>
  <cp:revision>1</cp:revision>
  <dcterms:created xsi:type="dcterms:W3CDTF">2026-10-10T18:31:47Z</dcterms:created>
  <dcterms:modified xsi:type="dcterms:W3CDTF">2026-10-10T18:31:47Z</dcterms:modified>
</cp:coreProperties>
</file>